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91" r:id="rId2"/>
    <p:sldId id="257" r:id="rId3"/>
    <p:sldId id="258" r:id="rId4"/>
    <p:sldId id="261" r:id="rId5"/>
    <p:sldId id="292" r:id="rId6"/>
    <p:sldId id="295" r:id="rId7"/>
    <p:sldId id="293" r:id="rId8"/>
    <p:sldId id="294" r:id="rId9"/>
    <p:sldId id="260" r:id="rId10"/>
    <p:sldId id="282" r:id="rId11"/>
    <p:sldId id="283" r:id="rId12"/>
    <p:sldId id="265" r:id="rId13"/>
    <p:sldId id="287" r:id="rId14"/>
    <p:sldId id="270" r:id="rId15"/>
    <p:sldId id="296" r:id="rId16"/>
    <p:sldId id="271" r:id="rId17"/>
  </p:sldIdLst>
  <p:sldSz cx="12192000" cy="6856413"/>
  <p:notesSz cx="12192000" cy="10363200"/>
  <p:defaultTextStyle>
    <a:defPPr>
      <a:defRPr kern="0"/>
    </a:defPPr>
  </p:defaultTextStyle>
  <p:extLst>
    <p:ext uri="{EFAFB233-063F-42B5-8137-9DF3F51BA10A}">
      <p15:sldGuideLst xmlns:p15="http://schemas.microsoft.com/office/powerpoint/2012/main">
        <p15:guide id="1" orient="horz" pos="2948" userDrawn="1">
          <p15:clr>
            <a:srgbClr val="A4A3A4"/>
          </p15:clr>
        </p15:guide>
        <p15:guide id="2" pos="21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4B71"/>
    <a:srgbClr val="406799"/>
    <a:srgbClr val="0052CC"/>
    <a:srgbClr val="7893AE"/>
    <a:srgbClr val="F2F7FC"/>
    <a:srgbClr val="BDD6F4"/>
    <a:srgbClr val="4A8FE2"/>
    <a:srgbClr val="3A3F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5196" autoAdjust="0"/>
  </p:normalViewPr>
  <p:slideViewPr>
    <p:cSldViewPr showGuides="1">
      <p:cViewPr varScale="1">
        <p:scale>
          <a:sx n="82" d="100"/>
          <a:sy n="82" d="100"/>
        </p:scale>
        <p:origin x="950" y="72"/>
      </p:cViewPr>
      <p:guideLst>
        <p:guide orient="horz" pos="2948"/>
        <p:guide pos="2169"/>
      </p:guideLst>
    </p:cSldViewPr>
  </p:slideViewPr>
  <p:notesTextViewPr>
    <p:cViewPr>
      <p:scale>
        <a:sx n="100" d="100"/>
        <a:sy n="100" d="100"/>
      </p:scale>
      <p:origin x="0" y="0"/>
    </p:cViewPr>
  </p:notesTextViewPr>
  <p:sorterViewPr>
    <p:cViewPr>
      <p:scale>
        <a:sx n="100" d="100"/>
        <a:sy n="100" d="100"/>
      </p:scale>
      <p:origin x="0" y="-51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PC\Downloads\Template%20(IT%20Tickets)%20project(AutoRecovered).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[Template (IT Tickets) project(AutoRecovered).xlsx]Q-8 I Subjective!PivotTable22</c:name>
    <c:fmtId val="-1"/>
  </c:pivotSource>
  <c:chart>
    <c:title>
      <c:tx>
        <c:rich>
          <a:bodyPr rot="0" spcFirstLastPara="1" vertOverflow="ellipsis" vert="horz" wrap="square" anchor="ctr" anchorCtr="1"/>
          <a:lstStyle/>
          <a:p>
            <a:pPr>
              <a:defRPr lang="en-US" sz="1600" b="1" i="0" u="none" strike="noStrike" kern="1200" cap="all" baseline="0">
                <a:solidFill>
                  <a:schemeClr val="tx1">
                    <a:lumMod val="65000"/>
                    <a:lumOff val="35000"/>
                  </a:schemeClr>
                </a:solidFill>
                <a:latin typeface="+mn-lt"/>
                <a:ea typeface="+mn-ea"/>
                <a:cs typeface="+mn-cs"/>
              </a:defRPr>
            </a:pPr>
            <a:r>
              <a:rPr lang="en-US" sz="1400">
                <a:latin typeface="Bahnschrift SemiCondensed" panose="020B0502040204020203" charset="0"/>
                <a:cs typeface="Bahnschrift SemiCondensed" panose="020B0502040204020203" charset="0"/>
              </a:rPr>
              <a:t>Category Wise Ticket Volume</a:t>
            </a:r>
          </a:p>
        </c:rich>
      </c:tx>
      <c:layout>
        <c:manualLayout>
          <c:xMode val="edge"/>
          <c:yMode val="edge"/>
          <c:x val="0.135661460624003"/>
          <c:y val="5.1587304811105197E-3"/>
        </c:manualLayout>
      </c:layout>
      <c:overlay val="0"/>
      <c:spPr>
        <a:noFill/>
        <a:ln>
          <a:noFill/>
        </a:ln>
        <a:effectLst/>
      </c:spPr>
      <c:txPr>
        <a:bodyPr rot="0" spcFirstLastPara="1" vertOverflow="ellipsis" vert="horz" wrap="square" anchor="ctr" anchorCtr="1"/>
        <a:lstStyle/>
        <a:p>
          <a:pPr>
            <a:defRPr lang="en-US" sz="160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6173842548526601"/>
          <c:y val="0.16265185826679099"/>
          <c:w val="0.54808632392230505"/>
          <c:h val="0.72353226535426396"/>
        </c:manualLayout>
      </c:layout>
      <c:pieChart>
        <c:varyColors val="1"/>
        <c:dLbls>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extLst>
      <c:ext uri="{0b15fc19-7d7d-44ad-8c2d-2c3a37ce22c3}">
        <chartProps xmlns="https://web.wps.cn/et/2018/main" chartId="{08fef52f-2d7a-4c96-8d8d-db9f22d798b2}"/>
      </c:ext>
    </c:extLst>
  </c:chart>
  <c:spPr>
    <a:noFill/>
    <a:ln>
      <a:noFill/>
    </a:ln>
    <a:effectLst/>
  </c:spPr>
  <c:txPr>
    <a:bodyPr/>
    <a:lstStyle/>
    <a:p>
      <a:pPr>
        <a:defRPr lang="en-US"/>
      </a:pPr>
      <a:endParaRPr lang="en-US"/>
    </a:p>
  </c:txPr>
  <c:externalData r:id="rId3">
    <c:autoUpdate val="0"/>
  </c:externalData>
  <c:userShapes r:id="rId4"/>
  <c:extLst>
    <c:ext xmlns:c14="http://schemas.microsoft.com/office/drawing/2007/8/2/chart" uri="{781A3756-C4B2-4CAC-9D66-4F8BD8637D16}">
      <c14:pivotOptions>
        <c14:dropZoneFilter val="1"/>
        <c14:dropZoneData val="1"/>
        <c14:dropZoneSeries val="1"/>
      </c14:pivotOptions>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8.png"/></Relationships>
</file>

<file path=ppt/drawings/drawing1.xml><?xml version="1.0" encoding="utf-8"?>
<c:userShapes xmlns:c="http://schemas.openxmlformats.org/drawingml/2006/chart">
  <cdr:relSizeAnchor xmlns:cdr="http://schemas.openxmlformats.org/drawingml/2006/chartDrawing">
    <cdr:from>
      <cdr:x>0</cdr:x>
      <cdr:y>0.04397</cdr:y>
    </cdr:from>
    <cdr:to>
      <cdr:x>0.98516</cdr:x>
      <cdr:y>1</cdr:y>
    </cdr:to>
    <cdr:pic>
      <cdr:nvPicPr>
        <cdr:cNvPr id="2" name="chart">
          <a:extLst xmlns:a="http://schemas.openxmlformats.org/drawingml/2006/main">
            <a:ext uri="{FF2B5EF4-FFF2-40B4-BE49-F238E27FC236}">
              <a16:creationId xmlns:a16="http://schemas.microsoft.com/office/drawing/2014/main" id="{7504A51F-83CB-D3CD-A122-DAF7F83B7574}"/>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1143065" y="162356"/>
          <a:ext cx="4802504" cy="3530413"/>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5191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519113"/>
          </a:xfrm>
          <a:prstGeom prst="rect">
            <a:avLst/>
          </a:prstGeom>
        </p:spPr>
        <p:txBody>
          <a:bodyPr vert="horz" lIns="91440" tIns="45720" rIns="91440" bIns="45720" rtlCol="0"/>
          <a:lstStyle>
            <a:lvl1pPr algn="r">
              <a:defRPr sz="1200"/>
            </a:lvl1pPr>
          </a:lstStyle>
          <a:p>
            <a:fld id="{D245216A-87D9-40E1-A66E-1BF4941C175F}" type="datetimeFigureOut">
              <a:rPr lang="en-IN" smtClean="0"/>
              <a:t>14-08-2026</a:t>
            </a:fld>
            <a:endParaRPr lang="en-IN"/>
          </a:p>
        </p:txBody>
      </p:sp>
      <p:sp>
        <p:nvSpPr>
          <p:cNvPr id="4" name="Slide Image Placeholder 3"/>
          <p:cNvSpPr>
            <a:spLocks noGrp="1" noRot="1" noChangeAspect="1"/>
          </p:cNvSpPr>
          <p:nvPr>
            <p:ph type="sldImg" idx="2"/>
          </p:nvPr>
        </p:nvSpPr>
        <p:spPr>
          <a:xfrm>
            <a:off x="2986088" y="1295400"/>
            <a:ext cx="6219825" cy="34972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4987925"/>
            <a:ext cx="9753600" cy="40798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844088"/>
            <a:ext cx="5283200" cy="5191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9844088"/>
            <a:ext cx="5283200" cy="519112"/>
          </a:xfrm>
          <a:prstGeom prst="rect">
            <a:avLst/>
          </a:prstGeom>
        </p:spPr>
        <p:txBody>
          <a:bodyPr vert="horz" lIns="91440" tIns="45720" rIns="91440" bIns="45720" rtlCol="0" anchor="b"/>
          <a:lstStyle>
            <a:lvl1pPr algn="r">
              <a:defRPr sz="1200"/>
            </a:lvl1pPr>
          </a:lstStyle>
          <a:p>
            <a:fld id="{AE4FF250-A9E0-43DF-9A1D-24B172E39B01}"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4FF250-A9E0-43DF-9A1D-24B172E39B01}" type="slidenum">
              <a:rPr lang="en-IN" smtClean="0"/>
              <a:t>14</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9A308-8C4E-4B1E-E517-8F4774DFD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02DDD-A3FE-4C69-4C27-C46EE170BE1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9BAD59B-1126-7E6B-D08E-9A0AB67C0F5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C5F463-E852-DC40-5C8A-4C10D372FE74}"/>
              </a:ext>
            </a:extLst>
          </p:cNvPr>
          <p:cNvSpPr>
            <a:spLocks noGrp="1"/>
          </p:cNvSpPr>
          <p:nvPr>
            <p:ph type="sldNum" sz="quarter" idx="5"/>
          </p:nvPr>
        </p:nvSpPr>
        <p:spPr/>
        <p:txBody>
          <a:bodyPr/>
          <a:lstStyle/>
          <a:p>
            <a:fld id="{AE4FF250-A9E0-43DF-9A1D-24B172E39B01}" type="slidenum">
              <a:rPr lang="en-IN" smtClean="0"/>
              <a:t>15</a:t>
            </a:fld>
            <a:endParaRPr lang="en-IN"/>
          </a:p>
        </p:txBody>
      </p:sp>
    </p:spTree>
    <p:extLst>
      <p:ext uri="{BB962C8B-B14F-4D97-AF65-F5344CB8AC3E}">
        <p14:creationId xmlns:p14="http://schemas.microsoft.com/office/powerpoint/2010/main" val="3686997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092462"/>
          </a:solidFill>
        </p:spPr>
        <p:txBody>
          <a:bodyPr wrap="square" lIns="0" tIns="0" rIns="0" bIns="0" rtlCol="0"/>
          <a:lstStyle/>
          <a:p>
            <a:endParaRPr/>
          </a:p>
        </p:txBody>
      </p:sp>
      <p:sp>
        <p:nvSpPr>
          <p:cNvPr id="17" name="bg object 17"/>
          <p:cNvSpPr/>
          <p:nvPr/>
        </p:nvSpPr>
        <p:spPr>
          <a:xfrm>
            <a:off x="9218941" y="0"/>
            <a:ext cx="2973070" cy="2496820"/>
          </a:xfrm>
          <a:custGeom>
            <a:avLst/>
            <a:gdLst/>
            <a:ahLst/>
            <a:cxnLst/>
            <a:rect l="l" t="t" r="r" b="b"/>
            <a:pathLst>
              <a:path w="2973070" h="2496820">
                <a:moveTo>
                  <a:pt x="2020557" y="2496807"/>
                </a:moveTo>
                <a:lnTo>
                  <a:pt x="0" y="476250"/>
                </a:lnTo>
                <a:lnTo>
                  <a:pt x="476250" y="0"/>
                </a:lnTo>
                <a:lnTo>
                  <a:pt x="2973057" y="0"/>
                </a:lnTo>
                <a:lnTo>
                  <a:pt x="2973057" y="1544307"/>
                </a:lnTo>
                <a:lnTo>
                  <a:pt x="2020557" y="2496807"/>
                </a:lnTo>
                <a:close/>
              </a:path>
            </a:pathLst>
          </a:custGeom>
          <a:solidFill>
            <a:srgbClr val="3D91CC">
              <a:alpha val="14898"/>
            </a:srgbClr>
          </a:solidFill>
        </p:spPr>
        <p:txBody>
          <a:bodyPr wrap="square" lIns="0" tIns="0" rIns="0" bIns="0" rtlCol="0"/>
          <a:lstStyle/>
          <a:p>
            <a:endParaRPr/>
          </a:p>
        </p:txBody>
      </p:sp>
      <p:sp>
        <p:nvSpPr>
          <p:cNvPr id="18" name="bg object 18"/>
          <p:cNvSpPr/>
          <p:nvPr/>
        </p:nvSpPr>
        <p:spPr>
          <a:xfrm>
            <a:off x="603860" y="5080610"/>
            <a:ext cx="2602865" cy="2602865"/>
          </a:xfrm>
          <a:custGeom>
            <a:avLst/>
            <a:gdLst/>
            <a:ahLst/>
            <a:cxnLst/>
            <a:rect l="l" t="t" r="r" b="b"/>
            <a:pathLst>
              <a:path w="2602865" h="2602865">
                <a:moveTo>
                  <a:pt x="1649778" y="2602278"/>
                </a:moveTo>
                <a:lnTo>
                  <a:pt x="0" y="1649778"/>
                </a:lnTo>
                <a:lnTo>
                  <a:pt x="952499" y="0"/>
                </a:lnTo>
                <a:lnTo>
                  <a:pt x="2602278" y="952499"/>
                </a:lnTo>
                <a:lnTo>
                  <a:pt x="1649778" y="2602278"/>
                </a:lnTo>
                <a:close/>
              </a:path>
            </a:pathLst>
          </a:custGeom>
          <a:solidFill>
            <a:srgbClr val="3D91CC">
              <a:alpha val="14898"/>
            </a:srgbClr>
          </a:solidFill>
        </p:spPr>
        <p:txBody>
          <a:bodyPr wrap="square" lIns="0" tIns="0" rIns="0" bIns="0" rtlCol="0"/>
          <a:lstStyle/>
          <a:p>
            <a:endParaRPr/>
          </a:p>
        </p:txBody>
      </p:sp>
      <p:sp>
        <p:nvSpPr>
          <p:cNvPr id="19" name="bg object 19"/>
          <p:cNvSpPr/>
          <p:nvPr/>
        </p:nvSpPr>
        <p:spPr>
          <a:xfrm>
            <a:off x="0" y="1339743"/>
            <a:ext cx="1113155" cy="1678305"/>
          </a:xfrm>
          <a:custGeom>
            <a:avLst/>
            <a:gdLst/>
            <a:ahLst/>
            <a:cxnLst/>
            <a:rect l="l" t="t" r="r" b="b"/>
            <a:pathLst>
              <a:path w="1113155" h="1678305">
                <a:moveTo>
                  <a:pt x="743264" y="1678307"/>
                </a:moveTo>
                <a:lnTo>
                  <a:pt x="0" y="1479150"/>
                </a:lnTo>
                <a:lnTo>
                  <a:pt x="0" y="0"/>
                </a:lnTo>
                <a:lnTo>
                  <a:pt x="1113052" y="298241"/>
                </a:lnTo>
                <a:lnTo>
                  <a:pt x="743264" y="1678307"/>
                </a:lnTo>
                <a:close/>
              </a:path>
            </a:pathLst>
          </a:custGeom>
          <a:solidFill>
            <a:srgbClr val="3D91CC">
              <a:alpha val="14898"/>
            </a:srgbClr>
          </a:solidFill>
        </p:spPr>
        <p:txBody>
          <a:bodyPr wrap="square" lIns="0" tIns="0" rIns="0" bIns="0" rtlCol="0"/>
          <a:lstStyle/>
          <a:p>
            <a:endParaRPr/>
          </a:p>
        </p:txBody>
      </p:sp>
      <p:sp>
        <p:nvSpPr>
          <p:cNvPr id="2" name="Holder 2"/>
          <p:cNvSpPr>
            <a:spLocks noGrp="1"/>
          </p:cNvSpPr>
          <p:nvPr>
            <p:ph type="ctrTitle"/>
          </p:nvPr>
        </p:nvSpPr>
        <p:spPr>
          <a:xfrm>
            <a:off x="2066151" y="720725"/>
            <a:ext cx="8059697" cy="1126489"/>
          </a:xfrm>
          <a:prstGeom prst="rect">
            <a:avLst/>
          </a:prstGeom>
        </p:spPr>
        <p:txBody>
          <a:bodyPr wrap="square" lIns="0" tIns="0" rIns="0" bIns="0">
            <a:spAutoFit/>
          </a:bodyPr>
          <a:lstStyle>
            <a:lvl1pPr>
              <a:defRPr sz="2700" b="1" i="0">
                <a:solidFill>
                  <a:srgbClr val="003366"/>
                </a:solidFill>
                <a:latin typeface="Calibri" panose="020F0502020204030204"/>
                <a:cs typeface="Calibri" panose="020F0502020204030204"/>
              </a:defRPr>
            </a:lvl1pPr>
          </a:lstStyle>
          <a:p>
            <a:endParaRPr/>
          </a:p>
        </p:txBody>
      </p:sp>
      <p:sp>
        <p:nvSpPr>
          <p:cNvPr id="3" name="Holder 3"/>
          <p:cNvSpPr>
            <a:spLocks noGrp="1"/>
          </p:cNvSpPr>
          <p:nvPr>
            <p:ph type="subTitle" idx="4"/>
          </p:nvPr>
        </p:nvSpPr>
        <p:spPr>
          <a:xfrm>
            <a:off x="1828800" y="4309872"/>
            <a:ext cx="8534400" cy="1924050"/>
          </a:xfrm>
          <a:prstGeom prst="rect">
            <a:avLst/>
          </a:prstGeom>
        </p:spPr>
        <p:txBody>
          <a:bodyPr wrap="square" lIns="0" tIns="0" rIns="0" bIns="0">
            <a:spAutoFit/>
          </a:bodyPr>
          <a:lstStyle>
            <a:lvl1pPr>
              <a:defRPr sz="1300" b="0" i="0">
                <a:solidFill>
                  <a:srgbClr val="0052CC"/>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transition spd="slow">
    <p:cover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6" name="bg object 16"/>
          <p:cNvSpPr/>
          <p:nvPr/>
        </p:nvSpPr>
        <p:spPr>
          <a:xfrm>
            <a:off x="380999" y="904874"/>
            <a:ext cx="571500" cy="381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rgbClr val="4A8FE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700" b="1" i="0">
                <a:solidFill>
                  <a:srgbClr val="003366"/>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p:txBody>
          <a:bodyPr lIns="0" tIns="0" rIns="0" bIns="0"/>
          <a:lstStyle>
            <a:lvl1pPr>
              <a:defRPr sz="1300" b="0" i="0">
                <a:solidFill>
                  <a:srgbClr val="0052CC"/>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transition spd="slow">
    <p:cover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003366"/>
                </a:solidFill>
                <a:latin typeface="Calibri" panose="020F0502020204030204"/>
                <a:cs typeface="Calibri" panose="020F0502020204030204"/>
              </a:defRPr>
            </a:lvl1pPr>
          </a:lstStyle>
          <a:p>
            <a:endParaRPr/>
          </a:p>
        </p:txBody>
      </p:sp>
      <p:sp>
        <p:nvSpPr>
          <p:cNvPr id="3" name="Holder 3"/>
          <p:cNvSpPr>
            <a:spLocks noGrp="1"/>
          </p:cNvSpPr>
          <p:nvPr>
            <p:ph sz="half" idx="2"/>
          </p:nvPr>
        </p:nvSpPr>
        <p:spPr>
          <a:xfrm>
            <a:off x="368299" y="1522913"/>
            <a:ext cx="5422900" cy="5869940"/>
          </a:xfrm>
          <a:prstGeom prst="rect">
            <a:avLst/>
          </a:prstGeom>
        </p:spPr>
        <p:txBody>
          <a:bodyPr wrap="square" lIns="0" tIns="0" rIns="0" bIns="0">
            <a:spAutoFit/>
          </a:bodyPr>
          <a:lstStyle>
            <a:lvl1pPr>
              <a:defRPr sz="1050" b="1" i="0">
                <a:solidFill>
                  <a:schemeClr val="bg1"/>
                </a:solidFill>
                <a:latin typeface="Calibri" panose="020F0502020204030204"/>
                <a:cs typeface="Calibri" panose="020F0502020204030204"/>
              </a:defRPr>
            </a:lvl1pPr>
          </a:lstStyle>
          <a:p>
            <a:endParaRPr/>
          </a:p>
        </p:txBody>
      </p:sp>
      <p:sp>
        <p:nvSpPr>
          <p:cNvPr id="4" name="Holder 4"/>
          <p:cNvSpPr>
            <a:spLocks noGrp="1"/>
          </p:cNvSpPr>
          <p:nvPr>
            <p:ph sz="half" idx="3"/>
          </p:nvPr>
        </p:nvSpPr>
        <p:spPr>
          <a:xfrm>
            <a:off x="6278880" y="1770126"/>
            <a:ext cx="5303520" cy="507949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transition spd="slow">
    <p:cover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003366"/>
                </a:solidFill>
                <a:latin typeface="Calibri" panose="020F0502020204030204"/>
                <a:cs typeface="Calibri" panose="020F0502020204030204"/>
              </a:defRPr>
            </a:lvl1pPr>
          </a:lstStyle>
          <a:p>
            <a:endParaRPr/>
          </a:p>
        </p:txBody>
      </p:sp>
      <p:sp>
        <p:nvSpPr>
          <p:cNvPr id="3" name="Holder 3"/>
          <p:cNvSpPr>
            <a:spLocks noGrp="1"/>
          </p:cNvSpPr>
          <p:nvPr>
            <p:ph type="ftr" sz="quarter" idx="5"/>
          </p:nvPr>
        </p:nvSpPr>
        <p:spPr/>
        <p:txBody>
          <a:bodyPr lIns="0" tIns="0" rIns="0" bIns="0"/>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transition spd="slow">
    <p:cover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transition spd="slow">
    <p:cover dir="d"/>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50000"/>
                <a:lumOff val="50000"/>
              </a:schemeClr>
            </a:gs>
            <a:gs pos="20000">
              <a:schemeClr val="accent4">
                <a:lumMod val="25000"/>
                <a:lumOff val="75000"/>
              </a:schemeClr>
            </a:gs>
            <a:gs pos="40000">
              <a:schemeClr val="accent4">
                <a:lumMod val="50000"/>
                <a:lumOff val="50000"/>
              </a:schemeClr>
            </a:gs>
            <a:gs pos="60000">
              <a:schemeClr val="accent4">
                <a:lumMod val="25000"/>
                <a:lumOff val="75000"/>
              </a:schemeClr>
            </a:gs>
            <a:gs pos="100000">
              <a:schemeClr val="accent4">
                <a:lumMod val="25000"/>
                <a:lumOff val="75000"/>
              </a:schemeClr>
            </a:gs>
            <a:gs pos="80000">
              <a:schemeClr val="accent4">
                <a:lumMod val="50000"/>
                <a:lumOff val="50000"/>
              </a:schemeClr>
            </a:gs>
          </a:gsLst>
          <a:lin ang="2700000" scaled="1"/>
          <a:tileRect/>
        </a:gra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8299" y="349250"/>
            <a:ext cx="10888345" cy="436880"/>
          </a:xfrm>
          <a:prstGeom prst="rect">
            <a:avLst/>
          </a:prstGeom>
        </p:spPr>
        <p:txBody>
          <a:bodyPr wrap="square" lIns="0" tIns="0" rIns="0" bIns="0">
            <a:spAutoFit/>
          </a:bodyPr>
          <a:lstStyle>
            <a:lvl1pPr>
              <a:defRPr sz="2700" b="1" i="0">
                <a:solidFill>
                  <a:srgbClr val="003366"/>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a:xfrm>
            <a:off x="6248399" y="1825523"/>
            <a:ext cx="5553075" cy="3094990"/>
          </a:xfrm>
          <a:prstGeom prst="rect">
            <a:avLst/>
          </a:prstGeom>
        </p:spPr>
        <p:txBody>
          <a:bodyPr wrap="square" lIns="0" tIns="0" rIns="0" bIns="0">
            <a:spAutoFit/>
          </a:bodyPr>
          <a:lstStyle>
            <a:lvl1pPr>
              <a:defRPr sz="1300" b="0" i="0">
                <a:solidFill>
                  <a:srgbClr val="0052CC"/>
                </a:solidFill>
                <a:latin typeface="Arial" panose="020B0604020202020204"/>
                <a:cs typeface="Arial" panose="020B0604020202020204"/>
              </a:defRPr>
            </a:lvl1pPr>
          </a:lstStyle>
          <a:p>
            <a:endParaRPr/>
          </a:p>
        </p:txBody>
      </p:sp>
      <p:sp>
        <p:nvSpPr>
          <p:cNvPr id="4" name="Holder 4"/>
          <p:cNvSpPr>
            <a:spLocks noGrp="1"/>
          </p:cNvSpPr>
          <p:nvPr>
            <p:ph type="ftr" sz="quarter" idx="5"/>
          </p:nvPr>
        </p:nvSpPr>
        <p:spPr>
          <a:xfrm>
            <a:off x="10701138" y="8634679"/>
            <a:ext cx="1198879" cy="273049"/>
          </a:xfrm>
          <a:prstGeom prst="rect">
            <a:avLst/>
          </a:prstGeom>
        </p:spPr>
        <p:txBody>
          <a:bodyPr wrap="square" lIns="0" tIns="0" rIns="0" bIns="0">
            <a:spAutoFit/>
          </a:bodyPr>
          <a:lstStyle>
            <a:lvl1pPr>
              <a:defRPr sz="900" b="0" i="0">
                <a:solidFill>
                  <a:schemeClr val="bg1"/>
                </a:solidFill>
                <a:latin typeface="DejaVu Sans"/>
                <a:cs typeface="DejaVu Sans"/>
              </a:defRPr>
            </a:lvl1pPr>
          </a:lstStyle>
          <a:p>
            <a:pPr marL="12700">
              <a:lnSpc>
                <a:spcPct val="100000"/>
              </a:lnSpc>
              <a:spcBef>
                <a:spcPts val="35"/>
              </a:spcBef>
            </a:pPr>
            <a:r>
              <a:rPr dirty="0"/>
              <a:t>Made</a:t>
            </a:r>
            <a:r>
              <a:rPr spc="-10" dirty="0"/>
              <a:t> </a:t>
            </a:r>
            <a:r>
              <a:rPr dirty="0"/>
              <a:t>with</a:t>
            </a:r>
            <a:r>
              <a:rPr spc="-10" dirty="0"/>
              <a:t> Genspark</a:t>
            </a:r>
          </a:p>
        </p:txBody>
      </p:sp>
      <p:sp>
        <p:nvSpPr>
          <p:cNvPr id="5" name="Holder 5"/>
          <p:cNvSpPr>
            <a:spLocks noGrp="1"/>
          </p:cNvSpPr>
          <p:nvPr>
            <p:ph type="dt" sz="half" idx="6"/>
          </p:nvPr>
        </p:nvSpPr>
        <p:spPr>
          <a:xfrm>
            <a:off x="609600" y="7157466"/>
            <a:ext cx="2804160" cy="38481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8/14/2026</a:t>
            </a:fld>
            <a:endParaRPr lang="en-US"/>
          </a:p>
        </p:txBody>
      </p:sp>
      <p:sp>
        <p:nvSpPr>
          <p:cNvPr id="6" name="Holder 6"/>
          <p:cNvSpPr>
            <a:spLocks noGrp="1"/>
          </p:cNvSpPr>
          <p:nvPr>
            <p:ph type="sldNum" sz="quarter" idx="7"/>
          </p:nvPr>
        </p:nvSpPr>
        <p:spPr>
          <a:xfrm>
            <a:off x="8778240" y="7157466"/>
            <a:ext cx="2804160" cy="38481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slow">
    <p:cover dir="d"/>
  </p:transition>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5"/>
          <p:cNvSpPr txBox="1"/>
          <p:nvPr/>
        </p:nvSpPr>
        <p:spPr>
          <a:xfrm>
            <a:off x="2549710" y="1456716"/>
            <a:ext cx="7692882" cy="1260475"/>
          </a:xfrm>
          <a:prstGeom prst="rect">
            <a:avLst/>
          </a:prstGeom>
        </p:spPr>
        <p:txBody>
          <a:bodyPr vert="horz" wrap="square" lIns="0" tIns="8890" rIns="0" bIns="0" rtlCol="0">
            <a:spAutoFit/>
          </a:bodyPr>
          <a:lstStyle>
            <a:lvl1pPr>
              <a:defRPr>
                <a:latin typeface="+mj-lt"/>
                <a:ea typeface="+mj-ea"/>
                <a:cs typeface="+mj-cs"/>
              </a:defRPr>
            </a:lvl1pPr>
          </a:lstStyle>
          <a:p>
            <a:pPr marL="485775" marR="5080" indent="-473710" algn="l">
              <a:lnSpc>
                <a:spcPct val="101000"/>
              </a:lnSpc>
              <a:spcBef>
                <a:spcPts val="70"/>
              </a:spcBef>
            </a:pPr>
            <a:r>
              <a:rPr lang="en-US" sz="4000" b="1" spc="300" dirty="0">
                <a:solidFill>
                  <a:srgbClr val="20364B"/>
                </a:solidFill>
                <a:latin typeface="Arial Narrow" panose="020B0606020202030204" pitchFamily="34" charset="0"/>
              </a:rPr>
              <a:t>      </a:t>
            </a:r>
            <a:r>
              <a:rPr lang="en-US" sz="4000" b="1" spc="300" dirty="0">
                <a:solidFill>
                  <a:srgbClr val="20364B"/>
                </a:solidFill>
                <a:latin typeface="Calibri" panose="020F0502020204030204" charset="0"/>
                <a:ea typeface="Microsoft YaHei" panose="020B0503020204020204" charset="-122"/>
                <a:cs typeface="Calibri" panose="020F0502020204030204" charset="0"/>
              </a:rPr>
              <a:t>IT Tickets Analysis &amp;</a:t>
            </a:r>
          </a:p>
          <a:p>
            <a:pPr marL="485775" marR="5080" indent="-473710" algn="l">
              <a:lnSpc>
                <a:spcPct val="101000"/>
              </a:lnSpc>
              <a:spcBef>
                <a:spcPts val="70"/>
              </a:spcBef>
            </a:pPr>
            <a:r>
              <a:rPr lang="en-US" sz="4000" b="1" spc="300" dirty="0">
                <a:solidFill>
                  <a:srgbClr val="20364B"/>
                </a:solidFill>
                <a:latin typeface="Calibri" panose="020F0502020204030204" charset="0"/>
                <a:ea typeface="Microsoft YaHei" panose="020B0503020204020204" charset="-122"/>
                <a:cs typeface="Calibri" panose="020F0502020204030204" charset="0"/>
              </a:rPr>
              <a:t>Agent Performance Dashboard</a:t>
            </a:r>
          </a:p>
        </p:txBody>
      </p:sp>
      <p:sp>
        <p:nvSpPr>
          <p:cNvPr id="4" name="object 6"/>
          <p:cNvSpPr txBox="1"/>
          <p:nvPr/>
        </p:nvSpPr>
        <p:spPr>
          <a:xfrm>
            <a:off x="3962541" y="3133429"/>
            <a:ext cx="8882443" cy="258445"/>
          </a:xfrm>
          <a:prstGeom prst="rect">
            <a:avLst/>
          </a:prstGeom>
        </p:spPr>
        <p:txBody>
          <a:bodyPr vert="horz" wrap="square" lIns="0" tIns="12700" rIns="0" bIns="0" rtlCol="0" anchor="t">
            <a:spAutoFit/>
          </a:bodyPr>
          <a:lstStyle/>
          <a:p>
            <a:pPr marL="12700" algn="l">
              <a:lnSpc>
                <a:spcPct val="100000"/>
              </a:lnSpc>
              <a:spcBef>
                <a:spcPts val="100"/>
              </a:spcBef>
            </a:pPr>
            <a:r>
              <a:rPr sz="1600" b="0" dirty="0">
                <a:solidFill>
                  <a:srgbClr val="464646"/>
                </a:solidFill>
                <a:latin typeface="Calibri" panose="020F0502020204030204" charset="0"/>
                <a:cs typeface="Calibri" panose="020F0502020204030204" charset="0"/>
              </a:rPr>
              <a:t>Excel-based Data Analytics Dashboard</a:t>
            </a:r>
            <a:endParaRPr sz="2800" dirty="0">
              <a:solidFill>
                <a:srgbClr val="20364B"/>
              </a:solidFill>
              <a:latin typeface="Calibri" panose="020F0502020204030204" charset="0"/>
              <a:cs typeface="Calibri" panose="020F0502020204030204" charset="0"/>
            </a:endParaRPr>
          </a:p>
        </p:txBody>
      </p:sp>
      <p:sp>
        <p:nvSpPr>
          <p:cNvPr id="9" name="object 3"/>
          <p:cNvSpPr txBox="1"/>
          <p:nvPr/>
        </p:nvSpPr>
        <p:spPr>
          <a:xfrm>
            <a:off x="4953246" y="5416940"/>
            <a:ext cx="4143621" cy="289560"/>
          </a:xfrm>
          <a:prstGeom prst="rect">
            <a:avLst/>
          </a:prstGeom>
        </p:spPr>
        <p:txBody>
          <a:bodyPr vert="horz" wrap="square" lIns="0" tIns="12700" rIns="0" bIns="0" rtlCol="0" anchor="t">
            <a:spAutoFit/>
          </a:bodyPr>
          <a:lstStyle/>
          <a:p>
            <a:pPr marL="12700" algn="l">
              <a:lnSpc>
                <a:spcPct val="100000"/>
              </a:lnSpc>
              <a:spcBef>
                <a:spcPts val="100"/>
              </a:spcBef>
            </a:pPr>
            <a:r>
              <a:rPr sz="1800" b="1">
                <a:solidFill>
                  <a:srgbClr val="464646"/>
                </a:solidFill>
                <a:latin typeface="Calibri" panose="020F0502020204030204" charset="0"/>
                <a:cs typeface="Calibri" panose="020F0502020204030204" charset="0"/>
              </a:rPr>
              <a:t>Akhil B. Wabhitkar</a:t>
            </a:r>
            <a:endParaRPr sz="4000" b="1" dirty="0">
              <a:solidFill>
                <a:srgbClr val="20364B"/>
              </a:solidFill>
              <a:latin typeface="Calibri" panose="020F0502020204030204" charset="0"/>
              <a:cs typeface="Calibri" panose="020F0502020204030204" charset="0"/>
            </a:endParaRPr>
          </a:p>
        </p:txBody>
      </p:sp>
      <p:sp>
        <p:nvSpPr>
          <p:cNvPr id="5" name="Equals 4"/>
          <p:cNvSpPr/>
          <p:nvPr/>
        </p:nvSpPr>
        <p:spPr>
          <a:xfrm>
            <a:off x="-2202000" y="-72000"/>
            <a:ext cx="16596000" cy="72000"/>
          </a:xfrm>
          <a:prstGeom prst="mathEqua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sz="4000">
              <a:solidFill>
                <a:schemeClr val="tx1"/>
              </a:solidFill>
              <a:latin typeface="+mj-lt"/>
            </a:endParaRPr>
          </a:p>
        </p:txBody>
      </p:sp>
      <p:sp>
        <p:nvSpPr>
          <p:cNvPr id="15" name="Equals 14"/>
          <p:cNvSpPr/>
          <p:nvPr/>
        </p:nvSpPr>
        <p:spPr>
          <a:xfrm>
            <a:off x="-2202000" y="6820413"/>
            <a:ext cx="16596000" cy="72000"/>
          </a:xfrm>
          <a:prstGeom prst="mathEqua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sz="4000">
              <a:solidFill>
                <a:schemeClr val="tx1"/>
              </a:solidFill>
              <a:latin typeface="+mj-lt"/>
            </a:endParaRPr>
          </a:p>
        </p:txBody>
      </p:sp>
      <p:sp>
        <p:nvSpPr>
          <p:cNvPr id="16" name="Equals 15"/>
          <p:cNvSpPr/>
          <p:nvPr/>
        </p:nvSpPr>
        <p:spPr>
          <a:xfrm rot="5400000">
            <a:off x="-4748475" y="3374206"/>
            <a:ext cx="9432000" cy="72000"/>
          </a:xfrm>
          <a:prstGeom prst="mathEqua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sz="4000">
              <a:solidFill>
                <a:schemeClr val="tx1"/>
              </a:solidFill>
              <a:latin typeface="+mj-lt"/>
            </a:endParaRPr>
          </a:p>
        </p:txBody>
      </p:sp>
      <p:sp>
        <p:nvSpPr>
          <p:cNvPr id="17" name="Equals 16"/>
          <p:cNvSpPr/>
          <p:nvPr/>
        </p:nvSpPr>
        <p:spPr>
          <a:xfrm rot="5400000">
            <a:off x="7476000" y="3374206"/>
            <a:ext cx="9432000" cy="72000"/>
          </a:xfrm>
          <a:prstGeom prst="mathEqual">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sz="4000">
              <a:solidFill>
                <a:schemeClr val="tx1"/>
              </a:solidFill>
              <a:latin typeface="+mj-lt"/>
            </a:endParaRPr>
          </a:p>
        </p:txBody>
      </p:sp>
      <p:cxnSp>
        <p:nvCxnSpPr>
          <p:cNvPr id="10" name="Straight Connector 9"/>
          <p:cNvCxnSpPr/>
          <p:nvPr/>
        </p:nvCxnSpPr>
        <p:spPr>
          <a:xfrm flipV="1">
            <a:off x="2848978" y="2831852"/>
            <a:ext cx="6494044" cy="40850"/>
          </a:xfrm>
          <a:prstGeom prst="line">
            <a:avLst/>
          </a:prstGeom>
        </p:spPr>
        <p:style>
          <a:lnRef idx="2">
            <a:schemeClr val="accent6"/>
          </a:lnRef>
          <a:fillRef idx="0">
            <a:schemeClr val="accent6"/>
          </a:fillRef>
          <a:effectRef idx="1">
            <a:schemeClr val="accent6"/>
          </a:effectRef>
          <a:fontRef idx="minor">
            <a:schemeClr val="tx1"/>
          </a:fontRef>
        </p:style>
      </p:cxnSp>
      <p:pic>
        <p:nvPicPr>
          <p:cNvPr id="27" name="Picture 2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7899" y="-1220381"/>
            <a:ext cx="2015208" cy="4495800"/>
          </a:xfrm>
          <a:prstGeom prst="rect">
            <a:avLst/>
          </a:prstGeom>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19711" y="1599179"/>
            <a:ext cx="1310269" cy="3540149"/>
          </a:xfrm>
          <a:prstGeom prst="rect">
            <a:avLst/>
          </a:prstGeom>
        </p:spPr>
      </p:pic>
      <p:pic>
        <p:nvPicPr>
          <p:cNvPr id="31" name="Picture 3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7985" y="2360771"/>
            <a:ext cx="1310269" cy="4642613"/>
          </a:xfrm>
          <a:prstGeom prst="rect">
            <a:avLst/>
          </a:prstGeom>
        </p:spPr>
      </p:pic>
      <p:sp>
        <p:nvSpPr>
          <p:cNvPr id="35" name="object 6"/>
          <p:cNvSpPr txBox="1"/>
          <p:nvPr/>
        </p:nvSpPr>
        <p:spPr>
          <a:xfrm>
            <a:off x="2895600" y="4974063"/>
            <a:ext cx="8882443" cy="443230"/>
          </a:xfrm>
          <a:prstGeom prst="rect">
            <a:avLst/>
          </a:prstGeom>
        </p:spPr>
        <p:txBody>
          <a:bodyPr vert="horz" wrap="square" lIns="0" tIns="12700" rIns="0" bIns="0" rtlCol="0">
            <a:spAutoFit/>
          </a:bodyPr>
          <a:lstStyle/>
          <a:p>
            <a:pPr marL="12700">
              <a:lnSpc>
                <a:spcPct val="100000"/>
              </a:lnSpc>
              <a:spcBef>
                <a:spcPts val="100"/>
              </a:spcBef>
            </a:pPr>
            <a:r>
              <a:rPr lang="en-US" sz="2800" spc="245" dirty="0">
                <a:solidFill>
                  <a:srgbClr val="406799"/>
                </a:solidFill>
                <a:latin typeface="Arial Narrow" panose="020B0606020202030204" pitchFamily="34" charset="0"/>
                <a:cs typeface="Calibri" panose="020F0502020204030204"/>
              </a:rPr>
              <a:t>                 </a:t>
            </a:r>
            <a:r>
              <a:rPr lang="en-US" sz="2800" spc="245" dirty="0">
                <a:solidFill>
                  <a:srgbClr val="406799"/>
                </a:solidFill>
                <a:latin typeface="Calibri" panose="020F0502020204030204" charset="0"/>
                <a:cs typeface="Calibri" panose="020F0502020204030204" charset="0"/>
              </a:rPr>
              <a:t>Presented By</a:t>
            </a:r>
          </a:p>
        </p:txBody>
      </p:sp>
      <p:cxnSp>
        <p:nvCxnSpPr>
          <p:cNvPr id="36" name="Straight Connector 35"/>
          <p:cNvCxnSpPr/>
          <p:nvPr/>
        </p:nvCxnSpPr>
        <p:spPr>
          <a:xfrm flipV="1">
            <a:off x="3712273" y="5180631"/>
            <a:ext cx="936000"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39" name="Straight Connector 38"/>
          <p:cNvCxnSpPr/>
          <p:nvPr/>
        </p:nvCxnSpPr>
        <p:spPr>
          <a:xfrm flipV="1">
            <a:off x="7315430" y="5195918"/>
            <a:ext cx="936000" cy="0"/>
          </a:xfrm>
          <a:prstGeom prst="line">
            <a:avLst/>
          </a:prstGeom>
        </p:spPr>
        <p:style>
          <a:lnRef idx="2">
            <a:schemeClr val="accent6"/>
          </a:lnRef>
          <a:fillRef idx="0">
            <a:schemeClr val="accent6"/>
          </a:fillRef>
          <a:effectRef idx="1">
            <a:schemeClr val="accent6"/>
          </a:effectRef>
          <a:fontRef idx="minor">
            <a:schemeClr val="tx1"/>
          </a:fontRef>
        </p:style>
      </p:cxnSp>
      <p:pic>
        <p:nvPicPr>
          <p:cNvPr id="43" name="Picture 4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648" y="-229771"/>
            <a:ext cx="4829849" cy="2353003"/>
          </a:xfrm>
          <a:prstGeom prst="rect">
            <a:avLst/>
          </a:prstGeom>
        </p:spPr>
      </p:pic>
      <p:pic>
        <p:nvPicPr>
          <p:cNvPr id="45" name="Picture 4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71984" y="0"/>
            <a:ext cx="3220015" cy="3127714"/>
          </a:xfrm>
          <a:prstGeom prst="rect">
            <a:avLst/>
          </a:prstGeom>
        </p:spPr>
      </p:pic>
      <p:pic>
        <p:nvPicPr>
          <p:cNvPr id="47" name="Picture 4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923" y="3808533"/>
            <a:ext cx="3968493" cy="3947710"/>
          </a:xfrm>
          <a:prstGeom prst="rect">
            <a:avLst/>
          </a:prstGeom>
        </p:spPr>
      </p:pic>
    </p:spTree>
  </p:cSld>
  <p:clrMapOvr>
    <a:masterClrMapping/>
  </p:clrMapOvr>
  <p:transition spd="slow">
    <p:cover dir="d"/>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5841" y="783066"/>
            <a:ext cx="3822701" cy="436657"/>
          </a:xfrm>
          <a:prstGeom prst="rect">
            <a:avLst/>
          </a:prstGeom>
        </p:spPr>
        <p:txBody>
          <a:bodyPr vert="horz" wrap="square" lIns="0" tIns="26034" rIns="0" bIns="0" rtlCol="0">
            <a:spAutoFit/>
          </a:bodyPr>
          <a:lstStyle/>
          <a:p>
            <a:pPr marL="12700" marR="5080">
              <a:lnSpc>
                <a:spcPts val="3230"/>
              </a:lnSpc>
              <a:spcBef>
                <a:spcPts val="205"/>
              </a:spcBef>
            </a:pPr>
            <a:r>
              <a:rPr lang="en-IN" sz="3000" dirty="0">
                <a:solidFill>
                  <a:schemeClr val="accent4">
                    <a:lumMod val="50000"/>
                  </a:schemeClr>
                </a:solidFill>
                <a:latin typeface="Calibri" panose="020F0502020204030204" charset="0"/>
                <a:cs typeface="Calibri" panose="020F0502020204030204" charset="0"/>
              </a:rPr>
              <a:t>Problem Statement </a:t>
            </a:r>
          </a:p>
        </p:txBody>
      </p:sp>
      <p:sp>
        <p:nvSpPr>
          <p:cNvPr id="3" name="object 3"/>
          <p:cNvSpPr/>
          <p:nvPr/>
        </p:nvSpPr>
        <p:spPr>
          <a:xfrm flipV="1">
            <a:off x="609600" y="1226794"/>
            <a:ext cx="2971800" cy="45719"/>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dirty="0">
              <a:solidFill>
                <a:schemeClr val="accent4">
                  <a:lumMod val="50000"/>
                </a:schemeClr>
              </a:solidFill>
              <a:latin typeface="+mj-lt"/>
            </a:endParaRPr>
          </a:p>
        </p:txBody>
      </p:sp>
      <p:sp>
        <p:nvSpPr>
          <p:cNvPr id="4" name="TextBox 3"/>
          <p:cNvSpPr txBox="1"/>
          <p:nvPr/>
        </p:nvSpPr>
        <p:spPr>
          <a:xfrm>
            <a:off x="6106886" y="2280364"/>
            <a:ext cx="5584825" cy="2743041"/>
          </a:xfrm>
          <a:prstGeom prst="rect">
            <a:avLst/>
          </a:prstGeom>
          <a:solidFill>
            <a:schemeClr val="accent4">
              <a:lumMod val="20000"/>
              <a:lumOff val="80000"/>
            </a:schemeClr>
          </a:solidFill>
          <a:ln w="19050">
            <a:solidFill>
              <a:schemeClr val="accent4"/>
            </a:solidFill>
          </a:ln>
        </p:spPr>
        <p:txBody>
          <a:bodyPr wrap="square" rtlCol="0">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accent4">
                    <a:lumMod val="50000"/>
                  </a:schemeClr>
                </a:solidFill>
                <a:effectLst/>
                <a:latin typeface="Calibri" panose="020F0502020204030204" charset="0"/>
                <a:cs typeface="Calibri" panose="020F0502020204030204" charset="0"/>
              </a:rPr>
              <a:t>You  are  tasked  with  analyzing  the  IT  support  ticket  management  system  to  understand  the  performance  of  IT  agents,  the  efficiency  of  ticket  resolution,  and  the  satisfaction  levels  of  employees.  The  objective  is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 </a:t>
            </a:r>
          </a:p>
        </p:txBody>
      </p:sp>
      <p:pic>
        <p:nvPicPr>
          <p:cNvPr id="5" name="Picture 4"/>
          <p:cNvPicPr/>
          <p:nvPr/>
        </p:nvPicPr>
        <p:blipFill>
          <a:blip r:embed="rId3"/>
          <a:stretch>
            <a:fillRect/>
          </a:stretch>
        </p:blipFill>
        <p:spPr>
          <a:xfrm>
            <a:off x="534035" y="1769110"/>
            <a:ext cx="5155565" cy="3765550"/>
          </a:xfrm>
          <a:prstGeom prst="rect">
            <a:avLst/>
          </a:prstGeom>
        </p:spPr>
      </p:pic>
    </p:spTree>
  </p:cSld>
  <p:clrMapOvr>
    <a:masterClrMapping/>
  </p:clrMapOvr>
  <p:transition spd="slow">
    <p:cover dir="d"/>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 name="object 38"/>
          <p:cNvSpPr/>
          <p:nvPr/>
        </p:nvSpPr>
        <p:spPr>
          <a:xfrm>
            <a:off x="9077325" y="4617085"/>
            <a:ext cx="2800350" cy="1798320"/>
          </a:xfrm>
          <a:custGeom>
            <a:avLst/>
            <a:gdLst/>
            <a:ahLst/>
            <a:cxnLst/>
            <a:rect l="l" t="t" r="r" b="b"/>
            <a:pathLst>
              <a:path w="2800350" h="1152525">
                <a:moveTo>
                  <a:pt x="2800349" y="1152524"/>
                </a:moveTo>
                <a:lnTo>
                  <a:pt x="0" y="1152524"/>
                </a:lnTo>
                <a:lnTo>
                  <a:pt x="0" y="0"/>
                </a:lnTo>
                <a:lnTo>
                  <a:pt x="2800349" y="0"/>
                </a:lnTo>
                <a:lnTo>
                  <a:pt x="2800349" y="1152524"/>
                </a:lnTo>
                <a:close/>
              </a:path>
            </a:pathLst>
          </a:custGeom>
          <a:solidFill>
            <a:schemeClr val="accent4">
              <a:lumMod val="20000"/>
              <a:lumOff val="80000"/>
            </a:schemeClr>
          </a:solidFill>
          <a:ln>
            <a:solidFill>
              <a:schemeClr val="accent4">
                <a:lumMod val="50000"/>
              </a:schemeClr>
            </a:solidFill>
          </a:ln>
        </p:spPr>
        <p:txBody>
          <a:bodyPr wrap="square" lIns="0" tIns="0" rIns="0" bIns="0" rtlCol="0"/>
          <a:lstStyle/>
          <a:p>
            <a:endParaRPr sz="1600">
              <a:solidFill>
                <a:schemeClr val="accent4">
                  <a:lumMod val="50000"/>
                </a:schemeClr>
              </a:solidFill>
              <a:latin typeface="+mj-lt"/>
              <a:ea typeface="Lato" panose="020F0502020204030203" pitchFamily="34" charset="0"/>
              <a:cs typeface="Arial" panose="020B0604020202020204" pitchFamily="34" charset="0"/>
            </a:endParaRPr>
          </a:p>
        </p:txBody>
      </p:sp>
      <p:sp>
        <p:nvSpPr>
          <p:cNvPr id="40" name="object 40"/>
          <p:cNvSpPr txBox="1"/>
          <p:nvPr/>
        </p:nvSpPr>
        <p:spPr>
          <a:xfrm>
            <a:off x="9144000" y="4608830"/>
            <a:ext cx="3649980" cy="1532255"/>
          </a:xfrm>
          <a:prstGeom prst="rect">
            <a:avLst/>
          </a:prstGeom>
          <a:ln w="9524">
            <a:noFill/>
          </a:ln>
        </p:spPr>
        <p:txBody>
          <a:bodyPr vert="horz" wrap="square" lIns="0" tIns="128270" rIns="0" bIns="0" rtlCol="0">
            <a:spAutoFit/>
          </a:bodyPr>
          <a:lstStyle/>
          <a:p>
            <a:pPr marL="118745">
              <a:lnSpc>
                <a:spcPct val="100000"/>
              </a:lnSpc>
              <a:spcBef>
                <a:spcPts val="1010"/>
              </a:spcBef>
            </a:pPr>
            <a:r>
              <a:rPr lang="en-IN" b="1" dirty="0">
                <a:solidFill>
                  <a:schemeClr val="accent4">
                    <a:lumMod val="50000"/>
                  </a:schemeClr>
                </a:solidFill>
                <a:latin typeface="Calibri" panose="020F0502020204030204" charset="0"/>
                <a:ea typeface="Lato" panose="020F0502020204030203" pitchFamily="34" charset="0"/>
                <a:cs typeface="Calibri" panose="020F0502020204030204" charset="0"/>
              </a:rPr>
              <a:t>D</a:t>
            </a:r>
            <a:r>
              <a:rPr lang="en-US" altLang="en-IN" b="1" dirty="0">
                <a:solidFill>
                  <a:schemeClr val="accent4">
                    <a:lumMod val="50000"/>
                  </a:schemeClr>
                </a:solidFill>
                <a:latin typeface="Calibri" panose="020F0502020204030204" charset="0"/>
                <a:ea typeface="Lato" panose="020F0502020204030203" pitchFamily="34" charset="0"/>
                <a:cs typeface="Calibri" panose="020F0502020204030204" charset="0"/>
              </a:rPr>
              <a:t>ATA</a:t>
            </a:r>
            <a:r>
              <a:rPr lang="en-IN" b="1" dirty="0">
                <a:solidFill>
                  <a:schemeClr val="accent4">
                    <a:lumMod val="50000"/>
                  </a:schemeClr>
                </a:solidFill>
                <a:latin typeface="Calibri" panose="020F0502020204030204" charset="0"/>
                <a:ea typeface="Lato" panose="020F0502020204030203" pitchFamily="34" charset="0"/>
                <a:cs typeface="Calibri" panose="020F0502020204030204" charset="0"/>
              </a:rPr>
              <a:t> Q</a:t>
            </a:r>
            <a:r>
              <a:rPr lang="en-US" altLang="en-IN" b="1" dirty="0">
                <a:solidFill>
                  <a:schemeClr val="accent4">
                    <a:lumMod val="50000"/>
                  </a:schemeClr>
                </a:solidFill>
                <a:latin typeface="Calibri" panose="020F0502020204030204" charset="0"/>
                <a:ea typeface="Lato" panose="020F0502020204030203" pitchFamily="34" charset="0"/>
                <a:cs typeface="Calibri" panose="020F0502020204030204" charset="0"/>
              </a:rPr>
              <a:t>UALITY</a:t>
            </a:r>
          </a:p>
          <a:p>
            <a:pPr marL="404495" indent="-285750">
              <a:lnSpc>
                <a:spcPct val="100000"/>
              </a:lnSpc>
              <a:spcBef>
                <a:spcPts val="1010"/>
              </a:spcBef>
              <a:buFont typeface="Arial" panose="020B0604020202020204" pitchFamily="34" charset="0"/>
              <a:buChar char="•"/>
            </a:pPr>
            <a:r>
              <a:rPr sz="1600" spc="-20" dirty="0">
                <a:solidFill>
                  <a:schemeClr val="accent4">
                    <a:lumMod val="50000"/>
                  </a:schemeClr>
                </a:solidFill>
                <a:latin typeface="Calibri" panose="020F0502020204030204" charset="0"/>
                <a:ea typeface="Lato" panose="020F0502020204030203" pitchFamily="34" charset="0"/>
                <a:cs typeface="Calibri" panose="020F0502020204030204" charset="0"/>
              </a:rPr>
              <a:t>No</a:t>
            </a:r>
            <a:r>
              <a:rPr sz="1600" spc="-6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missing</a:t>
            </a:r>
            <a:r>
              <a:rPr sz="1600" spc="-5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values </a:t>
            </a:r>
          </a:p>
          <a:p>
            <a:pPr marL="404495" indent="-285750">
              <a:lnSpc>
                <a:spcPct val="100000"/>
              </a:lnSpc>
              <a:spcBef>
                <a:spcPts val="1010"/>
              </a:spcBef>
              <a:buFont typeface="Arial" panose="020B0604020202020204" pitchFamily="34" charset="0"/>
              <a:buChar char="•"/>
            </a:pP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Standardized</a:t>
            </a:r>
            <a:r>
              <a:rPr sz="1600" spc="-3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categories </a:t>
            </a:r>
          </a:p>
          <a:p>
            <a:pPr marL="404495" indent="-285750">
              <a:lnSpc>
                <a:spcPct val="100000"/>
              </a:lnSpc>
              <a:spcBef>
                <a:spcPts val="1010"/>
              </a:spcBef>
              <a:buFont typeface="Arial" panose="020B0604020202020204" pitchFamily="34" charset="0"/>
              <a:buChar char="•"/>
            </a:pP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Consistent</a:t>
            </a:r>
            <a:r>
              <a:rPr sz="1600" spc="-3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naming</a:t>
            </a:r>
            <a:endParaRPr sz="1600" dirty="0">
              <a:solidFill>
                <a:schemeClr val="accent4">
                  <a:lumMod val="50000"/>
                </a:schemeClr>
              </a:solidFill>
              <a:latin typeface="Calibri" panose="020F0502020204030204" charset="0"/>
              <a:ea typeface="Lato" panose="020F0502020204030203" pitchFamily="34" charset="0"/>
              <a:cs typeface="Calibri" panose="020F0502020204030204" charset="0"/>
            </a:endParaRPr>
          </a:p>
        </p:txBody>
      </p:sp>
      <p:grpSp>
        <p:nvGrpSpPr>
          <p:cNvPr id="64" name="object 38"/>
          <p:cNvGrpSpPr/>
          <p:nvPr/>
        </p:nvGrpSpPr>
        <p:grpSpPr>
          <a:xfrm>
            <a:off x="6162675" y="2571750"/>
            <a:ext cx="5709920" cy="1538605"/>
            <a:chOff x="6095999" y="4314824"/>
            <a:chExt cx="2800350" cy="914400"/>
          </a:xfrm>
        </p:grpSpPr>
        <p:sp>
          <p:nvSpPr>
            <p:cNvPr id="65" name="object 39"/>
            <p:cNvSpPr/>
            <p:nvPr/>
          </p:nvSpPr>
          <p:spPr>
            <a:xfrm>
              <a:off x="6095999" y="4314824"/>
              <a:ext cx="2800350" cy="914400"/>
            </a:xfrm>
            <a:custGeom>
              <a:avLst/>
              <a:gdLst/>
              <a:ahLst/>
              <a:cxnLst/>
              <a:rect l="l" t="t" r="r" b="b"/>
              <a:pathLst>
                <a:path w="2800350" h="914400">
                  <a:moveTo>
                    <a:pt x="2800349" y="914399"/>
                  </a:moveTo>
                  <a:lnTo>
                    <a:pt x="0" y="914399"/>
                  </a:lnTo>
                  <a:lnTo>
                    <a:pt x="0" y="0"/>
                  </a:lnTo>
                  <a:lnTo>
                    <a:pt x="2800349" y="0"/>
                  </a:lnTo>
                  <a:lnTo>
                    <a:pt x="2800349" y="914399"/>
                  </a:lnTo>
                  <a:close/>
                </a:path>
              </a:pathLst>
            </a:custGeom>
            <a:solidFill>
              <a:schemeClr val="accent4">
                <a:lumMod val="20000"/>
                <a:lumOff val="80000"/>
                <a:alpha val="79998"/>
              </a:schemeClr>
            </a:solidFill>
          </p:spPr>
          <p:txBody>
            <a:bodyPr wrap="square" lIns="0" tIns="0" rIns="0" bIns="0" rtlCol="0"/>
            <a:lstStyle/>
            <a:p>
              <a:endParaRPr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66" name="object 40"/>
            <p:cNvSpPr/>
            <p:nvPr/>
          </p:nvSpPr>
          <p:spPr>
            <a:xfrm>
              <a:off x="6095999" y="4314824"/>
              <a:ext cx="18632" cy="914400"/>
            </a:xfrm>
            <a:custGeom>
              <a:avLst/>
              <a:gdLst/>
              <a:ahLst/>
              <a:cxnLst/>
              <a:rect l="l" t="t" r="r" b="b"/>
              <a:pathLst>
                <a:path w="28575" h="914400">
                  <a:moveTo>
                    <a:pt x="28574" y="914399"/>
                  </a:moveTo>
                  <a:lnTo>
                    <a:pt x="0" y="914399"/>
                  </a:lnTo>
                  <a:lnTo>
                    <a:pt x="0" y="0"/>
                  </a:lnTo>
                  <a:lnTo>
                    <a:pt x="28574" y="0"/>
                  </a:lnTo>
                  <a:lnTo>
                    <a:pt x="28574" y="914399"/>
                  </a:lnTo>
                  <a:close/>
                </a:path>
              </a:pathLst>
            </a:custGeom>
            <a:solidFill>
              <a:schemeClr val="accent4">
                <a:lumMod val="50000"/>
              </a:schemeClr>
            </a:solidFill>
          </p:spPr>
          <p:txBody>
            <a:bodyPr wrap="square" lIns="0" tIns="0" rIns="0" bIns="0" rtlCol="0"/>
            <a:lstStyle/>
            <a:p>
              <a:endParaRPr dirty="0">
                <a:solidFill>
                  <a:schemeClr val="accent4">
                    <a:lumMod val="50000"/>
                  </a:schemeClr>
                </a:solidFill>
                <a:latin typeface="+mj-lt"/>
                <a:ea typeface="Lato" panose="020F0502020204030203" pitchFamily="34" charset="0"/>
                <a:cs typeface="Arial" panose="020B0604020202020204" pitchFamily="34" charset="0"/>
              </a:endParaRPr>
            </a:p>
          </p:txBody>
        </p:sp>
      </p:grpSp>
      <p:grpSp>
        <p:nvGrpSpPr>
          <p:cNvPr id="61" name="object 38"/>
          <p:cNvGrpSpPr/>
          <p:nvPr/>
        </p:nvGrpSpPr>
        <p:grpSpPr>
          <a:xfrm>
            <a:off x="262254" y="3883660"/>
            <a:ext cx="5651501" cy="2150746"/>
            <a:chOff x="6088743" y="4314824"/>
            <a:chExt cx="2807633" cy="737223"/>
          </a:xfrm>
        </p:grpSpPr>
        <p:sp>
          <p:nvSpPr>
            <p:cNvPr id="62" name="object 39"/>
            <p:cNvSpPr/>
            <p:nvPr/>
          </p:nvSpPr>
          <p:spPr>
            <a:xfrm>
              <a:off x="6095999" y="4314824"/>
              <a:ext cx="2800377" cy="715569"/>
            </a:xfrm>
            <a:custGeom>
              <a:avLst/>
              <a:gdLst/>
              <a:ahLst/>
              <a:cxnLst/>
              <a:rect l="l" t="t" r="r" b="b"/>
              <a:pathLst>
                <a:path w="2800350" h="914400">
                  <a:moveTo>
                    <a:pt x="2800349" y="914399"/>
                  </a:moveTo>
                  <a:lnTo>
                    <a:pt x="0" y="914399"/>
                  </a:lnTo>
                  <a:lnTo>
                    <a:pt x="0" y="0"/>
                  </a:lnTo>
                  <a:lnTo>
                    <a:pt x="2800349" y="0"/>
                  </a:lnTo>
                  <a:lnTo>
                    <a:pt x="2800349" y="914399"/>
                  </a:lnTo>
                  <a:close/>
                </a:path>
              </a:pathLst>
            </a:custGeom>
            <a:solidFill>
              <a:schemeClr val="accent4">
                <a:lumMod val="20000"/>
                <a:lumOff val="80000"/>
                <a:alpha val="79998"/>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63" name="object 40"/>
            <p:cNvSpPr/>
            <p:nvPr/>
          </p:nvSpPr>
          <p:spPr>
            <a:xfrm flipH="1">
              <a:off x="6088743" y="4314824"/>
              <a:ext cx="37856" cy="737223"/>
            </a:xfrm>
            <a:custGeom>
              <a:avLst/>
              <a:gdLst/>
              <a:ahLst/>
              <a:cxnLst/>
              <a:rect l="l" t="t" r="r" b="b"/>
              <a:pathLst>
                <a:path w="28575" h="914400">
                  <a:moveTo>
                    <a:pt x="28574" y="914399"/>
                  </a:moveTo>
                  <a:lnTo>
                    <a:pt x="0" y="914399"/>
                  </a:lnTo>
                  <a:lnTo>
                    <a:pt x="0" y="0"/>
                  </a:lnTo>
                  <a:lnTo>
                    <a:pt x="28574" y="0"/>
                  </a:lnTo>
                  <a:lnTo>
                    <a:pt x="28574" y="9143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grpSp>
      <p:sp>
        <p:nvSpPr>
          <p:cNvPr id="23" name="object 23"/>
          <p:cNvSpPr txBox="1">
            <a:spLocks noGrp="1"/>
          </p:cNvSpPr>
          <p:nvPr>
            <p:ph type="title"/>
          </p:nvPr>
        </p:nvSpPr>
        <p:spPr>
          <a:xfrm>
            <a:off x="-152089" y="815844"/>
            <a:ext cx="10753052" cy="289560"/>
          </a:xfrm>
          <a:prstGeom prst="rect">
            <a:avLst/>
          </a:prstGeom>
        </p:spPr>
        <p:txBody>
          <a:bodyPr vert="horz" wrap="square" lIns="0" tIns="12700" rIns="0" bIns="0" rtlCol="0">
            <a:spAutoFit/>
          </a:bodyPr>
          <a:lstStyle/>
          <a:p>
            <a:pPr marL="7283450" algn="ctr">
              <a:lnSpc>
                <a:spcPct val="100000"/>
              </a:lnSpc>
              <a:spcBef>
                <a:spcPts val="100"/>
              </a:spcBef>
            </a:pPr>
            <a:r>
              <a:rPr lang="en-IN" sz="1800" dirty="0">
                <a:solidFill>
                  <a:schemeClr val="accent4">
                    <a:lumMod val="50000"/>
                  </a:schemeClr>
                </a:solidFill>
                <a:latin typeface="Calibri" panose="020F0502020204030204" charset="0"/>
                <a:ea typeface="Lato" panose="020F0502020204030203" pitchFamily="34" charset="0"/>
                <a:cs typeface="Calibri" panose="020F0502020204030204" charset="0"/>
              </a:rPr>
              <a:t>Dataset Structure</a:t>
            </a:r>
          </a:p>
        </p:txBody>
      </p:sp>
      <p:sp>
        <p:nvSpPr>
          <p:cNvPr id="2" name="object 2"/>
          <p:cNvSpPr txBox="1"/>
          <p:nvPr/>
        </p:nvSpPr>
        <p:spPr>
          <a:xfrm>
            <a:off x="457200" y="236220"/>
            <a:ext cx="3092450" cy="474345"/>
          </a:xfrm>
          <a:prstGeom prst="rect">
            <a:avLst/>
          </a:prstGeom>
        </p:spPr>
        <p:txBody>
          <a:bodyPr vert="horz" wrap="square" lIns="0" tIns="12700" rIns="0" bIns="0" rtlCol="0">
            <a:spAutoFit/>
          </a:bodyPr>
          <a:lstStyle/>
          <a:p>
            <a:pPr marL="12700">
              <a:lnSpc>
                <a:spcPct val="100000"/>
              </a:lnSpc>
              <a:spcBef>
                <a:spcPts val="100"/>
              </a:spcBef>
            </a:pPr>
            <a:r>
              <a:rPr lang="en-IN" sz="3000" b="1" dirty="0">
                <a:solidFill>
                  <a:schemeClr val="accent4">
                    <a:lumMod val="50000"/>
                  </a:schemeClr>
                </a:solidFill>
                <a:latin typeface="Calibri" panose="020F0502020204030204" charset="0"/>
                <a:ea typeface="Lato" panose="020F0502020204030203" pitchFamily="34" charset="0"/>
                <a:cs typeface="Calibri" panose="020F0502020204030204" charset="0"/>
              </a:rPr>
              <a:t>Data</a:t>
            </a:r>
            <a:r>
              <a:rPr lang="en-US" altLang="en-IN" sz="3000" b="1"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lang="en-IN" sz="3000" b="1" dirty="0">
                <a:solidFill>
                  <a:schemeClr val="accent4">
                    <a:lumMod val="50000"/>
                  </a:schemeClr>
                </a:solidFill>
                <a:latin typeface="Calibri" panose="020F0502020204030204" charset="0"/>
                <a:ea typeface="Lato" panose="020F0502020204030203" pitchFamily="34" charset="0"/>
                <a:cs typeface="Calibri" panose="020F0502020204030204" charset="0"/>
              </a:rPr>
              <a:t>Overview</a:t>
            </a:r>
            <a:endParaRPr lang="en-IN" sz="3000" dirty="0">
              <a:solidFill>
                <a:schemeClr val="accent4">
                  <a:lumMod val="50000"/>
                </a:schemeClr>
              </a:solidFill>
              <a:latin typeface="Calibri" panose="020F0502020204030204" charset="0"/>
              <a:ea typeface="Lato" panose="020F0502020204030203" pitchFamily="34" charset="0"/>
              <a:cs typeface="Calibri" panose="020F0502020204030204" charset="0"/>
            </a:endParaRPr>
          </a:p>
        </p:txBody>
      </p:sp>
      <p:sp>
        <p:nvSpPr>
          <p:cNvPr id="3" name="object 3"/>
          <p:cNvSpPr/>
          <p:nvPr/>
        </p:nvSpPr>
        <p:spPr>
          <a:xfrm flipV="1">
            <a:off x="457200" y="658495"/>
            <a:ext cx="2366010" cy="762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sp>
        <p:nvSpPr>
          <p:cNvPr id="10" name="object 10"/>
          <p:cNvSpPr txBox="1"/>
          <p:nvPr/>
        </p:nvSpPr>
        <p:spPr>
          <a:xfrm>
            <a:off x="277678" y="918899"/>
            <a:ext cx="1690424" cy="292735"/>
          </a:xfrm>
          <a:prstGeom prst="rect">
            <a:avLst/>
          </a:prstGeom>
        </p:spPr>
        <p:txBody>
          <a:bodyPr vert="horz" wrap="square" lIns="0" tIns="15875" rIns="0" bIns="0" rtlCol="0">
            <a:spAutoFit/>
          </a:bodyPr>
          <a:lstStyle/>
          <a:p>
            <a:pPr marL="12700">
              <a:lnSpc>
                <a:spcPct val="100000"/>
              </a:lnSpc>
              <a:spcBef>
                <a:spcPts val="125"/>
              </a:spcBef>
            </a:pPr>
            <a:r>
              <a:rPr lang="en-IN" b="1" dirty="0">
                <a:solidFill>
                  <a:schemeClr val="accent4">
                    <a:lumMod val="50000"/>
                  </a:schemeClr>
                </a:solidFill>
                <a:latin typeface="Calibri" panose="020F0502020204030204" charset="0"/>
                <a:ea typeface="Lato" panose="020F0502020204030203" pitchFamily="34" charset="0"/>
                <a:cs typeface="Calibri" panose="020F0502020204030204" charset="0"/>
              </a:rPr>
              <a:t>Datasets Used</a:t>
            </a:r>
          </a:p>
        </p:txBody>
      </p:sp>
      <p:sp>
        <p:nvSpPr>
          <p:cNvPr id="13" name="object 13"/>
          <p:cNvSpPr txBox="1"/>
          <p:nvPr/>
        </p:nvSpPr>
        <p:spPr>
          <a:xfrm>
            <a:off x="6324600" y="2593831"/>
            <a:ext cx="2895600" cy="292735"/>
          </a:xfrm>
          <a:prstGeom prst="rect">
            <a:avLst/>
          </a:prstGeom>
        </p:spPr>
        <p:txBody>
          <a:bodyPr vert="horz" wrap="square" lIns="0" tIns="15875" rIns="0" bIns="0" rtlCol="0">
            <a:spAutoFit/>
          </a:bodyPr>
          <a:lstStyle/>
          <a:p>
            <a:pPr marL="12700">
              <a:lnSpc>
                <a:spcPct val="100000"/>
              </a:lnSpc>
              <a:spcBef>
                <a:spcPts val="125"/>
              </a:spcBef>
            </a:pPr>
            <a:r>
              <a:rPr b="1" spc="-55" dirty="0">
                <a:solidFill>
                  <a:schemeClr val="accent4">
                    <a:lumMod val="50000"/>
                  </a:schemeClr>
                </a:solidFill>
                <a:latin typeface="Calibri" panose="020F0502020204030204" charset="0"/>
                <a:ea typeface="Lato" panose="020F0502020204030203" pitchFamily="34" charset="0"/>
                <a:cs typeface="Calibri" panose="020F0502020204030204" charset="0"/>
              </a:rPr>
              <a:t>Data</a:t>
            </a:r>
            <a:r>
              <a:rPr b="1" spc="-11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b="1" spc="-70" dirty="0">
                <a:solidFill>
                  <a:schemeClr val="accent4">
                    <a:lumMod val="50000"/>
                  </a:schemeClr>
                </a:solidFill>
                <a:latin typeface="Calibri" panose="020F0502020204030204" charset="0"/>
                <a:ea typeface="Lato" panose="020F0502020204030203" pitchFamily="34" charset="0"/>
                <a:cs typeface="Calibri" panose="020F0502020204030204" charset="0"/>
              </a:rPr>
              <a:t>Cleaning</a:t>
            </a:r>
            <a:r>
              <a:rPr b="1" spc="-10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b="1" spc="-35" dirty="0">
                <a:solidFill>
                  <a:schemeClr val="accent4">
                    <a:lumMod val="50000"/>
                  </a:schemeClr>
                </a:solidFill>
                <a:latin typeface="Calibri" panose="020F0502020204030204" charset="0"/>
                <a:ea typeface="Lato" panose="020F0502020204030203" pitchFamily="34" charset="0"/>
                <a:cs typeface="Calibri" panose="020F0502020204030204" charset="0"/>
              </a:rPr>
              <a:t>&amp;</a:t>
            </a:r>
            <a:r>
              <a:rPr b="1" spc="-11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b="1" spc="-125" dirty="0">
                <a:solidFill>
                  <a:schemeClr val="accent4">
                    <a:lumMod val="50000"/>
                  </a:schemeClr>
                </a:solidFill>
                <a:latin typeface="Calibri" panose="020F0502020204030204" charset="0"/>
                <a:ea typeface="Lato" panose="020F0502020204030203" pitchFamily="34" charset="0"/>
                <a:cs typeface="Calibri" panose="020F0502020204030204" charset="0"/>
              </a:rPr>
              <a:t>Preprocessing:</a:t>
            </a:r>
            <a:endParaRPr b="1" dirty="0">
              <a:solidFill>
                <a:schemeClr val="accent4">
                  <a:lumMod val="50000"/>
                </a:schemeClr>
              </a:solidFill>
              <a:latin typeface="Calibri" panose="020F0502020204030204" charset="0"/>
              <a:ea typeface="Lato" panose="020F0502020204030203" pitchFamily="34" charset="0"/>
              <a:cs typeface="Calibri" panose="020F0502020204030204" charset="0"/>
            </a:endParaRPr>
          </a:p>
        </p:txBody>
      </p:sp>
      <p:sp>
        <p:nvSpPr>
          <p:cNvPr id="15" name="object 15"/>
          <p:cNvSpPr txBox="1"/>
          <p:nvPr/>
        </p:nvSpPr>
        <p:spPr>
          <a:xfrm>
            <a:off x="6201410" y="2970530"/>
            <a:ext cx="5676265" cy="874395"/>
          </a:xfrm>
          <a:prstGeom prst="rect">
            <a:avLst/>
          </a:prstGeom>
        </p:spPr>
        <p:txBody>
          <a:bodyPr vert="horz" wrap="square" lIns="0" tIns="12700" rIns="0" bIns="0" rtlCol="0">
            <a:spAutoFit/>
          </a:bodyPr>
          <a:lstStyle/>
          <a:p>
            <a:pPr marL="298450" indent="-285750">
              <a:lnSpc>
                <a:spcPct val="100000"/>
              </a:lnSpc>
              <a:spcBef>
                <a:spcPts val="100"/>
              </a:spcBef>
              <a:buFont typeface="Wingdings" panose="05000000000000000000" charset="0"/>
              <a:buChar char="§"/>
            </a:pP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Fixed</a:t>
            </a:r>
            <a:r>
              <a:rPr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spelling</a:t>
            </a:r>
            <a:r>
              <a:rPr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inconsistencies:</a:t>
            </a:r>
            <a:r>
              <a:rPr sz="1600" spc="-4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"Mayor"</a:t>
            </a:r>
            <a:r>
              <a:rPr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a:t>
            </a:r>
            <a:r>
              <a:rPr sz="1600" spc="-6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"Major",</a:t>
            </a:r>
            <a:r>
              <a:rPr lang="en-US" altLang="en-US"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lang="en-IN"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a:t>
            </a:r>
            <a:r>
              <a:rPr lang="en-IN" sz="1600" spc="-45" dirty="0" err="1">
                <a:solidFill>
                  <a:schemeClr val="accent4">
                    <a:lumMod val="50000"/>
                  </a:schemeClr>
                </a:solidFill>
                <a:latin typeface="Calibri" panose="020F0502020204030204" charset="0"/>
                <a:ea typeface="Lato" panose="020F0502020204030203" pitchFamily="34" charset="0"/>
                <a:cs typeface="Calibri" panose="020F0502020204030204" charset="0"/>
              </a:rPr>
              <a:t>Unassigned</a:t>
            </a:r>
            <a:r>
              <a:rPr lang="en-IN"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a:t>
            </a:r>
            <a:r>
              <a:rPr lang="en-IN" sz="1600" dirty="0">
                <a:solidFill>
                  <a:schemeClr val="accent4">
                    <a:lumMod val="50000"/>
                  </a:schemeClr>
                </a:solidFill>
                <a:latin typeface="Calibri" panose="020F0502020204030204" charset="0"/>
                <a:ea typeface="Lato" panose="020F0502020204030203" pitchFamily="34" charset="0"/>
                <a:cs typeface="Calibri" panose="020F0502020204030204" charset="0"/>
              </a:rPr>
              <a:t> ”Unassigned”,”</a:t>
            </a:r>
            <a:r>
              <a:rPr lang="en-IN" sz="1600" dirty="0" err="1">
                <a:solidFill>
                  <a:schemeClr val="accent4">
                    <a:lumMod val="50000"/>
                  </a:schemeClr>
                </a:solidFill>
                <a:latin typeface="Calibri" panose="020F0502020204030204" charset="0"/>
                <a:ea typeface="Lato" panose="020F0502020204030203" pitchFamily="34" charset="0"/>
                <a:cs typeface="Calibri" panose="020F0502020204030204" charset="0"/>
              </a:rPr>
              <a:t>Unclassified</a:t>
            </a:r>
            <a:r>
              <a:rPr lang="en-IN" sz="1600" dirty="0">
                <a:solidFill>
                  <a:schemeClr val="accent4">
                    <a:lumMod val="50000"/>
                  </a:schemeClr>
                </a:solidFill>
                <a:latin typeface="Calibri" panose="020F0502020204030204" charset="0"/>
                <a:ea typeface="Lato" panose="020F0502020204030203" pitchFamily="34" charset="0"/>
                <a:cs typeface="Calibri" panose="020F0502020204030204" charset="0"/>
              </a:rPr>
              <a:t>” →”Unclassified”</a:t>
            </a:r>
            <a:r>
              <a:rPr sz="1600" spc="-4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20" dirty="0">
                <a:solidFill>
                  <a:schemeClr val="accent4">
                    <a:lumMod val="50000"/>
                  </a:schemeClr>
                </a:solidFill>
                <a:latin typeface="Calibri" panose="020F0502020204030204" charset="0"/>
                <a:ea typeface="Lato" panose="020F0502020204030203" pitchFamily="34" charset="0"/>
                <a:cs typeface="Calibri" panose="020F0502020204030204" charset="0"/>
              </a:rPr>
              <a:t>etc.</a:t>
            </a:r>
            <a:endParaRPr sz="1600" dirty="0">
              <a:solidFill>
                <a:schemeClr val="accent4">
                  <a:lumMod val="50000"/>
                </a:schemeClr>
              </a:solidFill>
              <a:latin typeface="Calibri" panose="020F0502020204030204" charset="0"/>
              <a:ea typeface="Lato" panose="020F0502020204030203" pitchFamily="34" charset="0"/>
              <a:cs typeface="Calibri" panose="020F0502020204030204" charset="0"/>
            </a:endParaRPr>
          </a:p>
          <a:p>
            <a:pPr marL="298450" indent="-285750">
              <a:lnSpc>
                <a:spcPct val="100000"/>
              </a:lnSpc>
              <a:spcBef>
                <a:spcPts val="960"/>
              </a:spcBef>
              <a:buFont typeface="Wingdings" panose="05000000000000000000" charset="0"/>
              <a:buChar char="§"/>
            </a:pP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Confirmed</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20" dirty="0">
                <a:solidFill>
                  <a:schemeClr val="accent4">
                    <a:lumMod val="50000"/>
                  </a:schemeClr>
                </a:solidFill>
                <a:latin typeface="Calibri" panose="020F0502020204030204" charset="0"/>
                <a:ea typeface="Lato" panose="020F0502020204030203" pitchFamily="34" charset="0"/>
                <a:cs typeface="Calibri" panose="020F0502020204030204" charset="0"/>
              </a:rPr>
              <a:t>no</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missing</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values</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in</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any</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column</a:t>
            </a:r>
            <a:endParaRPr sz="1600" dirty="0">
              <a:solidFill>
                <a:schemeClr val="accent4">
                  <a:lumMod val="50000"/>
                </a:schemeClr>
              </a:solidFill>
              <a:latin typeface="Calibri" panose="020F0502020204030204" charset="0"/>
              <a:ea typeface="Lato" panose="020F0502020204030203" pitchFamily="34" charset="0"/>
              <a:cs typeface="Calibri" panose="020F0502020204030204" charset="0"/>
            </a:endParaRPr>
          </a:p>
        </p:txBody>
      </p:sp>
      <p:sp>
        <p:nvSpPr>
          <p:cNvPr id="17" name="object 17"/>
          <p:cNvSpPr txBox="1"/>
          <p:nvPr/>
        </p:nvSpPr>
        <p:spPr>
          <a:xfrm>
            <a:off x="461855" y="4010612"/>
            <a:ext cx="3717232" cy="292735"/>
          </a:xfrm>
          <a:prstGeom prst="rect">
            <a:avLst/>
          </a:prstGeom>
        </p:spPr>
        <p:txBody>
          <a:bodyPr vert="horz" wrap="square" lIns="0" tIns="15875" rIns="0" bIns="0" rtlCol="0">
            <a:spAutoFit/>
          </a:bodyPr>
          <a:lstStyle/>
          <a:p>
            <a:pPr marL="12700">
              <a:lnSpc>
                <a:spcPct val="100000"/>
              </a:lnSpc>
              <a:spcBef>
                <a:spcPts val="125"/>
              </a:spcBef>
            </a:pPr>
            <a:r>
              <a:rPr lang="en-IN" b="1" spc="-135" dirty="0">
                <a:solidFill>
                  <a:schemeClr val="accent4">
                    <a:lumMod val="50000"/>
                  </a:schemeClr>
                </a:solidFill>
                <a:latin typeface="+mj-lt"/>
                <a:ea typeface="Lato" panose="020F0502020204030203" pitchFamily="34" charset="0"/>
                <a:cs typeface="Arial" panose="020B0604020202020204" pitchFamily="34" charset="0"/>
              </a:rPr>
              <a:t> </a:t>
            </a:r>
            <a:r>
              <a:rPr b="1" spc="-50" dirty="0">
                <a:solidFill>
                  <a:schemeClr val="accent4">
                    <a:lumMod val="50000"/>
                  </a:schemeClr>
                </a:solidFill>
                <a:latin typeface="Calibri" panose="020F0502020204030204" charset="0"/>
                <a:ea typeface="Lato" panose="020F0502020204030203" pitchFamily="34" charset="0"/>
                <a:cs typeface="Calibri" panose="020F0502020204030204" charset="0"/>
              </a:rPr>
              <a:t>Why</a:t>
            </a:r>
            <a:r>
              <a:rPr b="1" spc="-11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b="1" spc="-75" dirty="0">
                <a:solidFill>
                  <a:schemeClr val="accent4">
                    <a:lumMod val="50000"/>
                  </a:schemeClr>
                </a:solidFill>
                <a:latin typeface="Calibri" panose="020F0502020204030204" charset="0"/>
                <a:ea typeface="Lato" panose="020F0502020204030203" pitchFamily="34" charset="0"/>
                <a:cs typeface="Calibri" panose="020F0502020204030204" charset="0"/>
              </a:rPr>
              <a:t>This</a:t>
            </a:r>
            <a:r>
              <a:rPr b="1" spc="-11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b="1" spc="-55" dirty="0">
                <a:solidFill>
                  <a:schemeClr val="accent4">
                    <a:lumMod val="50000"/>
                  </a:schemeClr>
                </a:solidFill>
                <a:latin typeface="Calibri" panose="020F0502020204030204" charset="0"/>
                <a:ea typeface="Lato" panose="020F0502020204030203" pitchFamily="34" charset="0"/>
                <a:cs typeface="Calibri" panose="020F0502020204030204" charset="0"/>
              </a:rPr>
              <a:t>Data</a:t>
            </a:r>
            <a:r>
              <a:rPr b="1" spc="-10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b="1" spc="-60" dirty="0">
                <a:solidFill>
                  <a:schemeClr val="accent4">
                    <a:lumMod val="50000"/>
                  </a:schemeClr>
                </a:solidFill>
                <a:latin typeface="Calibri" panose="020F0502020204030204" charset="0"/>
                <a:ea typeface="Lato" panose="020F0502020204030203" pitchFamily="34" charset="0"/>
                <a:cs typeface="Calibri" panose="020F0502020204030204" charset="0"/>
              </a:rPr>
              <a:t>is</a:t>
            </a:r>
            <a:r>
              <a:rPr b="1" spc="-11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b="1" spc="-20" dirty="0">
                <a:solidFill>
                  <a:schemeClr val="accent4">
                    <a:lumMod val="50000"/>
                  </a:schemeClr>
                </a:solidFill>
                <a:latin typeface="Calibri" panose="020F0502020204030204" charset="0"/>
                <a:ea typeface="Lato" panose="020F0502020204030203" pitchFamily="34" charset="0"/>
                <a:cs typeface="Calibri" panose="020F0502020204030204" charset="0"/>
              </a:rPr>
              <a:t>Critical:</a:t>
            </a:r>
            <a:endParaRPr b="1" dirty="0">
              <a:solidFill>
                <a:schemeClr val="accent4">
                  <a:lumMod val="50000"/>
                </a:schemeClr>
              </a:solidFill>
              <a:latin typeface="Calibri" panose="020F0502020204030204" charset="0"/>
              <a:ea typeface="Lato" panose="020F0502020204030203" pitchFamily="34" charset="0"/>
              <a:cs typeface="Calibri" panose="020F0502020204030204" charset="0"/>
            </a:endParaRPr>
          </a:p>
        </p:txBody>
      </p:sp>
      <p:sp>
        <p:nvSpPr>
          <p:cNvPr id="24" name="object 24"/>
          <p:cNvSpPr txBox="1"/>
          <p:nvPr/>
        </p:nvSpPr>
        <p:spPr>
          <a:xfrm>
            <a:off x="8153715" y="4189473"/>
            <a:ext cx="2239645" cy="289560"/>
          </a:xfrm>
          <a:prstGeom prst="rect">
            <a:avLst/>
          </a:prstGeom>
        </p:spPr>
        <p:txBody>
          <a:bodyPr vert="horz" wrap="square" lIns="0" tIns="12700" rIns="0" bIns="0" rtlCol="0">
            <a:spAutoFit/>
          </a:bodyPr>
          <a:lstStyle/>
          <a:p>
            <a:pPr marL="12700">
              <a:lnSpc>
                <a:spcPct val="100000"/>
              </a:lnSpc>
              <a:spcBef>
                <a:spcPts val="100"/>
              </a:spcBef>
            </a:pPr>
            <a:r>
              <a:rPr lang="en-IN" b="1" dirty="0">
                <a:solidFill>
                  <a:schemeClr val="accent4">
                    <a:lumMod val="50000"/>
                  </a:schemeClr>
                </a:solidFill>
                <a:latin typeface="Calibri" panose="020F0502020204030204" charset="0"/>
                <a:ea typeface="Lato" panose="020F0502020204030203" pitchFamily="34" charset="0"/>
                <a:cs typeface="Calibri" panose="020F0502020204030204" charset="0"/>
              </a:rPr>
              <a:t>Data Attributes</a:t>
            </a:r>
            <a:endParaRPr lang="en-IN" dirty="0">
              <a:solidFill>
                <a:schemeClr val="accent4">
                  <a:lumMod val="50000"/>
                </a:schemeClr>
              </a:solidFill>
              <a:latin typeface="Calibri" panose="020F0502020204030204" charset="0"/>
              <a:ea typeface="Lato" panose="020F0502020204030203" pitchFamily="34" charset="0"/>
              <a:cs typeface="Calibri" panose="020F0502020204030204" charset="0"/>
            </a:endParaRPr>
          </a:p>
        </p:txBody>
      </p:sp>
      <p:sp>
        <p:nvSpPr>
          <p:cNvPr id="34" name="object 34"/>
          <p:cNvSpPr/>
          <p:nvPr/>
        </p:nvSpPr>
        <p:spPr>
          <a:xfrm>
            <a:off x="6162675" y="4608830"/>
            <a:ext cx="2879725" cy="1785620"/>
          </a:xfrm>
          <a:custGeom>
            <a:avLst/>
            <a:gdLst/>
            <a:ahLst/>
            <a:cxnLst/>
            <a:rect l="l" t="t" r="r" b="b"/>
            <a:pathLst>
              <a:path w="2800350" h="1152525">
                <a:moveTo>
                  <a:pt x="2800349" y="1152524"/>
                </a:moveTo>
                <a:lnTo>
                  <a:pt x="0" y="1152524"/>
                </a:lnTo>
                <a:lnTo>
                  <a:pt x="0" y="0"/>
                </a:lnTo>
                <a:lnTo>
                  <a:pt x="2800349" y="0"/>
                </a:lnTo>
                <a:lnTo>
                  <a:pt x="2800349" y="1152524"/>
                </a:lnTo>
                <a:close/>
              </a:path>
            </a:pathLst>
          </a:custGeom>
          <a:solidFill>
            <a:schemeClr val="accent4">
              <a:lumMod val="20000"/>
              <a:lumOff val="80000"/>
            </a:schemeClr>
          </a:solidFill>
          <a:ln>
            <a:solidFill>
              <a:schemeClr val="accent4">
                <a:lumMod val="50000"/>
              </a:schemeClr>
            </a:solidFill>
          </a:ln>
        </p:spPr>
        <p:txBody>
          <a:bodyPr wrap="square" lIns="0" tIns="0" rIns="0" bIns="0" rtlCol="0"/>
          <a:lstStyle/>
          <a:p>
            <a:endParaRPr sz="1600">
              <a:solidFill>
                <a:schemeClr val="accent4">
                  <a:lumMod val="50000"/>
                </a:schemeClr>
              </a:solidFill>
              <a:latin typeface="+mj-lt"/>
              <a:ea typeface="Lato" panose="020F0502020204030203" pitchFamily="34" charset="0"/>
              <a:cs typeface="Arial" panose="020B0604020202020204" pitchFamily="34" charset="0"/>
            </a:endParaRPr>
          </a:p>
        </p:txBody>
      </p:sp>
      <p:sp>
        <p:nvSpPr>
          <p:cNvPr id="36" name="object 36"/>
          <p:cNvSpPr txBox="1"/>
          <p:nvPr/>
        </p:nvSpPr>
        <p:spPr>
          <a:xfrm>
            <a:off x="6146536" y="4608715"/>
            <a:ext cx="2895600" cy="1402715"/>
          </a:xfrm>
          <a:prstGeom prst="rect">
            <a:avLst/>
          </a:prstGeom>
          <a:ln w="9524">
            <a:noFill/>
          </a:ln>
        </p:spPr>
        <p:txBody>
          <a:bodyPr vert="horz" wrap="square" lIns="0" tIns="128270" rIns="0" bIns="0" rtlCol="0">
            <a:spAutoFit/>
          </a:bodyPr>
          <a:lstStyle/>
          <a:p>
            <a:pPr marL="118745">
              <a:lnSpc>
                <a:spcPct val="100000"/>
              </a:lnSpc>
              <a:spcBef>
                <a:spcPts val="1010"/>
              </a:spcBef>
            </a:pPr>
            <a:r>
              <a:rPr lang="en-US" altLang="en-US" b="1" spc="1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b="1" spc="145" dirty="0">
                <a:solidFill>
                  <a:schemeClr val="accent4">
                    <a:lumMod val="50000"/>
                  </a:schemeClr>
                </a:solidFill>
                <a:latin typeface="Calibri" panose="020F0502020204030204" charset="0"/>
                <a:ea typeface="Lato" panose="020F0502020204030203" pitchFamily="34" charset="0"/>
                <a:cs typeface="Calibri" panose="020F0502020204030204" charset="0"/>
              </a:rPr>
              <a:t>TIME</a:t>
            </a:r>
            <a:r>
              <a:rPr b="1" spc="8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b="1" spc="190" dirty="0">
                <a:solidFill>
                  <a:schemeClr val="accent4">
                    <a:lumMod val="50000"/>
                  </a:schemeClr>
                </a:solidFill>
                <a:latin typeface="Calibri" panose="020F0502020204030204" charset="0"/>
                <a:ea typeface="Lato" panose="020F0502020204030203" pitchFamily="34" charset="0"/>
                <a:cs typeface="Calibri" panose="020F0502020204030204" charset="0"/>
              </a:rPr>
              <a:t>SPAN</a:t>
            </a:r>
          </a:p>
          <a:p>
            <a:pPr marL="404495" indent="-285750">
              <a:lnSpc>
                <a:spcPct val="100000"/>
              </a:lnSpc>
              <a:spcBef>
                <a:spcPts val="1010"/>
              </a:spcBef>
              <a:buFont typeface="Arial" panose="020B0604020202020204" pitchFamily="34" charset="0"/>
              <a:buChar char="•"/>
            </a:pP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5</a:t>
            </a:r>
            <a:r>
              <a:rPr sz="1600" spc="-3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Years</a:t>
            </a:r>
            <a:r>
              <a:rPr sz="1600" spc="-3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(2016-2020)</a:t>
            </a:r>
          </a:p>
          <a:p>
            <a:pPr marL="404495" indent="-285750">
              <a:lnSpc>
                <a:spcPct val="100000"/>
              </a:lnSpc>
              <a:spcBef>
                <a:spcPts val="1010"/>
              </a:spcBef>
              <a:buFont typeface="Arial" panose="020B0604020202020204" pitchFamily="34" charset="0"/>
              <a:buChar char="•"/>
            </a:pP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20</a:t>
            </a:r>
            <a:r>
              <a:rPr sz="1600" spc="-6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Quarters</a:t>
            </a:r>
            <a:r>
              <a:rPr lang="en-IN"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Complete</a:t>
            </a:r>
            <a:r>
              <a:rPr sz="1600" spc="-6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data</a:t>
            </a:r>
            <a:r>
              <a:rPr sz="1600" spc="-5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lang="en-IN"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lifecycle</a:t>
            </a:r>
            <a:endParaRPr sz="1600" dirty="0">
              <a:solidFill>
                <a:schemeClr val="accent4">
                  <a:lumMod val="50000"/>
                </a:schemeClr>
              </a:solidFill>
              <a:latin typeface="Calibri" panose="020F0502020204030204" charset="0"/>
              <a:ea typeface="Lato" panose="020F0502020204030203" pitchFamily="34" charset="0"/>
              <a:cs typeface="Calibri" panose="020F0502020204030204" charset="0"/>
            </a:endParaRPr>
          </a:p>
        </p:txBody>
      </p:sp>
      <p:grpSp>
        <p:nvGrpSpPr>
          <p:cNvPr id="41" name="object 41"/>
          <p:cNvGrpSpPr/>
          <p:nvPr/>
        </p:nvGrpSpPr>
        <p:grpSpPr>
          <a:xfrm>
            <a:off x="8915089" y="1210798"/>
            <a:ext cx="1200150" cy="1200150"/>
            <a:chOff x="9077323" y="1228724"/>
            <a:chExt cx="1200150" cy="1200150"/>
          </a:xfrm>
          <a:solidFill>
            <a:schemeClr val="accent4">
              <a:lumMod val="20000"/>
              <a:lumOff val="80000"/>
            </a:schemeClr>
          </a:solidFill>
        </p:grpSpPr>
        <p:sp>
          <p:nvSpPr>
            <p:cNvPr id="43" name="object 43"/>
            <p:cNvSpPr/>
            <p:nvPr/>
          </p:nvSpPr>
          <p:spPr>
            <a:xfrm>
              <a:off x="9077323" y="1228724"/>
              <a:ext cx="1200150" cy="1200150"/>
            </a:xfrm>
            <a:custGeom>
              <a:avLst/>
              <a:gdLst/>
              <a:ahLst/>
              <a:cxnLst/>
              <a:rect l="l" t="t" r="r" b="b"/>
              <a:pathLst>
                <a:path w="1200150" h="1200150">
                  <a:moveTo>
                    <a:pt x="1158840" y="1200149"/>
                  </a:moveTo>
                  <a:lnTo>
                    <a:pt x="41309" y="1200149"/>
                  </a:lnTo>
                  <a:lnTo>
                    <a:pt x="35233" y="1198941"/>
                  </a:lnTo>
                  <a:lnTo>
                    <a:pt x="1208" y="1164915"/>
                  </a:lnTo>
                  <a:lnTo>
                    <a:pt x="0" y="1158840"/>
                  </a:lnTo>
                  <a:lnTo>
                    <a:pt x="0" y="1152524"/>
                  </a:lnTo>
                  <a:lnTo>
                    <a:pt x="0" y="41309"/>
                  </a:lnTo>
                  <a:lnTo>
                    <a:pt x="23564" y="6041"/>
                  </a:lnTo>
                  <a:lnTo>
                    <a:pt x="41309" y="0"/>
                  </a:lnTo>
                  <a:lnTo>
                    <a:pt x="1158840" y="0"/>
                  </a:lnTo>
                  <a:lnTo>
                    <a:pt x="1194107" y="23564"/>
                  </a:lnTo>
                  <a:lnTo>
                    <a:pt x="1200149" y="41309"/>
                  </a:lnTo>
                  <a:lnTo>
                    <a:pt x="1200149" y="1158840"/>
                  </a:lnTo>
                  <a:lnTo>
                    <a:pt x="1176584" y="1194107"/>
                  </a:lnTo>
                  <a:lnTo>
                    <a:pt x="1164915" y="1198941"/>
                  </a:lnTo>
                  <a:lnTo>
                    <a:pt x="1158840" y="120014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sp>
          <p:nvSpPr>
            <p:cNvPr id="44" name="object 44"/>
            <p:cNvSpPr/>
            <p:nvPr/>
          </p:nvSpPr>
          <p:spPr>
            <a:xfrm>
              <a:off x="9077323" y="1228724"/>
              <a:ext cx="1200150" cy="1200150"/>
            </a:xfrm>
            <a:custGeom>
              <a:avLst/>
              <a:gdLst/>
              <a:ahLst/>
              <a:cxnLst/>
              <a:rect l="l" t="t" r="r" b="b"/>
              <a:pathLst>
                <a:path w="1200150" h="1200150">
                  <a:moveTo>
                    <a:pt x="0" y="1152524"/>
                  </a:moveTo>
                  <a:lnTo>
                    <a:pt x="0" y="47624"/>
                  </a:lnTo>
                  <a:lnTo>
                    <a:pt x="0" y="41309"/>
                  </a:lnTo>
                  <a:lnTo>
                    <a:pt x="1208" y="35234"/>
                  </a:lnTo>
                  <a:lnTo>
                    <a:pt x="3624" y="29399"/>
                  </a:lnTo>
                  <a:lnTo>
                    <a:pt x="6041" y="23564"/>
                  </a:lnTo>
                  <a:lnTo>
                    <a:pt x="9483" y="18414"/>
                  </a:lnTo>
                  <a:lnTo>
                    <a:pt x="13949" y="13948"/>
                  </a:lnTo>
                  <a:lnTo>
                    <a:pt x="18414" y="9483"/>
                  </a:lnTo>
                  <a:lnTo>
                    <a:pt x="23564" y="6041"/>
                  </a:lnTo>
                  <a:lnTo>
                    <a:pt x="29399" y="3625"/>
                  </a:lnTo>
                  <a:lnTo>
                    <a:pt x="35233" y="1208"/>
                  </a:lnTo>
                  <a:lnTo>
                    <a:pt x="41309" y="0"/>
                  </a:lnTo>
                  <a:lnTo>
                    <a:pt x="47625" y="0"/>
                  </a:lnTo>
                  <a:lnTo>
                    <a:pt x="1152525" y="0"/>
                  </a:lnTo>
                  <a:lnTo>
                    <a:pt x="1158840" y="0"/>
                  </a:lnTo>
                  <a:lnTo>
                    <a:pt x="1164915" y="1208"/>
                  </a:lnTo>
                  <a:lnTo>
                    <a:pt x="1170749" y="3625"/>
                  </a:lnTo>
                  <a:lnTo>
                    <a:pt x="1176584" y="6041"/>
                  </a:lnTo>
                  <a:lnTo>
                    <a:pt x="1181735" y="9483"/>
                  </a:lnTo>
                  <a:lnTo>
                    <a:pt x="1186201" y="13948"/>
                  </a:lnTo>
                  <a:lnTo>
                    <a:pt x="1190667" y="18414"/>
                  </a:lnTo>
                  <a:lnTo>
                    <a:pt x="1194107" y="23564"/>
                  </a:lnTo>
                  <a:lnTo>
                    <a:pt x="1196523" y="29399"/>
                  </a:lnTo>
                  <a:lnTo>
                    <a:pt x="1198941" y="35234"/>
                  </a:lnTo>
                  <a:lnTo>
                    <a:pt x="1200149" y="41309"/>
                  </a:lnTo>
                  <a:lnTo>
                    <a:pt x="1200150" y="47624"/>
                  </a:lnTo>
                  <a:lnTo>
                    <a:pt x="1200150" y="1152524"/>
                  </a:lnTo>
                  <a:lnTo>
                    <a:pt x="1200149" y="1158840"/>
                  </a:lnTo>
                  <a:lnTo>
                    <a:pt x="1198941" y="1164915"/>
                  </a:lnTo>
                  <a:lnTo>
                    <a:pt x="1196523" y="1170749"/>
                  </a:lnTo>
                  <a:lnTo>
                    <a:pt x="1194107" y="1176584"/>
                  </a:lnTo>
                  <a:lnTo>
                    <a:pt x="1170749" y="1196524"/>
                  </a:lnTo>
                  <a:lnTo>
                    <a:pt x="1164915" y="1198941"/>
                  </a:lnTo>
                  <a:lnTo>
                    <a:pt x="1158840" y="1200149"/>
                  </a:lnTo>
                  <a:lnTo>
                    <a:pt x="1152525" y="1200149"/>
                  </a:lnTo>
                  <a:lnTo>
                    <a:pt x="47625" y="1200149"/>
                  </a:lnTo>
                  <a:lnTo>
                    <a:pt x="13949" y="1186200"/>
                  </a:lnTo>
                  <a:lnTo>
                    <a:pt x="9483" y="1181734"/>
                  </a:lnTo>
                  <a:lnTo>
                    <a:pt x="6041" y="1176584"/>
                  </a:lnTo>
                  <a:lnTo>
                    <a:pt x="3624" y="1170749"/>
                  </a:lnTo>
                  <a:lnTo>
                    <a:pt x="1208" y="1164915"/>
                  </a:lnTo>
                  <a:lnTo>
                    <a:pt x="0" y="1158840"/>
                  </a:lnTo>
                  <a:lnTo>
                    <a:pt x="0" y="1152524"/>
                  </a:lnTo>
                  <a:close/>
                </a:path>
              </a:pathLst>
            </a:custGeom>
            <a:grpFill/>
            <a:ln w="19049">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sp>
          <p:nvSpPr>
            <p:cNvPr id="45" name="object 45"/>
            <p:cNvSpPr/>
            <p:nvPr/>
          </p:nvSpPr>
          <p:spPr>
            <a:xfrm>
              <a:off x="9524999" y="1400174"/>
              <a:ext cx="300355" cy="342900"/>
            </a:xfrm>
            <a:custGeom>
              <a:avLst/>
              <a:gdLst/>
              <a:ahLst/>
              <a:cxnLst/>
              <a:rect l="l" t="t" r="r" b="b"/>
              <a:pathLst>
                <a:path w="300354" h="342900">
                  <a:moveTo>
                    <a:pt x="155647" y="171449"/>
                  </a:moveTo>
                  <a:lnTo>
                    <a:pt x="144389" y="171449"/>
                  </a:lnTo>
                  <a:lnTo>
                    <a:pt x="138815" y="170900"/>
                  </a:lnTo>
                  <a:lnTo>
                    <a:pt x="97712" y="153875"/>
                  </a:lnTo>
                  <a:lnTo>
                    <a:pt x="72973" y="123730"/>
                  </a:lnTo>
                  <a:lnTo>
                    <a:pt x="64293" y="91353"/>
                  </a:lnTo>
                  <a:lnTo>
                    <a:pt x="64293" y="80096"/>
                  </a:lnTo>
                  <a:lnTo>
                    <a:pt x="75613" y="42778"/>
                  </a:lnTo>
                  <a:lnTo>
                    <a:pt x="107072" y="11320"/>
                  </a:lnTo>
                  <a:lnTo>
                    <a:pt x="144389" y="0"/>
                  </a:lnTo>
                  <a:lnTo>
                    <a:pt x="155647" y="0"/>
                  </a:lnTo>
                  <a:lnTo>
                    <a:pt x="192964" y="11320"/>
                  </a:lnTo>
                  <a:lnTo>
                    <a:pt x="224423" y="42778"/>
                  </a:lnTo>
                  <a:lnTo>
                    <a:pt x="235743" y="80096"/>
                  </a:lnTo>
                  <a:lnTo>
                    <a:pt x="235743" y="91353"/>
                  </a:lnTo>
                  <a:lnTo>
                    <a:pt x="224423" y="128671"/>
                  </a:lnTo>
                  <a:lnTo>
                    <a:pt x="192964" y="160129"/>
                  </a:lnTo>
                  <a:lnTo>
                    <a:pt x="155647" y="171449"/>
                  </a:lnTo>
                  <a:close/>
                </a:path>
                <a:path w="300354" h="342900">
                  <a:moveTo>
                    <a:pt x="182299" y="323544"/>
                  </a:moveTo>
                  <a:lnTo>
                    <a:pt x="117737" y="323544"/>
                  </a:lnTo>
                  <a:lnTo>
                    <a:pt x="140039" y="240565"/>
                  </a:lnTo>
                  <a:lnTo>
                    <a:pt x="130797" y="225162"/>
                  </a:lnTo>
                  <a:lnTo>
                    <a:pt x="127609" y="219737"/>
                  </a:lnTo>
                  <a:lnTo>
                    <a:pt x="125466" y="216187"/>
                  </a:lnTo>
                  <a:lnTo>
                    <a:pt x="123401" y="212638"/>
                  </a:lnTo>
                  <a:lnTo>
                    <a:pt x="128520" y="203596"/>
                  </a:lnTo>
                  <a:lnTo>
                    <a:pt x="171583" y="203596"/>
                  </a:lnTo>
                  <a:lnTo>
                    <a:pt x="176740" y="212638"/>
                  </a:lnTo>
                  <a:lnTo>
                    <a:pt x="159997" y="240565"/>
                  </a:lnTo>
                  <a:lnTo>
                    <a:pt x="182299" y="323544"/>
                  </a:lnTo>
                  <a:close/>
                </a:path>
                <a:path w="300354" h="342900">
                  <a:moveTo>
                    <a:pt x="279476" y="342899"/>
                  </a:moveTo>
                  <a:lnTo>
                    <a:pt x="20560" y="342899"/>
                  </a:lnTo>
                  <a:lnTo>
                    <a:pt x="12559" y="341279"/>
                  </a:lnTo>
                  <a:lnTo>
                    <a:pt x="6018" y="336864"/>
                  </a:lnTo>
                  <a:lnTo>
                    <a:pt x="1615" y="330326"/>
                  </a:lnTo>
                  <a:lnTo>
                    <a:pt x="0" y="322339"/>
                  </a:lnTo>
                  <a:lnTo>
                    <a:pt x="6163" y="286289"/>
                  </a:lnTo>
                  <a:lnTo>
                    <a:pt x="23239" y="255400"/>
                  </a:lnTo>
                  <a:lnTo>
                    <a:pt x="49105" y="231794"/>
                  </a:lnTo>
                  <a:lnTo>
                    <a:pt x="81639" y="217594"/>
                  </a:lnTo>
                  <a:lnTo>
                    <a:pt x="87064" y="216187"/>
                  </a:lnTo>
                  <a:lnTo>
                    <a:pt x="92288" y="219737"/>
                  </a:lnTo>
                  <a:lnTo>
                    <a:pt x="117737" y="323544"/>
                  </a:lnTo>
                  <a:lnTo>
                    <a:pt x="299794" y="323544"/>
                  </a:lnTo>
                  <a:lnTo>
                    <a:pt x="298425" y="330326"/>
                  </a:lnTo>
                  <a:lnTo>
                    <a:pt x="294026" y="336864"/>
                  </a:lnTo>
                  <a:lnTo>
                    <a:pt x="287492" y="341279"/>
                  </a:lnTo>
                  <a:lnTo>
                    <a:pt x="279476" y="342899"/>
                  </a:lnTo>
                  <a:close/>
                </a:path>
                <a:path w="300354" h="342900">
                  <a:moveTo>
                    <a:pt x="299794" y="323544"/>
                  </a:moveTo>
                  <a:lnTo>
                    <a:pt x="182299" y="323544"/>
                  </a:lnTo>
                  <a:lnTo>
                    <a:pt x="206409" y="225162"/>
                  </a:lnTo>
                  <a:lnTo>
                    <a:pt x="207847" y="219737"/>
                  </a:lnTo>
                  <a:lnTo>
                    <a:pt x="213071" y="216187"/>
                  </a:lnTo>
                  <a:lnTo>
                    <a:pt x="212701" y="216187"/>
                  </a:lnTo>
                  <a:lnTo>
                    <a:pt x="250931" y="231794"/>
                  </a:lnTo>
                  <a:lnTo>
                    <a:pt x="293873" y="286289"/>
                  </a:lnTo>
                  <a:lnTo>
                    <a:pt x="300037" y="322339"/>
                  </a:lnTo>
                  <a:lnTo>
                    <a:pt x="299794" y="323544"/>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grpSp>
      <p:grpSp>
        <p:nvGrpSpPr>
          <p:cNvPr id="47" name="object 47"/>
          <p:cNvGrpSpPr/>
          <p:nvPr/>
        </p:nvGrpSpPr>
        <p:grpSpPr>
          <a:xfrm>
            <a:off x="7457765" y="1208258"/>
            <a:ext cx="1219200" cy="1219200"/>
            <a:chOff x="7619999" y="1219199"/>
            <a:chExt cx="1219200" cy="1219200"/>
          </a:xfrm>
          <a:solidFill>
            <a:schemeClr val="accent4">
              <a:lumMod val="20000"/>
              <a:lumOff val="80000"/>
            </a:schemeClr>
          </a:solidFill>
        </p:grpSpPr>
        <p:sp>
          <p:nvSpPr>
            <p:cNvPr id="48" name="object 48"/>
            <p:cNvSpPr/>
            <p:nvPr/>
          </p:nvSpPr>
          <p:spPr>
            <a:xfrm>
              <a:off x="7629524" y="1228724"/>
              <a:ext cx="1200150" cy="1200150"/>
            </a:xfrm>
            <a:custGeom>
              <a:avLst/>
              <a:gdLst/>
              <a:ahLst/>
              <a:cxnLst/>
              <a:rect l="l" t="t" r="r" b="b"/>
              <a:pathLst>
                <a:path w="1200150" h="1200150">
                  <a:moveTo>
                    <a:pt x="1158840" y="1200149"/>
                  </a:moveTo>
                  <a:lnTo>
                    <a:pt x="41308" y="1200149"/>
                  </a:lnTo>
                  <a:lnTo>
                    <a:pt x="35233" y="1198941"/>
                  </a:lnTo>
                  <a:lnTo>
                    <a:pt x="1208" y="1164915"/>
                  </a:lnTo>
                  <a:lnTo>
                    <a:pt x="0" y="1158840"/>
                  </a:lnTo>
                  <a:lnTo>
                    <a:pt x="0" y="1152524"/>
                  </a:lnTo>
                  <a:lnTo>
                    <a:pt x="0" y="41309"/>
                  </a:lnTo>
                  <a:lnTo>
                    <a:pt x="23563" y="6041"/>
                  </a:lnTo>
                  <a:lnTo>
                    <a:pt x="41308" y="0"/>
                  </a:lnTo>
                  <a:lnTo>
                    <a:pt x="1158840" y="0"/>
                  </a:lnTo>
                  <a:lnTo>
                    <a:pt x="1194107" y="23564"/>
                  </a:lnTo>
                  <a:lnTo>
                    <a:pt x="1200149" y="41309"/>
                  </a:lnTo>
                  <a:lnTo>
                    <a:pt x="1200149" y="1158840"/>
                  </a:lnTo>
                  <a:lnTo>
                    <a:pt x="1176584" y="1194107"/>
                  </a:lnTo>
                  <a:lnTo>
                    <a:pt x="1164914" y="1198941"/>
                  </a:lnTo>
                  <a:lnTo>
                    <a:pt x="1158840" y="1200149"/>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sp>
          <p:nvSpPr>
            <p:cNvPr id="49" name="object 49"/>
            <p:cNvSpPr/>
            <p:nvPr/>
          </p:nvSpPr>
          <p:spPr>
            <a:xfrm>
              <a:off x="7629524" y="1228724"/>
              <a:ext cx="1200150" cy="1200150"/>
            </a:xfrm>
            <a:custGeom>
              <a:avLst/>
              <a:gdLst/>
              <a:ahLst/>
              <a:cxnLst/>
              <a:rect l="l" t="t" r="r" b="b"/>
              <a:pathLst>
                <a:path w="1200150" h="1200150">
                  <a:moveTo>
                    <a:pt x="0" y="1152524"/>
                  </a:moveTo>
                  <a:lnTo>
                    <a:pt x="0" y="47624"/>
                  </a:lnTo>
                  <a:lnTo>
                    <a:pt x="0" y="41309"/>
                  </a:lnTo>
                  <a:lnTo>
                    <a:pt x="1208" y="35234"/>
                  </a:lnTo>
                  <a:lnTo>
                    <a:pt x="3624" y="29399"/>
                  </a:lnTo>
                  <a:lnTo>
                    <a:pt x="6041" y="23564"/>
                  </a:lnTo>
                  <a:lnTo>
                    <a:pt x="9482" y="18414"/>
                  </a:lnTo>
                  <a:lnTo>
                    <a:pt x="13948" y="13948"/>
                  </a:lnTo>
                  <a:lnTo>
                    <a:pt x="18414" y="9483"/>
                  </a:lnTo>
                  <a:lnTo>
                    <a:pt x="23563" y="6041"/>
                  </a:lnTo>
                  <a:lnTo>
                    <a:pt x="29398" y="3625"/>
                  </a:lnTo>
                  <a:lnTo>
                    <a:pt x="35233" y="1208"/>
                  </a:lnTo>
                  <a:lnTo>
                    <a:pt x="41308" y="0"/>
                  </a:lnTo>
                  <a:lnTo>
                    <a:pt x="47624" y="0"/>
                  </a:lnTo>
                  <a:lnTo>
                    <a:pt x="1152524" y="0"/>
                  </a:lnTo>
                  <a:lnTo>
                    <a:pt x="1158840" y="0"/>
                  </a:lnTo>
                  <a:lnTo>
                    <a:pt x="1164914" y="1208"/>
                  </a:lnTo>
                  <a:lnTo>
                    <a:pt x="1170749" y="3625"/>
                  </a:lnTo>
                  <a:lnTo>
                    <a:pt x="1176584" y="6041"/>
                  </a:lnTo>
                  <a:lnTo>
                    <a:pt x="1196523" y="29399"/>
                  </a:lnTo>
                  <a:lnTo>
                    <a:pt x="1198940" y="35234"/>
                  </a:lnTo>
                  <a:lnTo>
                    <a:pt x="1200149" y="41309"/>
                  </a:lnTo>
                  <a:lnTo>
                    <a:pt x="1200149" y="47624"/>
                  </a:lnTo>
                  <a:lnTo>
                    <a:pt x="1200149" y="1152524"/>
                  </a:lnTo>
                  <a:lnTo>
                    <a:pt x="1200149" y="1158840"/>
                  </a:lnTo>
                  <a:lnTo>
                    <a:pt x="1198940" y="1164915"/>
                  </a:lnTo>
                  <a:lnTo>
                    <a:pt x="1196523" y="1170749"/>
                  </a:lnTo>
                  <a:lnTo>
                    <a:pt x="1194107" y="1176584"/>
                  </a:lnTo>
                  <a:lnTo>
                    <a:pt x="1170749" y="1196524"/>
                  </a:lnTo>
                  <a:lnTo>
                    <a:pt x="1164914" y="1198941"/>
                  </a:lnTo>
                  <a:lnTo>
                    <a:pt x="1158840" y="1200149"/>
                  </a:lnTo>
                  <a:lnTo>
                    <a:pt x="1152524" y="1200149"/>
                  </a:lnTo>
                  <a:lnTo>
                    <a:pt x="47624" y="1200149"/>
                  </a:lnTo>
                  <a:lnTo>
                    <a:pt x="13948" y="1186200"/>
                  </a:lnTo>
                  <a:lnTo>
                    <a:pt x="9482" y="1181734"/>
                  </a:lnTo>
                  <a:lnTo>
                    <a:pt x="6041" y="1176584"/>
                  </a:lnTo>
                  <a:lnTo>
                    <a:pt x="3624" y="1170749"/>
                  </a:lnTo>
                  <a:lnTo>
                    <a:pt x="1208" y="1164915"/>
                  </a:lnTo>
                  <a:lnTo>
                    <a:pt x="0" y="1158840"/>
                  </a:lnTo>
                  <a:lnTo>
                    <a:pt x="0" y="1152524"/>
                  </a:lnTo>
                  <a:close/>
                </a:path>
              </a:pathLst>
            </a:custGeom>
            <a:grpFill/>
            <a:ln w="19049">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sp>
          <p:nvSpPr>
            <p:cNvPr id="50" name="object 50"/>
            <p:cNvSpPr/>
            <p:nvPr/>
          </p:nvSpPr>
          <p:spPr>
            <a:xfrm>
              <a:off x="8039099" y="1443037"/>
              <a:ext cx="386080" cy="257175"/>
            </a:xfrm>
            <a:custGeom>
              <a:avLst/>
              <a:gdLst/>
              <a:ahLst/>
              <a:cxnLst/>
              <a:rect l="l" t="t" r="r" b="b"/>
              <a:pathLst>
                <a:path w="386079" h="257175">
                  <a:moveTo>
                    <a:pt x="342899" y="257174"/>
                  </a:moveTo>
                  <a:lnTo>
                    <a:pt x="42862" y="257174"/>
                  </a:lnTo>
                  <a:lnTo>
                    <a:pt x="26191" y="253802"/>
                  </a:lnTo>
                  <a:lnTo>
                    <a:pt x="12565" y="244609"/>
                  </a:lnTo>
                  <a:lnTo>
                    <a:pt x="3372" y="230983"/>
                  </a:lnTo>
                  <a:lnTo>
                    <a:pt x="0" y="214312"/>
                  </a:lnTo>
                  <a:lnTo>
                    <a:pt x="0" y="165556"/>
                  </a:lnTo>
                  <a:lnTo>
                    <a:pt x="4955" y="160935"/>
                  </a:lnTo>
                  <a:lnTo>
                    <a:pt x="10514" y="158993"/>
                  </a:lnTo>
                  <a:lnTo>
                    <a:pt x="19206" y="154383"/>
                  </a:lnTo>
                  <a:lnTo>
                    <a:pt x="26052" y="147431"/>
                  </a:lnTo>
                  <a:lnTo>
                    <a:pt x="30537" y="138659"/>
                  </a:lnTo>
                  <a:lnTo>
                    <a:pt x="32146" y="128587"/>
                  </a:lnTo>
                  <a:lnTo>
                    <a:pt x="30537" y="118515"/>
                  </a:lnTo>
                  <a:lnTo>
                    <a:pt x="26052" y="109743"/>
                  </a:lnTo>
                  <a:lnTo>
                    <a:pt x="19206" y="102791"/>
                  </a:lnTo>
                  <a:lnTo>
                    <a:pt x="10514" y="98181"/>
                  </a:lnTo>
                  <a:lnTo>
                    <a:pt x="4955" y="96239"/>
                  </a:lnTo>
                  <a:lnTo>
                    <a:pt x="0" y="91618"/>
                  </a:lnTo>
                  <a:lnTo>
                    <a:pt x="0" y="42862"/>
                  </a:lnTo>
                  <a:lnTo>
                    <a:pt x="3372" y="26191"/>
                  </a:lnTo>
                  <a:lnTo>
                    <a:pt x="12565" y="12565"/>
                  </a:lnTo>
                  <a:lnTo>
                    <a:pt x="26191" y="3372"/>
                  </a:lnTo>
                  <a:lnTo>
                    <a:pt x="42862" y="0"/>
                  </a:lnTo>
                  <a:lnTo>
                    <a:pt x="342899" y="0"/>
                  </a:lnTo>
                  <a:lnTo>
                    <a:pt x="359570" y="3372"/>
                  </a:lnTo>
                  <a:lnTo>
                    <a:pt x="373196" y="12565"/>
                  </a:lnTo>
                  <a:lnTo>
                    <a:pt x="382389" y="26191"/>
                  </a:lnTo>
                  <a:lnTo>
                    <a:pt x="385762" y="42862"/>
                  </a:lnTo>
                  <a:lnTo>
                    <a:pt x="385762" y="91618"/>
                  </a:lnTo>
                  <a:lnTo>
                    <a:pt x="380806" y="96239"/>
                  </a:lnTo>
                  <a:lnTo>
                    <a:pt x="375247" y="98181"/>
                  </a:lnTo>
                  <a:lnTo>
                    <a:pt x="366555" y="102791"/>
                  </a:lnTo>
                  <a:lnTo>
                    <a:pt x="359710" y="109743"/>
                  </a:lnTo>
                  <a:lnTo>
                    <a:pt x="355225" y="118515"/>
                  </a:lnTo>
                  <a:lnTo>
                    <a:pt x="353615" y="128587"/>
                  </a:lnTo>
                  <a:lnTo>
                    <a:pt x="355225" y="138659"/>
                  </a:lnTo>
                  <a:lnTo>
                    <a:pt x="359710" y="147431"/>
                  </a:lnTo>
                  <a:lnTo>
                    <a:pt x="366555" y="154383"/>
                  </a:lnTo>
                  <a:lnTo>
                    <a:pt x="375247" y="158993"/>
                  </a:lnTo>
                  <a:lnTo>
                    <a:pt x="380806" y="160935"/>
                  </a:lnTo>
                  <a:lnTo>
                    <a:pt x="385762" y="165556"/>
                  </a:lnTo>
                  <a:lnTo>
                    <a:pt x="385762" y="214312"/>
                  </a:lnTo>
                  <a:lnTo>
                    <a:pt x="382389" y="230983"/>
                  </a:lnTo>
                  <a:lnTo>
                    <a:pt x="373196" y="244609"/>
                  </a:lnTo>
                  <a:lnTo>
                    <a:pt x="359570" y="253802"/>
                  </a:lnTo>
                  <a:lnTo>
                    <a:pt x="342899" y="257174"/>
                  </a:lnTo>
                  <a:close/>
                </a:path>
              </a:pathLst>
            </a:custGeom>
            <a:grpFill/>
            <a:ln>
              <a:solidFill>
                <a:schemeClr val="accent4">
                  <a:lumMod val="50000"/>
                </a:schemeClr>
              </a:solidFill>
            </a:ln>
          </p:spPr>
          <p:txBody>
            <a:bodyPr wrap="square" lIns="0" tIns="0" rIns="0" bIns="0" rtlCol="0"/>
            <a:lstStyle/>
            <a:p>
              <a:endParaRPr>
                <a:solidFill>
                  <a:schemeClr val="accent4">
                    <a:lumMod val="50000"/>
                  </a:schemeClr>
                </a:solidFill>
                <a:latin typeface="+mj-lt"/>
                <a:ea typeface="Lato" panose="020F0502020204030203" pitchFamily="34" charset="0"/>
                <a:cs typeface="Arial" panose="020B0604020202020204" pitchFamily="34" charset="0"/>
              </a:endParaRPr>
            </a:p>
          </p:txBody>
        </p:sp>
      </p:grpSp>
      <p:sp>
        <p:nvSpPr>
          <p:cNvPr id="51" name="object 51"/>
          <p:cNvSpPr txBox="1"/>
          <p:nvPr/>
        </p:nvSpPr>
        <p:spPr>
          <a:xfrm>
            <a:off x="7620048" y="1702170"/>
            <a:ext cx="912494" cy="590546"/>
          </a:xfrm>
          <a:prstGeom prst="rect">
            <a:avLst/>
          </a:prstGeom>
        </p:spPr>
        <p:txBody>
          <a:bodyPr vert="horz" wrap="square" lIns="0" tIns="59055" rIns="0" bIns="0" rtlCol="0">
            <a:spAutoFit/>
          </a:bodyPr>
          <a:lstStyle/>
          <a:p>
            <a:pPr algn="ctr">
              <a:lnSpc>
                <a:spcPct val="100000"/>
              </a:lnSpc>
              <a:spcBef>
                <a:spcPts val="465"/>
              </a:spcBef>
            </a:pPr>
            <a:r>
              <a:rPr sz="1600" b="1" spc="-10" dirty="0">
                <a:solidFill>
                  <a:schemeClr val="accent4">
                    <a:lumMod val="50000"/>
                  </a:schemeClr>
                </a:solidFill>
                <a:latin typeface="+mj-lt"/>
                <a:ea typeface="Lato" panose="020F0502020204030203" pitchFamily="34" charset="0"/>
                <a:cs typeface="Arial" panose="020B0604020202020204" pitchFamily="34" charset="0"/>
              </a:rPr>
              <a:t>Tickets</a:t>
            </a:r>
            <a:endParaRPr sz="1600" b="1" dirty="0">
              <a:solidFill>
                <a:schemeClr val="accent4">
                  <a:lumMod val="50000"/>
                </a:schemeClr>
              </a:solidFill>
              <a:latin typeface="+mj-lt"/>
              <a:ea typeface="Lato" panose="020F0502020204030203" pitchFamily="34" charset="0"/>
              <a:cs typeface="Arial" panose="020B0604020202020204" pitchFamily="34" charset="0"/>
            </a:endParaRPr>
          </a:p>
          <a:p>
            <a:pPr algn="ctr">
              <a:lnSpc>
                <a:spcPct val="100000"/>
              </a:lnSpc>
              <a:spcBef>
                <a:spcPts val="265"/>
              </a:spcBef>
            </a:pPr>
            <a:r>
              <a:rPr sz="1600" b="1" spc="-10" dirty="0">
                <a:solidFill>
                  <a:schemeClr val="accent4">
                    <a:lumMod val="50000"/>
                  </a:schemeClr>
                </a:solidFill>
                <a:latin typeface="+mj-lt"/>
                <a:ea typeface="Lato" panose="020F0502020204030203" pitchFamily="34" charset="0"/>
                <a:cs typeface="Arial" panose="020B0604020202020204" pitchFamily="34" charset="0"/>
              </a:rPr>
              <a:t>97,498</a:t>
            </a:r>
            <a:r>
              <a:rPr sz="1600" b="1" spc="-60" dirty="0">
                <a:solidFill>
                  <a:schemeClr val="accent4">
                    <a:lumMod val="50000"/>
                  </a:schemeClr>
                </a:solidFill>
                <a:latin typeface="+mj-lt"/>
                <a:ea typeface="Lato" panose="020F0502020204030203" pitchFamily="34" charset="0"/>
                <a:cs typeface="Arial" panose="020B0604020202020204" pitchFamily="34" charset="0"/>
              </a:rPr>
              <a:t> </a:t>
            </a:r>
            <a:endParaRPr sz="1600" b="1"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52" name="object 52"/>
          <p:cNvSpPr txBox="1"/>
          <p:nvPr/>
        </p:nvSpPr>
        <p:spPr>
          <a:xfrm>
            <a:off x="9220148" y="1674865"/>
            <a:ext cx="652145" cy="590546"/>
          </a:xfrm>
          <a:prstGeom prst="rect">
            <a:avLst/>
          </a:prstGeom>
        </p:spPr>
        <p:txBody>
          <a:bodyPr vert="horz" wrap="square" lIns="0" tIns="59055" rIns="0" bIns="0" rtlCol="0">
            <a:spAutoFit/>
          </a:bodyPr>
          <a:lstStyle/>
          <a:p>
            <a:pPr algn="ctr">
              <a:lnSpc>
                <a:spcPct val="100000"/>
              </a:lnSpc>
              <a:spcBef>
                <a:spcPts val="465"/>
              </a:spcBef>
            </a:pPr>
            <a:r>
              <a:rPr sz="1600" b="1" spc="-10" dirty="0">
                <a:solidFill>
                  <a:schemeClr val="accent4">
                    <a:lumMod val="50000"/>
                  </a:schemeClr>
                </a:solidFill>
                <a:latin typeface="+mj-lt"/>
                <a:ea typeface="Lato" panose="020F0502020204030203" pitchFamily="34" charset="0"/>
                <a:cs typeface="Arial" panose="020B0604020202020204" pitchFamily="34" charset="0"/>
              </a:rPr>
              <a:t>Agents</a:t>
            </a:r>
            <a:endParaRPr sz="1600" b="1" dirty="0">
              <a:solidFill>
                <a:schemeClr val="accent4">
                  <a:lumMod val="50000"/>
                </a:schemeClr>
              </a:solidFill>
              <a:latin typeface="+mj-lt"/>
              <a:ea typeface="Lato" panose="020F0502020204030203" pitchFamily="34" charset="0"/>
              <a:cs typeface="Arial" panose="020B0604020202020204" pitchFamily="34" charset="0"/>
            </a:endParaRPr>
          </a:p>
          <a:p>
            <a:pPr algn="ctr">
              <a:lnSpc>
                <a:spcPct val="100000"/>
              </a:lnSpc>
              <a:spcBef>
                <a:spcPts val="265"/>
              </a:spcBef>
            </a:pPr>
            <a:r>
              <a:rPr sz="1600" b="1" spc="-10" dirty="0">
                <a:solidFill>
                  <a:schemeClr val="accent4">
                    <a:lumMod val="50000"/>
                  </a:schemeClr>
                </a:solidFill>
                <a:latin typeface="+mj-lt"/>
                <a:ea typeface="Lato" panose="020F0502020204030203" pitchFamily="34" charset="0"/>
                <a:cs typeface="Arial" panose="020B0604020202020204" pitchFamily="34" charset="0"/>
              </a:rPr>
              <a:t>50</a:t>
            </a:r>
            <a:r>
              <a:rPr sz="1600" b="1" spc="-65" dirty="0">
                <a:solidFill>
                  <a:schemeClr val="accent4">
                    <a:lumMod val="50000"/>
                  </a:schemeClr>
                </a:solidFill>
                <a:latin typeface="+mj-lt"/>
                <a:ea typeface="Lato" panose="020F0502020204030203" pitchFamily="34" charset="0"/>
                <a:cs typeface="Arial" panose="020B0604020202020204" pitchFamily="34" charset="0"/>
              </a:rPr>
              <a:t> </a:t>
            </a:r>
            <a:endParaRPr sz="1600" b="1" dirty="0">
              <a:solidFill>
                <a:schemeClr val="accent4">
                  <a:lumMod val="50000"/>
                </a:schemeClr>
              </a:solidFill>
              <a:latin typeface="+mj-lt"/>
              <a:ea typeface="Lato" panose="020F0502020204030203" pitchFamily="34" charset="0"/>
              <a:cs typeface="Arial" panose="020B0604020202020204" pitchFamily="34" charset="0"/>
            </a:endParaRPr>
          </a:p>
        </p:txBody>
      </p:sp>
      <p:grpSp>
        <p:nvGrpSpPr>
          <p:cNvPr id="46" name="object 38"/>
          <p:cNvGrpSpPr/>
          <p:nvPr/>
        </p:nvGrpSpPr>
        <p:grpSpPr>
          <a:xfrm>
            <a:off x="-6054345" y="3378854"/>
            <a:ext cx="5410800" cy="608400"/>
            <a:chOff x="6095999" y="4314824"/>
            <a:chExt cx="2800350" cy="914400"/>
          </a:xfrm>
          <a:solidFill>
            <a:schemeClr val="accent4">
              <a:lumMod val="20000"/>
              <a:lumOff val="80000"/>
            </a:schemeClr>
          </a:solidFill>
        </p:grpSpPr>
        <p:sp>
          <p:nvSpPr>
            <p:cNvPr id="54" name="object 39"/>
            <p:cNvSpPr/>
            <p:nvPr/>
          </p:nvSpPr>
          <p:spPr>
            <a:xfrm>
              <a:off x="6095999" y="4314824"/>
              <a:ext cx="2800350" cy="914400"/>
            </a:xfrm>
            <a:custGeom>
              <a:avLst/>
              <a:gdLst/>
              <a:ahLst/>
              <a:cxnLst/>
              <a:rect l="l" t="t" r="r" b="b"/>
              <a:pathLst>
                <a:path w="2800350" h="914400">
                  <a:moveTo>
                    <a:pt x="2800349" y="914399"/>
                  </a:moveTo>
                  <a:lnTo>
                    <a:pt x="0" y="914399"/>
                  </a:lnTo>
                  <a:lnTo>
                    <a:pt x="0" y="0"/>
                  </a:lnTo>
                  <a:lnTo>
                    <a:pt x="2800349" y="0"/>
                  </a:lnTo>
                  <a:lnTo>
                    <a:pt x="2800349" y="914399"/>
                  </a:lnTo>
                  <a:close/>
                </a:path>
              </a:pathLst>
            </a:custGeom>
            <a:grpFill/>
          </p:spPr>
          <p:txBody>
            <a:bodyPr wrap="square" lIns="0" tIns="0" rIns="0" bIns="0" rtlCol="0"/>
            <a:lstStyle/>
            <a:p>
              <a:endParaRPr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55" name="object 40"/>
            <p:cNvSpPr/>
            <p:nvPr/>
          </p:nvSpPr>
          <p:spPr>
            <a:xfrm>
              <a:off x="6095999" y="4314824"/>
              <a:ext cx="18632" cy="914400"/>
            </a:xfrm>
            <a:custGeom>
              <a:avLst/>
              <a:gdLst/>
              <a:ahLst/>
              <a:cxnLst/>
              <a:rect l="l" t="t" r="r" b="b"/>
              <a:pathLst>
                <a:path w="28575" h="914400">
                  <a:moveTo>
                    <a:pt x="28574" y="914399"/>
                  </a:moveTo>
                  <a:lnTo>
                    <a:pt x="0" y="914399"/>
                  </a:lnTo>
                  <a:lnTo>
                    <a:pt x="0" y="0"/>
                  </a:lnTo>
                  <a:lnTo>
                    <a:pt x="28574" y="0"/>
                  </a:lnTo>
                  <a:lnTo>
                    <a:pt x="28574" y="914399"/>
                  </a:lnTo>
                  <a:close/>
                </a:path>
              </a:pathLst>
            </a:custGeom>
            <a:grpFill/>
          </p:spPr>
          <p:txBody>
            <a:bodyPr wrap="square" lIns="0" tIns="0" rIns="0" bIns="0" rtlCol="0"/>
            <a:lstStyle/>
            <a:p>
              <a:endParaRPr dirty="0">
                <a:solidFill>
                  <a:schemeClr val="accent4">
                    <a:lumMod val="50000"/>
                  </a:schemeClr>
                </a:solidFill>
                <a:latin typeface="+mj-lt"/>
                <a:ea typeface="Lato" panose="020F0502020204030203" pitchFamily="34" charset="0"/>
                <a:cs typeface="Arial" panose="020B0604020202020204" pitchFamily="34" charset="0"/>
              </a:endParaRPr>
            </a:p>
          </p:txBody>
        </p:sp>
      </p:grpSp>
      <p:grpSp>
        <p:nvGrpSpPr>
          <p:cNvPr id="56" name="object 38"/>
          <p:cNvGrpSpPr/>
          <p:nvPr/>
        </p:nvGrpSpPr>
        <p:grpSpPr>
          <a:xfrm>
            <a:off x="292059" y="1299600"/>
            <a:ext cx="5636206" cy="1115307"/>
            <a:chOff x="6095999" y="4314824"/>
            <a:chExt cx="2863255" cy="1554668"/>
          </a:xfrm>
        </p:grpSpPr>
        <p:sp>
          <p:nvSpPr>
            <p:cNvPr id="57" name="object 39"/>
            <p:cNvSpPr/>
            <p:nvPr/>
          </p:nvSpPr>
          <p:spPr>
            <a:xfrm>
              <a:off x="6095999" y="4314824"/>
              <a:ext cx="2863255" cy="1554668"/>
            </a:xfrm>
            <a:custGeom>
              <a:avLst/>
              <a:gdLst/>
              <a:ahLst/>
              <a:cxnLst/>
              <a:rect l="l" t="t" r="r" b="b"/>
              <a:pathLst>
                <a:path w="2800350" h="914400">
                  <a:moveTo>
                    <a:pt x="2800349" y="914399"/>
                  </a:moveTo>
                  <a:lnTo>
                    <a:pt x="0" y="914399"/>
                  </a:lnTo>
                  <a:lnTo>
                    <a:pt x="0" y="0"/>
                  </a:lnTo>
                  <a:lnTo>
                    <a:pt x="2800349" y="0"/>
                  </a:lnTo>
                  <a:lnTo>
                    <a:pt x="2800349" y="914399"/>
                  </a:lnTo>
                  <a:close/>
                </a:path>
              </a:pathLst>
            </a:custGeom>
            <a:solidFill>
              <a:schemeClr val="accent4">
                <a:lumMod val="20000"/>
                <a:lumOff val="80000"/>
                <a:alpha val="79998"/>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58" name="object 40"/>
            <p:cNvSpPr/>
            <p:nvPr/>
          </p:nvSpPr>
          <p:spPr>
            <a:xfrm>
              <a:off x="6095999" y="4314824"/>
              <a:ext cx="18632" cy="1554479"/>
            </a:xfrm>
            <a:custGeom>
              <a:avLst/>
              <a:gdLst/>
              <a:ahLst/>
              <a:cxnLst/>
              <a:rect l="l" t="t" r="r" b="b"/>
              <a:pathLst>
                <a:path w="28575" h="914400">
                  <a:moveTo>
                    <a:pt x="28574" y="914399"/>
                  </a:moveTo>
                  <a:lnTo>
                    <a:pt x="0" y="914399"/>
                  </a:lnTo>
                  <a:lnTo>
                    <a:pt x="0" y="0"/>
                  </a:lnTo>
                  <a:lnTo>
                    <a:pt x="28574" y="0"/>
                  </a:lnTo>
                  <a:lnTo>
                    <a:pt x="28574" y="9143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grpSp>
      <p:sp>
        <p:nvSpPr>
          <p:cNvPr id="11" name="object 11"/>
          <p:cNvSpPr txBox="1"/>
          <p:nvPr/>
        </p:nvSpPr>
        <p:spPr>
          <a:xfrm>
            <a:off x="292263" y="1389212"/>
            <a:ext cx="6105526" cy="920750"/>
          </a:xfrm>
          <a:prstGeom prst="rect">
            <a:avLst/>
          </a:prstGeom>
        </p:spPr>
        <p:txBody>
          <a:bodyPr vert="horz" wrap="square" lIns="0" tIns="20955" rIns="0" bIns="0" rtlCol="0">
            <a:spAutoFit/>
          </a:bodyPr>
          <a:lstStyle/>
          <a:p>
            <a:pPr marL="114300" marR="514350">
              <a:lnSpc>
                <a:spcPct val="122000"/>
              </a:lnSpc>
              <a:spcBef>
                <a:spcPts val="165"/>
              </a:spcBef>
            </a:pPr>
            <a:r>
              <a:rPr sz="1600" spc="-60" dirty="0">
                <a:solidFill>
                  <a:schemeClr val="accent4">
                    <a:lumMod val="50000"/>
                  </a:schemeClr>
                </a:solidFill>
                <a:latin typeface="Calibri" panose="020F0502020204030204" charset="0"/>
                <a:ea typeface="Lato" panose="020F0502020204030203" pitchFamily="34" charset="0"/>
                <a:cs typeface="Calibri" panose="020F0502020204030204" charset="0"/>
              </a:rPr>
              <a:t>Tickets</a:t>
            </a:r>
            <a:r>
              <a:rPr sz="1600" spc="-10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85" dirty="0">
                <a:solidFill>
                  <a:schemeClr val="accent4">
                    <a:lumMod val="50000"/>
                  </a:schemeClr>
                </a:solidFill>
                <a:latin typeface="Calibri" panose="020F0502020204030204" charset="0"/>
                <a:ea typeface="Lato" panose="020F0502020204030203" pitchFamily="34" charset="0"/>
                <a:cs typeface="Calibri" panose="020F0502020204030204" charset="0"/>
              </a:rPr>
              <a:t>Sheet:</a:t>
            </a:r>
            <a:r>
              <a:rPr sz="1600" spc="-9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97,498</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records</a:t>
            </a:r>
            <a:r>
              <a:rPr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with</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attributes</a:t>
            </a:r>
            <a:r>
              <a:rPr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like</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lang="en-IN"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ID Ticket, Fecha, Employee ID, Agent ID, Request Category, Issue </a:t>
            </a:r>
            <a:r>
              <a:rPr lang="en-IN"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Type</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a:t>
            </a:r>
            <a:r>
              <a:rPr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lang="en-IN"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S</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e</a:t>
            </a:r>
            <a:r>
              <a:rPr lang="en-IN"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verity, Priority</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lang="en-IN"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R</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esolution</a:t>
            </a:r>
            <a:r>
              <a:rPr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lang="en-IN"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Time (Days)</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a:t>
            </a:r>
            <a:r>
              <a:rPr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lang="en-IN"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Satisfaction Rate.</a:t>
            </a:r>
            <a:endParaRPr sz="1600" dirty="0">
              <a:solidFill>
                <a:schemeClr val="accent4">
                  <a:lumMod val="50000"/>
                </a:schemeClr>
              </a:solidFill>
              <a:latin typeface="Calibri" panose="020F0502020204030204" charset="0"/>
              <a:ea typeface="Lato" panose="020F0502020204030203" pitchFamily="34" charset="0"/>
              <a:cs typeface="Calibri" panose="020F0502020204030204" charset="0"/>
            </a:endParaRPr>
          </a:p>
        </p:txBody>
      </p:sp>
      <p:sp>
        <p:nvSpPr>
          <p:cNvPr id="19" name="object 19"/>
          <p:cNvSpPr txBox="1"/>
          <p:nvPr/>
        </p:nvSpPr>
        <p:spPr>
          <a:xfrm>
            <a:off x="381000" y="4342130"/>
            <a:ext cx="5207000" cy="1628140"/>
          </a:xfrm>
          <a:prstGeom prst="rect">
            <a:avLst/>
          </a:prstGeom>
        </p:spPr>
        <p:txBody>
          <a:bodyPr vert="horz" wrap="square" lIns="0" tIns="12700" rIns="0" bIns="0" rtlCol="0">
            <a:noAutofit/>
          </a:bodyPr>
          <a:lstStyle/>
          <a:p>
            <a:pPr marL="285750" lvl="0" indent="-285750">
              <a:buFont typeface="Arial" panose="020B0604020202020204" pitchFamily="34" charset="0"/>
              <a:buChar char="•"/>
            </a:pPr>
            <a:r>
              <a:rPr lang="en-IN" sz="1600" dirty="0">
                <a:solidFill>
                  <a:schemeClr val="accent5">
                    <a:lumMod val="50000"/>
                  </a:schemeClr>
                </a:solidFill>
                <a:latin typeface="Calibri" panose="020F0502020204030204" charset="0"/>
                <a:cs typeface="Calibri" panose="020F0502020204030204" charset="0"/>
              </a:rPr>
              <a:t>Provides complete visibility into the ticket lifecycle, from assignment through resolution.</a:t>
            </a:r>
          </a:p>
          <a:p>
            <a:pPr marL="285750" lvl="0" indent="-285750">
              <a:buFont typeface="Arial" panose="020B0604020202020204" pitchFamily="34" charset="0"/>
              <a:buChar char="•"/>
            </a:pPr>
            <a:r>
              <a:rPr lang="en-IN" sz="1600" dirty="0">
                <a:solidFill>
                  <a:schemeClr val="accent5">
                    <a:lumMod val="50000"/>
                  </a:schemeClr>
                </a:solidFill>
                <a:latin typeface="Calibri" panose="020F0502020204030204" charset="0"/>
                <a:cs typeface="Calibri" panose="020F0502020204030204" charset="0"/>
              </a:rPr>
              <a:t>Helps evaluate individual agent performance and productivity.</a:t>
            </a:r>
          </a:p>
          <a:p>
            <a:pPr marL="285750" lvl="0" indent="-285750">
              <a:buFont typeface="Arial" panose="020B0604020202020204" pitchFamily="34" charset="0"/>
              <a:buChar char="•"/>
            </a:pPr>
            <a:r>
              <a:rPr lang="en-IN" sz="1600" dirty="0">
                <a:solidFill>
                  <a:schemeClr val="accent5">
                    <a:lumMod val="50000"/>
                  </a:schemeClr>
                </a:solidFill>
                <a:latin typeface="Calibri" panose="020F0502020204030204" charset="0"/>
                <a:cs typeface="Calibri" panose="020F0502020204030204" charset="0"/>
              </a:rPr>
              <a:t>Supports key performance indicators (KPIs) for both day-to-day operations and long-term decision-making.</a:t>
            </a:r>
          </a:p>
        </p:txBody>
      </p:sp>
      <p:grpSp>
        <p:nvGrpSpPr>
          <p:cNvPr id="69" name="object 38"/>
          <p:cNvGrpSpPr/>
          <p:nvPr/>
        </p:nvGrpSpPr>
        <p:grpSpPr>
          <a:xfrm>
            <a:off x="300765" y="2594134"/>
            <a:ext cx="5636206" cy="1005974"/>
            <a:chOff x="6095999" y="4314824"/>
            <a:chExt cx="2863255" cy="1554668"/>
          </a:xfrm>
        </p:grpSpPr>
        <p:sp>
          <p:nvSpPr>
            <p:cNvPr id="70" name="object 39"/>
            <p:cNvSpPr/>
            <p:nvPr/>
          </p:nvSpPr>
          <p:spPr>
            <a:xfrm>
              <a:off x="6095999" y="4314824"/>
              <a:ext cx="2863255" cy="1554668"/>
            </a:xfrm>
            <a:custGeom>
              <a:avLst/>
              <a:gdLst/>
              <a:ahLst/>
              <a:cxnLst/>
              <a:rect l="l" t="t" r="r" b="b"/>
              <a:pathLst>
                <a:path w="2800350" h="914400">
                  <a:moveTo>
                    <a:pt x="2800349" y="914399"/>
                  </a:moveTo>
                  <a:lnTo>
                    <a:pt x="0" y="914399"/>
                  </a:lnTo>
                  <a:lnTo>
                    <a:pt x="0" y="0"/>
                  </a:lnTo>
                  <a:lnTo>
                    <a:pt x="2800349" y="0"/>
                  </a:lnTo>
                  <a:lnTo>
                    <a:pt x="2800349" y="914399"/>
                  </a:lnTo>
                  <a:close/>
                </a:path>
              </a:pathLst>
            </a:custGeom>
            <a:solidFill>
              <a:schemeClr val="accent4">
                <a:lumMod val="20000"/>
                <a:lumOff val="80000"/>
                <a:alpha val="79998"/>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sp>
          <p:nvSpPr>
            <p:cNvPr id="71" name="object 40"/>
            <p:cNvSpPr/>
            <p:nvPr/>
          </p:nvSpPr>
          <p:spPr>
            <a:xfrm>
              <a:off x="6095999" y="4314824"/>
              <a:ext cx="18632" cy="1554479"/>
            </a:xfrm>
            <a:custGeom>
              <a:avLst/>
              <a:gdLst/>
              <a:ahLst/>
              <a:cxnLst/>
              <a:rect l="l" t="t" r="r" b="b"/>
              <a:pathLst>
                <a:path w="28575" h="914400">
                  <a:moveTo>
                    <a:pt x="28574" y="914399"/>
                  </a:moveTo>
                  <a:lnTo>
                    <a:pt x="0" y="914399"/>
                  </a:lnTo>
                  <a:lnTo>
                    <a:pt x="0" y="0"/>
                  </a:lnTo>
                  <a:lnTo>
                    <a:pt x="28574" y="0"/>
                  </a:lnTo>
                  <a:lnTo>
                    <a:pt x="28574" y="914399"/>
                  </a:lnTo>
                  <a:close/>
                </a:path>
              </a:pathLst>
            </a:custGeom>
            <a:solidFill>
              <a:schemeClr val="accent4">
                <a:lumMod val="50000"/>
              </a:schemeClr>
            </a:solidFill>
          </p:spPr>
          <p:txBody>
            <a:bodyPr wrap="square" lIns="0" tIns="0" rIns="0" bIns="0" rtlCol="0"/>
            <a:lstStyle/>
            <a:p>
              <a:endParaRPr sz="1600" dirty="0">
                <a:solidFill>
                  <a:schemeClr val="accent4">
                    <a:lumMod val="50000"/>
                  </a:schemeClr>
                </a:solidFill>
                <a:latin typeface="+mj-lt"/>
                <a:ea typeface="Lato" panose="020F0502020204030203" pitchFamily="34" charset="0"/>
                <a:cs typeface="Arial" panose="020B0604020202020204" pitchFamily="34" charset="0"/>
              </a:endParaRPr>
            </a:p>
          </p:txBody>
        </p:sp>
      </p:grpSp>
      <p:sp>
        <p:nvSpPr>
          <p:cNvPr id="12" name="object 12"/>
          <p:cNvSpPr txBox="1"/>
          <p:nvPr/>
        </p:nvSpPr>
        <p:spPr>
          <a:xfrm>
            <a:off x="338701" y="2779893"/>
            <a:ext cx="5381625" cy="621030"/>
          </a:xfrm>
          <a:prstGeom prst="rect">
            <a:avLst/>
          </a:prstGeom>
        </p:spPr>
        <p:txBody>
          <a:bodyPr vert="horz" wrap="square" lIns="0" tIns="20955" rIns="0" bIns="0" rtlCol="0">
            <a:spAutoFit/>
          </a:bodyPr>
          <a:lstStyle/>
          <a:p>
            <a:pPr marL="114300" marR="169545">
              <a:lnSpc>
                <a:spcPct val="122000"/>
              </a:lnSpc>
              <a:spcBef>
                <a:spcPts val="165"/>
              </a:spcBef>
            </a:pPr>
            <a:r>
              <a:rPr sz="1600" spc="-55" dirty="0">
                <a:solidFill>
                  <a:schemeClr val="accent4">
                    <a:lumMod val="50000"/>
                  </a:schemeClr>
                </a:solidFill>
                <a:latin typeface="Calibri" panose="020F0502020204030204" charset="0"/>
                <a:ea typeface="Lato" panose="020F0502020204030203" pitchFamily="34" charset="0"/>
                <a:cs typeface="Calibri" panose="020F0502020204030204" charset="0"/>
              </a:rPr>
              <a:t>IT</a:t>
            </a:r>
            <a:r>
              <a:rPr sz="1600" spc="-10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70" dirty="0">
                <a:solidFill>
                  <a:schemeClr val="accent4">
                    <a:lumMod val="50000"/>
                  </a:schemeClr>
                </a:solidFill>
                <a:latin typeface="Calibri" panose="020F0502020204030204" charset="0"/>
                <a:ea typeface="Lato" panose="020F0502020204030203" pitchFamily="34" charset="0"/>
                <a:cs typeface="Calibri" panose="020F0502020204030204" charset="0"/>
              </a:rPr>
              <a:t>Agents</a:t>
            </a:r>
            <a:r>
              <a:rPr sz="1600" spc="-10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85" dirty="0">
                <a:solidFill>
                  <a:schemeClr val="accent4">
                    <a:lumMod val="50000"/>
                  </a:schemeClr>
                </a:solidFill>
                <a:latin typeface="Calibri" panose="020F0502020204030204" charset="0"/>
                <a:ea typeface="Lato" panose="020F0502020204030203" pitchFamily="34" charset="0"/>
                <a:cs typeface="Calibri" panose="020F0502020204030204" charset="0"/>
              </a:rPr>
              <a:t>Sheet:</a:t>
            </a:r>
            <a:r>
              <a:rPr sz="1600" spc="-10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50</a:t>
            </a:r>
            <a:r>
              <a:rPr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agents</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dirty="0">
                <a:solidFill>
                  <a:schemeClr val="accent4">
                    <a:lumMod val="50000"/>
                  </a:schemeClr>
                </a:solidFill>
                <a:latin typeface="Calibri" panose="020F0502020204030204" charset="0"/>
                <a:ea typeface="Lato" panose="020F0502020204030203" pitchFamily="34" charset="0"/>
                <a:cs typeface="Calibri" panose="020F0502020204030204" charset="0"/>
              </a:rPr>
              <a:t>with</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demographic</a:t>
            </a:r>
            <a:r>
              <a:rPr sz="1600" spc="-45"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info</a:t>
            </a:r>
            <a:r>
              <a:rPr sz="1600" spc="-50" dirty="0">
                <a:solidFill>
                  <a:schemeClr val="accent4">
                    <a:lumMod val="50000"/>
                  </a:schemeClr>
                </a:solidFill>
                <a:latin typeface="Calibri" panose="020F0502020204030204" charset="0"/>
                <a:ea typeface="Lato" panose="020F0502020204030203" pitchFamily="34" charset="0"/>
                <a:cs typeface="Calibri" panose="020F0502020204030204" charset="0"/>
              </a:rPr>
              <a:t>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a:t>
            </a:r>
            <a:r>
              <a:rPr lang="en-IN"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Agent ID, Full </a:t>
            </a:r>
            <a:r>
              <a:rPr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Name</a:t>
            </a:r>
            <a:r>
              <a:rPr lang="en-IN" sz="1600" spc="-10" dirty="0">
                <a:solidFill>
                  <a:schemeClr val="accent4">
                    <a:lumMod val="50000"/>
                  </a:schemeClr>
                </a:solidFill>
                <a:latin typeface="Calibri" panose="020F0502020204030204" charset="0"/>
                <a:ea typeface="Lato" panose="020F0502020204030203" pitchFamily="34" charset="0"/>
                <a:cs typeface="Calibri" panose="020F0502020204030204" charset="0"/>
              </a:rPr>
              <a:t>, Year of Birth, Month of Birth, Day of Birth</a:t>
            </a:r>
            <a:r>
              <a:rPr sz="1600" spc="-20" dirty="0">
                <a:solidFill>
                  <a:schemeClr val="accent4">
                    <a:lumMod val="50000"/>
                  </a:schemeClr>
                </a:solidFill>
                <a:latin typeface="Calibri" panose="020F0502020204030204" charset="0"/>
                <a:ea typeface="Lato" panose="020F0502020204030203" pitchFamily="34" charset="0"/>
                <a:cs typeface="Calibri" panose="020F0502020204030204" charset="0"/>
              </a:rPr>
              <a:t>)</a:t>
            </a:r>
            <a:endParaRPr sz="1600" dirty="0">
              <a:solidFill>
                <a:schemeClr val="accent4">
                  <a:lumMod val="50000"/>
                </a:schemeClr>
              </a:solidFill>
              <a:latin typeface="Calibri" panose="020F0502020204030204" charset="0"/>
              <a:ea typeface="Lato" panose="020F0502020204030203" pitchFamily="34" charset="0"/>
              <a:cs typeface="Calibri" panose="020F0502020204030204" charset="0"/>
            </a:endParaRPr>
          </a:p>
        </p:txBody>
      </p:sp>
    </p:spTree>
  </p:cSld>
  <p:clrMapOvr>
    <a:masterClrMapping/>
  </p:clrMapOvr>
  <p:transition spd="slow">
    <p:cover dir="d"/>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36" name="Connector: Elbow 35"/>
          <p:cNvCxnSpPr/>
          <p:nvPr/>
        </p:nvCxnSpPr>
        <p:spPr>
          <a:xfrm flipV="1">
            <a:off x="5562600" y="2818130"/>
            <a:ext cx="1295400" cy="457200"/>
          </a:xfrm>
          <a:prstGeom prst="bentConnector3">
            <a:avLst>
              <a:gd name="adj1" fmla="val 50049"/>
            </a:avLst>
          </a:prstGeom>
          <a:ln>
            <a:tailEnd type="triangle"/>
          </a:ln>
        </p:spPr>
        <p:style>
          <a:lnRef idx="2">
            <a:schemeClr val="accent5"/>
          </a:lnRef>
          <a:fillRef idx="0">
            <a:schemeClr val="accent5"/>
          </a:fillRef>
          <a:effectRef idx="1">
            <a:schemeClr val="accent5"/>
          </a:effectRef>
          <a:fontRef idx="minor">
            <a:schemeClr val="tx1"/>
          </a:fontRef>
        </p:style>
      </p:cxnSp>
      <p:sp>
        <p:nvSpPr>
          <p:cNvPr id="2" name="object 2"/>
          <p:cNvSpPr txBox="1">
            <a:spLocks noGrp="1"/>
          </p:cNvSpPr>
          <p:nvPr>
            <p:ph type="title"/>
          </p:nvPr>
        </p:nvSpPr>
        <p:spPr>
          <a:xfrm>
            <a:off x="467888" y="303906"/>
            <a:ext cx="6009112" cy="474345"/>
          </a:xfrm>
          <a:prstGeom prst="rect">
            <a:avLst/>
          </a:prstGeom>
        </p:spPr>
        <p:txBody>
          <a:bodyPr vert="horz" wrap="square" lIns="0" tIns="12700" rIns="0" bIns="0" rtlCol="0">
            <a:spAutoFit/>
          </a:bodyPr>
          <a:lstStyle/>
          <a:p>
            <a:pPr marL="12700">
              <a:lnSpc>
                <a:spcPct val="100000"/>
              </a:lnSpc>
              <a:spcBef>
                <a:spcPts val="100"/>
              </a:spcBef>
            </a:pPr>
            <a:r>
              <a:rPr lang="en-IN" sz="3000" dirty="0">
                <a:solidFill>
                  <a:schemeClr val="accent4">
                    <a:lumMod val="50000"/>
                  </a:schemeClr>
                </a:solidFill>
                <a:latin typeface="Calibri" panose="020F0502020204030204" charset="0"/>
                <a:cs typeface="Calibri" panose="020F0502020204030204" charset="0"/>
              </a:rPr>
              <a:t>Ticket  Category  Distribution</a:t>
            </a:r>
          </a:p>
        </p:txBody>
      </p:sp>
      <p:grpSp>
        <p:nvGrpSpPr>
          <p:cNvPr id="61" name="object 13"/>
          <p:cNvGrpSpPr/>
          <p:nvPr/>
        </p:nvGrpSpPr>
        <p:grpSpPr>
          <a:xfrm>
            <a:off x="6920865" y="1424305"/>
            <a:ext cx="4084320" cy="3297555"/>
            <a:chOff x="380998" y="3762374"/>
            <a:chExt cx="5410201" cy="381000"/>
          </a:xfrm>
        </p:grpSpPr>
        <p:sp>
          <p:nvSpPr>
            <p:cNvPr id="62" name="object 14"/>
            <p:cNvSpPr/>
            <p:nvPr/>
          </p:nvSpPr>
          <p:spPr>
            <a:xfrm>
              <a:off x="380999" y="3762374"/>
              <a:ext cx="5410200" cy="381000"/>
            </a:xfrm>
            <a:custGeom>
              <a:avLst/>
              <a:gdLst/>
              <a:ahLst/>
              <a:cxnLst/>
              <a:rect l="l" t="t" r="r" b="b"/>
              <a:pathLst>
                <a:path w="5410200" h="381000">
                  <a:moveTo>
                    <a:pt x="5410199" y="380999"/>
                  </a:moveTo>
                  <a:lnTo>
                    <a:pt x="0" y="380999"/>
                  </a:lnTo>
                  <a:lnTo>
                    <a:pt x="0" y="0"/>
                  </a:lnTo>
                  <a:lnTo>
                    <a:pt x="5410199" y="0"/>
                  </a:lnTo>
                  <a:lnTo>
                    <a:pt x="5410199" y="380999"/>
                  </a:lnTo>
                  <a:close/>
                </a:path>
              </a:pathLst>
            </a:custGeom>
            <a:solidFill>
              <a:schemeClr val="accent4">
                <a:lumMod val="20000"/>
                <a:lumOff val="80000"/>
                <a:alpha val="50199"/>
              </a:schemeClr>
            </a:solidFill>
          </p:spPr>
          <p:txBody>
            <a:bodyPr wrap="square" lIns="0" tIns="0" rIns="0" bIns="0" rtlCol="0"/>
            <a:lstStyle/>
            <a:p>
              <a:endParaRPr dirty="0">
                <a:solidFill>
                  <a:schemeClr val="accent4">
                    <a:lumMod val="50000"/>
                  </a:schemeClr>
                </a:solidFill>
                <a:latin typeface="+mj-lt"/>
              </a:endParaRPr>
            </a:p>
          </p:txBody>
        </p:sp>
        <p:sp>
          <p:nvSpPr>
            <p:cNvPr id="63" name="object 15"/>
            <p:cNvSpPr/>
            <p:nvPr/>
          </p:nvSpPr>
          <p:spPr>
            <a:xfrm>
              <a:off x="380998" y="3762374"/>
              <a:ext cx="47185" cy="381000"/>
            </a:xfrm>
            <a:custGeom>
              <a:avLst/>
              <a:gdLst/>
              <a:ahLst/>
              <a:cxnLst/>
              <a:rect l="l" t="t" r="r" b="b"/>
              <a:pathLst>
                <a:path w="28575" h="381000">
                  <a:moveTo>
                    <a:pt x="28574" y="380999"/>
                  </a:moveTo>
                  <a:lnTo>
                    <a:pt x="0" y="380999"/>
                  </a:lnTo>
                  <a:lnTo>
                    <a:pt x="0" y="0"/>
                  </a:lnTo>
                  <a:lnTo>
                    <a:pt x="28574" y="0"/>
                  </a:lnTo>
                  <a:lnTo>
                    <a:pt x="28574" y="3809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pSp>
      <p:sp>
        <p:nvSpPr>
          <p:cNvPr id="47" name="object 7"/>
          <p:cNvSpPr txBox="1"/>
          <p:nvPr/>
        </p:nvSpPr>
        <p:spPr>
          <a:xfrm>
            <a:off x="7137223" y="1522564"/>
            <a:ext cx="3911581" cy="2609215"/>
          </a:xfrm>
          <a:prstGeom prst="rect">
            <a:avLst/>
          </a:prstGeom>
          <a:ln>
            <a:noFill/>
          </a:ln>
        </p:spPr>
        <p:txBody>
          <a:bodyPr vert="horz" wrap="square" lIns="0" tIns="85725" rIns="0" bIns="0" rtlCol="0" anchor="t">
            <a:spAutoFit/>
          </a:bodyPr>
          <a:lstStyle/>
          <a:p>
            <a:pPr marL="114300" algn="l">
              <a:lnSpc>
                <a:spcPct val="100000"/>
              </a:lnSpc>
              <a:spcBef>
                <a:spcPts val="675"/>
              </a:spcBef>
            </a:pPr>
            <a:r>
              <a:rPr sz="1800" b="1" dirty="0">
                <a:solidFill>
                  <a:srgbClr val="464646"/>
                </a:solidFill>
                <a:latin typeface="Calibri" panose="020F0502020204030204" charset="0"/>
                <a:cs typeface="Calibri" panose="020F0502020204030204" charset="0"/>
              </a:rPr>
              <a:t>Key Insight
</a:t>
            </a:r>
            <a:r>
              <a:rPr sz="1500" b="0" dirty="0">
                <a:solidFill>
                  <a:srgbClr val="464646"/>
                </a:solidFill>
                <a:latin typeface="Aptos"/>
              </a:rPr>
              <a:t>•</a:t>
            </a:r>
            <a:r>
              <a:rPr sz="1600" b="0" dirty="0">
                <a:solidFill>
                  <a:srgbClr val="464646"/>
                </a:solidFill>
                <a:latin typeface="Calibri" panose="020F0502020204030204" charset="0"/>
                <a:cs typeface="Calibri" panose="020F0502020204030204" charset="0"/>
              </a:rPr>
              <a:t> System: 39,002 tickets (40.0%).
• Login Access: 29,193 tickets (29.9%).
• Together they account for 68,195 tickets (70.0%) — the largest workload concentration.
• These categories are the strongest candidates for automation and process redesign.</a:t>
            </a:r>
            <a:endParaRPr lang="en-IN" sz="1600" b="1" spc="-10" dirty="0">
              <a:solidFill>
                <a:schemeClr val="accent4">
                  <a:lumMod val="50000"/>
                </a:schemeClr>
              </a:solidFill>
              <a:latin typeface="Calibri" panose="020F0502020204030204" charset="0"/>
              <a:cs typeface="Calibri" panose="020F0502020204030204" charset="0"/>
            </a:endParaRPr>
          </a:p>
        </p:txBody>
      </p:sp>
      <p:sp>
        <p:nvSpPr>
          <p:cNvPr id="78" name="object 3"/>
          <p:cNvSpPr/>
          <p:nvPr/>
        </p:nvSpPr>
        <p:spPr>
          <a:xfrm flipV="1">
            <a:off x="467995" y="837565"/>
            <a:ext cx="4802505" cy="84455"/>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graphicFrame>
        <p:nvGraphicFramePr>
          <p:cNvPr id="8" name="Chart 7"/>
          <p:cNvGraphicFramePr/>
          <p:nvPr>
            <p:extLst>
              <p:ext uri="{D42A27DB-BD31-4B8C-83A1-F6EECF244321}">
                <p14:modId xmlns:p14="http://schemas.microsoft.com/office/powerpoint/2010/main" val="808244001"/>
              </p:ext>
            </p:extLst>
          </p:nvPr>
        </p:nvGraphicFramePr>
        <p:xfrm>
          <a:off x="1143065" y="1340032"/>
          <a:ext cx="4874848" cy="3692769"/>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slow">
    <p:cover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37FFAB-E389-CF51-9151-2BDE396FB96F}"/>
              </a:ext>
            </a:extLst>
          </p:cNvPr>
          <p:cNvSpPr txBox="1"/>
          <p:nvPr/>
        </p:nvSpPr>
        <p:spPr>
          <a:xfrm>
            <a:off x="7010400" y="1885968"/>
            <a:ext cx="4191000" cy="2837638"/>
          </a:xfrm>
          <a:prstGeom prst="rect">
            <a:avLst/>
          </a:prstGeom>
          <a:solidFill>
            <a:schemeClr val="accent4">
              <a:lumMod val="20000"/>
              <a:lumOff val="80000"/>
            </a:schemeClr>
          </a:solidFill>
          <a:ln w="19050">
            <a:solidFill>
              <a:schemeClr val="accent4">
                <a:lumMod val="50000"/>
              </a:schemeClr>
            </a:solidFill>
          </a:ln>
        </p:spPr>
        <p:txBody>
          <a:bodyPr wrap="square" rtlCol="0" anchor="t">
            <a:noAutofit/>
          </a:bodyPr>
          <a:lstStyle/>
          <a:p>
            <a:pPr marR="0" lvl="0" algn="l" defTabSz="914400" rtl="0" eaLnBrk="0" fontAlgn="base" latinLnBrk="0" hangingPunct="0">
              <a:lnSpc>
                <a:spcPct val="100000"/>
              </a:lnSpc>
              <a:spcBef>
                <a:spcPct val="0"/>
              </a:spcBef>
              <a:spcAft>
                <a:spcPct val="0"/>
              </a:spcAft>
              <a:buClrTx/>
              <a:buSzTx/>
            </a:pPr>
            <a:r>
              <a:rPr b="1" dirty="0">
                <a:solidFill>
                  <a:srgbClr val="464646"/>
                </a:solidFill>
                <a:latin typeface="Calibri" panose="020F0502020204030204" charset="0"/>
                <a:cs typeface="Calibri" panose="020F0502020204030204" charset="0"/>
              </a:rPr>
              <a:t>Key Insight</a:t>
            </a:r>
            <a:endParaRPr lang="en-IN" b="1" dirty="0">
              <a:solidFill>
                <a:srgbClr val="464646"/>
              </a:solidFill>
              <a:latin typeface="Calibri" panose="020F0502020204030204" charset="0"/>
              <a:cs typeface="Calibri" panose="020F050202020403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GB" sz="1600" b="0" dirty="0">
                <a:solidFill>
                  <a:srgbClr val="464646"/>
                </a:solidFill>
                <a:latin typeface="Calibri" panose="020F0502020204030204" charset="0"/>
                <a:cs typeface="Calibri" panose="020F0502020204030204" charset="0"/>
              </a:rPr>
              <a:t> Hardware tickets take the longest to resolve, with average resolution time remaining around 7.5 days across the quarters.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GB" sz="1600" b="0" dirty="0">
                <a:solidFill>
                  <a:srgbClr val="464646"/>
                </a:solidFill>
                <a:latin typeface="Calibri" panose="020F0502020204030204" charset="0"/>
                <a:cs typeface="Calibri" panose="020F0502020204030204" charset="0"/>
              </a:rPr>
              <a:t> Software resolution time improved steadily, decreasing from 6.60 days to 5.16 days, indicating faster issue resolution.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GB" sz="1600" b="0" dirty="0">
                <a:solidFill>
                  <a:srgbClr val="464646"/>
                </a:solidFill>
                <a:latin typeface="Calibri" panose="020F0502020204030204" charset="0"/>
                <a:cs typeface="Calibri" panose="020F0502020204030204" charset="0"/>
              </a:rPr>
              <a:t> Login Access tickets are resolved fastest, with resolution time consistently close to 0.31 days across all quarters.</a:t>
            </a:r>
            <a:endParaRPr sz="1600" b="0" dirty="0">
              <a:solidFill>
                <a:srgbClr val="464646"/>
              </a:solidFill>
              <a:latin typeface="Calibri" panose="020F0502020204030204" charset="0"/>
              <a:cs typeface="Calibri" panose="020F0502020204030204" charset="0"/>
            </a:endParaRPr>
          </a:p>
        </p:txBody>
      </p:sp>
      <p:cxnSp>
        <p:nvCxnSpPr>
          <p:cNvPr id="5" name="Connector: Elbow 4">
            <a:extLst>
              <a:ext uri="{FF2B5EF4-FFF2-40B4-BE49-F238E27FC236}">
                <a16:creationId xmlns:a16="http://schemas.microsoft.com/office/drawing/2014/main" id="{CF12F208-96BB-EC67-7F25-15DCAD3EA781}"/>
              </a:ext>
            </a:extLst>
          </p:cNvPr>
          <p:cNvCxnSpPr/>
          <p:nvPr/>
        </p:nvCxnSpPr>
        <p:spPr>
          <a:xfrm>
            <a:off x="6096000" y="2571237"/>
            <a:ext cx="914400" cy="914400"/>
          </a:xfrm>
          <a:prstGeom prst="bentConnector3">
            <a:avLst/>
          </a:prstGeom>
          <a:ln>
            <a:tailEnd type="triangle"/>
          </a:ln>
        </p:spPr>
        <p:style>
          <a:lnRef idx="2">
            <a:schemeClr val="accent5"/>
          </a:lnRef>
          <a:fillRef idx="0">
            <a:schemeClr val="accent5"/>
          </a:fillRef>
          <a:effectRef idx="1">
            <a:schemeClr val="accent5"/>
          </a:effectRef>
          <a:fontRef idx="minor">
            <a:schemeClr val="tx1"/>
          </a:fontRef>
        </p:style>
      </p:cxnSp>
      <p:pic>
        <p:nvPicPr>
          <p:cNvPr id="8" name="Picture 7">
            <a:extLst>
              <a:ext uri="{FF2B5EF4-FFF2-40B4-BE49-F238E27FC236}">
                <a16:creationId xmlns:a16="http://schemas.microsoft.com/office/drawing/2014/main" id="{007A33BC-E80A-0D66-18F0-4F62BAC904FD}"/>
              </a:ext>
            </a:extLst>
          </p:cNvPr>
          <p:cNvPicPr>
            <a:picLocks noChangeAspect="1"/>
          </p:cNvPicPr>
          <p:nvPr/>
        </p:nvPicPr>
        <p:blipFill>
          <a:blip r:embed="rId2"/>
          <a:stretch>
            <a:fillRect/>
          </a:stretch>
        </p:blipFill>
        <p:spPr>
          <a:xfrm>
            <a:off x="1828799" y="1904206"/>
            <a:ext cx="4267201" cy="2087866"/>
          </a:xfrm>
          <a:prstGeom prst="rect">
            <a:avLst/>
          </a:prstGeom>
        </p:spPr>
      </p:pic>
      <p:sp>
        <p:nvSpPr>
          <p:cNvPr id="10" name="object 2">
            <a:extLst>
              <a:ext uri="{FF2B5EF4-FFF2-40B4-BE49-F238E27FC236}">
                <a16:creationId xmlns:a16="http://schemas.microsoft.com/office/drawing/2014/main" id="{178E889D-4118-6B05-103A-A85A9011CCBB}"/>
              </a:ext>
            </a:extLst>
          </p:cNvPr>
          <p:cNvSpPr txBox="1"/>
          <p:nvPr/>
        </p:nvSpPr>
        <p:spPr>
          <a:xfrm>
            <a:off x="-76200" y="561209"/>
            <a:ext cx="9296400" cy="474489"/>
          </a:xfrm>
          <a:prstGeom prst="rect">
            <a:avLst/>
          </a:prstGeom>
        </p:spPr>
        <p:txBody>
          <a:bodyPr vert="horz" wrap="square" lIns="0" tIns="12700" rIns="0" bIns="0" rtlCol="0">
            <a:spAutoFit/>
          </a:bodyPr>
          <a:lstStyle>
            <a:lvl1pPr>
              <a:defRPr>
                <a:latin typeface="+mj-lt"/>
                <a:ea typeface="+mj-ea"/>
                <a:cs typeface="+mj-cs"/>
              </a:defRPr>
            </a:lvl1pPr>
          </a:lstStyle>
          <a:p>
            <a:pPr algn="ctr" rtl="0">
              <a:defRPr sz="2130" b="1" i="0" u="none" strike="noStrike" kern="1200" baseline="0">
                <a:solidFill>
                  <a:prstClr val="black">
                    <a:lumMod val="65000"/>
                    <a:lumOff val="35000"/>
                  </a:prstClr>
                </a:solidFill>
                <a:latin typeface="+mn-lt"/>
                <a:ea typeface="+mn-ea"/>
                <a:cs typeface="+mn-cs"/>
              </a:defRPr>
            </a:pPr>
            <a:r>
              <a:rPr lang="en-IN" sz="3000" dirty="0">
                <a:solidFill>
                  <a:schemeClr val="accent4">
                    <a:lumMod val="50000"/>
                  </a:schemeClr>
                </a:solidFill>
                <a:latin typeface="Calibri" panose="020F0502020204030204" charset="0"/>
                <a:cs typeface="Calibri" panose="020F0502020204030204" charset="0"/>
              </a:rPr>
              <a:t>Average Resolution Time(Days) By Ticket Category</a:t>
            </a:r>
          </a:p>
        </p:txBody>
      </p:sp>
      <p:sp>
        <p:nvSpPr>
          <p:cNvPr id="12" name="object 3">
            <a:extLst>
              <a:ext uri="{FF2B5EF4-FFF2-40B4-BE49-F238E27FC236}">
                <a16:creationId xmlns:a16="http://schemas.microsoft.com/office/drawing/2014/main" id="{0F5CE8D3-A841-B6CE-A9F8-26EDF78D9317}"/>
              </a:ext>
            </a:extLst>
          </p:cNvPr>
          <p:cNvSpPr/>
          <p:nvPr/>
        </p:nvSpPr>
        <p:spPr>
          <a:xfrm>
            <a:off x="457200" y="1035698"/>
            <a:ext cx="8229600" cy="106508"/>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Tree>
    <p:extLst>
      <p:ext uri="{BB962C8B-B14F-4D97-AF65-F5344CB8AC3E}">
        <p14:creationId xmlns:p14="http://schemas.microsoft.com/office/powerpoint/2010/main" val="758720673"/>
      </p:ext>
    </p:extLst>
  </p:cSld>
  <p:clrMapOvr>
    <a:masterClrMapping/>
  </p:clrMapOvr>
  <p:transition spd="slow">
    <p:cover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D92D1-B047-C011-5A34-B796078231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29A530-67A2-485C-1F0C-50E2ADF808ED}"/>
              </a:ext>
            </a:extLst>
          </p:cNvPr>
          <p:cNvSpPr txBox="1"/>
          <p:nvPr/>
        </p:nvSpPr>
        <p:spPr>
          <a:xfrm>
            <a:off x="7010400" y="1885968"/>
            <a:ext cx="4191000" cy="2761437"/>
          </a:xfrm>
          <a:prstGeom prst="rect">
            <a:avLst/>
          </a:prstGeom>
          <a:solidFill>
            <a:schemeClr val="accent4">
              <a:lumMod val="20000"/>
              <a:lumOff val="80000"/>
            </a:schemeClr>
          </a:solidFill>
          <a:ln w="19050">
            <a:solidFill>
              <a:schemeClr val="accent4">
                <a:lumMod val="50000"/>
              </a:schemeClr>
            </a:solidFill>
          </a:ln>
        </p:spPr>
        <p:txBody>
          <a:bodyPr wrap="square" rtlCol="0" anchor="t">
            <a:noAutofit/>
          </a:bodyPr>
          <a:lstStyle/>
          <a:p>
            <a:pPr marR="0" lvl="0" algn="l" defTabSz="914400" rtl="0" eaLnBrk="0" fontAlgn="base" latinLnBrk="0" hangingPunct="0">
              <a:lnSpc>
                <a:spcPct val="100000"/>
              </a:lnSpc>
              <a:spcBef>
                <a:spcPct val="0"/>
              </a:spcBef>
              <a:spcAft>
                <a:spcPct val="0"/>
              </a:spcAft>
              <a:buClrTx/>
              <a:buSzTx/>
            </a:pPr>
            <a:r>
              <a:rPr b="1" dirty="0">
                <a:solidFill>
                  <a:srgbClr val="464646"/>
                </a:solidFill>
                <a:latin typeface="Calibri" panose="020F0502020204030204" charset="0"/>
                <a:cs typeface="Calibri" panose="020F0502020204030204" charset="0"/>
              </a:rPr>
              <a:t>Key Insight</a:t>
            </a:r>
            <a:endParaRPr lang="en-IN" b="1" dirty="0">
              <a:solidFill>
                <a:srgbClr val="464646"/>
              </a:solidFill>
              <a:latin typeface="Calibri" panose="020F0502020204030204" charset="0"/>
              <a:cs typeface="Calibri" panose="020F0502020204030204" charset="0"/>
            </a:endParaRPr>
          </a:p>
          <a:p>
            <a:pPr marR="0" lvl="0" algn="l" defTabSz="914400" rtl="0" eaLnBrk="0" fontAlgn="base" latinLnBrk="0" hangingPunct="0">
              <a:lnSpc>
                <a:spcPct val="100000"/>
              </a:lnSpc>
              <a:spcBef>
                <a:spcPct val="0"/>
              </a:spcBef>
              <a:spcAft>
                <a:spcPct val="0"/>
              </a:spcAft>
              <a:buClrTx/>
              <a:buSzTx/>
            </a:pPr>
            <a:endParaRPr lang="en-GB" sz="1600" b="0" dirty="0">
              <a:solidFill>
                <a:srgbClr val="464646"/>
              </a:solidFill>
              <a:latin typeface="Calibri" panose="020F0502020204030204" charset="0"/>
              <a:cs typeface="Calibri" panose="020F050202020403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GB" sz="1600" b="0" dirty="0">
                <a:solidFill>
                  <a:srgbClr val="464646"/>
                </a:solidFill>
                <a:latin typeface="Calibri" panose="020F0502020204030204" charset="0"/>
                <a:cs typeface="Calibri" panose="020F0502020204030204" charset="0"/>
              </a:rPr>
              <a:t>Satisfaction improved steadily: increased from 3.95 in Q1 2016 to 4.13 in Q4 2020.</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GB" sz="1600" b="0" dirty="0">
                <a:solidFill>
                  <a:srgbClr val="464646"/>
                </a:solidFill>
                <a:latin typeface="Calibri" panose="020F0502020204030204" charset="0"/>
                <a:cs typeface="Calibri" panose="020F0502020204030204" charset="0"/>
              </a:rPr>
              <a:t>Highest satisfaction recorded: 4.19 in Q2 2020, indicating strong customer satisfaction.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GB" sz="1600" b="0" dirty="0">
                <a:solidFill>
                  <a:srgbClr val="464646"/>
                </a:solidFill>
                <a:latin typeface="Calibri" panose="020F0502020204030204" charset="0"/>
                <a:cs typeface="Calibri" panose="020F0502020204030204" charset="0"/>
              </a:rPr>
              <a:t>Satisfaction remained stable: stayed mostly between 4.07 and 4.14 from 2017 onward, despite quarterly fluctuations.</a:t>
            </a:r>
            <a:endParaRPr sz="1600" b="0" dirty="0">
              <a:solidFill>
                <a:srgbClr val="464646"/>
              </a:solidFill>
              <a:latin typeface="Calibri" panose="020F0502020204030204" charset="0"/>
              <a:cs typeface="Calibri" panose="020F0502020204030204" charset="0"/>
            </a:endParaRPr>
          </a:p>
        </p:txBody>
      </p:sp>
      <p:cxnSp>
        <p:nvCxnSpPr>
          <p:cNvPr id="5" name="Connector: Elbow 4">
            <a:extLst>
              <a:ext uri="{FF2B5EF4-FFF2-40B4-BE49-F238E27FC236}">
                <a16:creationId xmlns:a16="http://schemas.microsoft.com/office/drawing/2014/main" id="{0C4559BD-8500-4C3C-532E-CD86BB178DFF}"/>
              </a:ext>
            </a:extLst>
          </p:cNvPr>
          <p:cNvCxnSpPr/>
          <p:nvPr/>
        </p:nvCxnSpPr>
        <p:spPr>
          <a:xfrm>
            <a:off x="6096000" y="2571237"/>
            <a:ext cx="914400" cy="914400"/>
          </a:xfrm>
          <a:prstGeom prst="bentConnector3">
            <a:avLst/>
          </a:prstGeom>
          <a:ln>
            <a:tailEnd type="triangle"/>
          </a:ln>
        </p:spPr>
        <p:style>
          <a:lnRef idx="2">
            <a:schemeClr val="accent5"/>
          </a:lnRef>
          <a:fillRef idx="0">
            <a:schemeClr val="accent5"/>
          </a:fillRef>
          <a:effectRef idx="1">
            <a:schemeClr val="accent5"/>
          </a:effectRef>
          <a:fontRef idx="minor">
            <a:schemeClr val="tx1"/>
          </a:fontRef>
        </p:style>
      </p:cxnSp>
      <p:pic>
        <p:nvPicPr>
          <p:cNvPr id="7" name="Picture 6">
            <a:extLst>
              <a:ext uri="{FF2B5EF4-FFF2-40B4-BE49-F238E27FC236}">
                <a16:creationId xmlns:a16="http://schemas.microsoft.com/office/drawing/2014/main" id="{9A974DB5-7163-2AA1-7430-F9CA3AF136B4}"/>
              </a:ext>
            </a:extLst>
          </p:cNvPr>
          <p:cNvPicPr>
            <a:picLocks noChangeAspect="1"/>
          </p:cNvPicPr>
          <p:nvPr/>
        </p:nvPicPr>
        <p:blipFill>
          <a:blip r:embed="rId2"/>
          <a:stretch>
            <a:fillRect/>
          </a:stretch>
        </p:blipFill>
        <p:spPr>
          <a:xfrm>
            <a:off x="304800" y="1904206"/>
            <a:ext cx="5791200" cy="2598256"/>
          </a:xfrm>
          <a:prstGeom prst="rect">
            <a:avLst/>
          </a:prstGeom>
        </p:spPr>
      </p:pic>
      <p:sp>
        <p:nvSpPr>
          <p:cNvPr id="10" name="object 2">
            <a:extLst>
              <a:ext uri="{FF2B5EF4-FFF2-40B4-BE49-F238E27FC236}">
                <a16:creationId xmlns:a16="http://schemas.microsoft.com/office/drawing/2014/main" id="{F40E472D-1DB7-3CA5-F66D-A7E419DE21DA}"/>
              </a:ext>
            </a:extLst>
          </p:cNvPr>
          <p:cNvSpPr txBox="1"/>
          <p:nvPr/>
        </p:nvSpPr>
        <p:spPr>
          <a:xfrm>
            <a:off x="152660" y="561210"/>
            <a:ext cx="5867139" cy="1397819"/>
          </a:xfrm>
          <a:prstGeom prst="rect">
            <a:avLst/>
          </a:prstGeom>
        </p:spPr>
        <p:txBody>
          <a:bodyPr vert="horz" wrap="square" lIns="0" tIns="12700" rIns="0" bIns="0" rtlCol="0">
            <a:spAutoFit/>
          </a:bodyPr>
          <a:lstStyle>
            <a:lvl1pPr>
              <a:defRPr>
                <a:latin typeface="+mj-lt"/>
                <a:ea typeface="+mj-ea"/>
                <a:cs typeface="+mj-cs"/>
              </a:defRPr>
            </a:lvl1pPr>
          </a:lstStyle>
          <a:p>
            <a:pPr algn="ctr" rtl="0">
              <a:defRPr sz="2130" b="1" i="0" u="none" strike="noStrike" kern="1200" baseline="0">
                <a:solidFill>
                  <a:prstClr val="black">
                    <a:lumMod val="65000"/>
                    <a:lumOff val="35000"/>
                  </a:prstClr>
                </a:solidFill>
                <a:latin typeface="+mn-lt"/>
                <a:ea typeface="+mn-ea"/>
                <a:cs typeface="+mn-cs"/>
              </a:defRPr>
            </a:pPr>
            <a:r>
              <a:rPr lang="en-IN" sz="3000" b="1" kern="1200" dirty="0">
                <a:solidFill>
                  <a:schemeClr val="accent4">
                    <a:lumMod val="50000"/>
                  </a:schemeClr>
                </a:solidFill>
                <a:latin typeface="Calibri" panose="020F0502020204030204" charset="0"/>
                <a:cs typeface="Calibri" panose="020F0502020204030204" charset="0"/>
              </a:rPr>
              <a:t>Average Satisfaction Rate Over Time</a:t>
            </a:r>
          </a:p>
          <a:p>
            <a:pPr algn="ctr" rtl="0">
              <a:defRPr sz="2130" b="1" i="0" u="none" strike="noStrike" kern="1200" baseline="0">
                <a:solidFill>
                  <a:prstClr val="black">
                    <a:lumMod val="65000"/>
                    <a:lumOff val="35000"/>
                  </a:prstClr>
                </a:solidFill>
                <a:latin typeface="+mn-lt"/>
                <a:ea typeface="+mn-ea"/>
                <a:cs typeface="+mn-cs"/>
              </a:defRPr>
            </a:pPr>
            <a:endParaRPr lang="en-IN" sz="3000" dirty="0">
              <a:solidFill>
                <a:schemeClr val="accent4">
                  <a:lumMod val="50000"/>
                </a:schemeClr>
              </a:solidFill>
              <a:latin typeface="Calibri" panose="020F0502020204030204" charset="0"/>
              <a:cs typeface="Calibri" panose="020F0502020204030204" charset="0"/>
            </a:endParaRPr>
          </a:p>
          <a:p>
            <a:pPr algn="ctr" rtl="0">
              <a:defRPr sz="2130" b="1" i="0" u="none" strike="noStrike" kern="1200" baseline="0">
                <a:solidFill>
                  <a:prstClr val="black">
                    <a:lumMod val="65000"/>
                    <a:lumOff val="35000"/>
                  </a:prstClr>
                </a:solidFill>
                <a:latin typeface="+mn-lt"/>
                <a:ea typeface="+mn-ea"/>
                <a:cs typeface="+mn-cs"/>
              </a:defRPr>
            </a:pPr>
            <a:endParaRPr lang="en-IN" sz="3000" dirty="0">
              <a:solidFill>
                <a:schemeClr val="accent4">
                  <a:lumMod val="50000"/>
                </a:schemeClr>
              </a:solidFill>
              <a:latin typeface="Calibri" panose="020F0502020204030204" charset="0"/>
              <a:cs typeface="Calibri" panose="020F0502020204030204" charset="0"/>
            </a:endParaRPr>
          </a:p>
        </p:txBody>
      </p:sp>
      <p:sp>
        <p:nvSpPr>
          <p:cNvPr id="12" name="object 3">
            <a:extLst>
              <a:ext uri="{FF2B5EF4-FFF2-40B4-BE49-F238E27FC236}">
                <a16:creationId xmlns:a16="http://schemas.microsoft.com/office/drawing/2014/main" id="{F0C79C43-4060-8EC3-51A6-C46281C46ACC}"/>
              </a:ext>
            </a:extLst>
          </p:cNvPr>
          <p:cNvSpPr/>
          <p:nvPr/>
        </p:nvSpPr>
        <p:spPr>
          <a:xfrm>
            <a:off x="90703" y="1066006"/>
            <a:ext cx="6005297" cy="45719"/>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Tree>
    <p:extLst>
      <p:ext uri="{BB962C8B-B14F-4D97-AF65-F5344CB8AC3E}">
        <p14:creationId xmlns:p14="http://schemas.microsoft.com/office/powerpoint/2010/main" val="3493629234"/>
      </p:ext>
    </p:extLst>
  </p:cSld>
  <p:clrMapOvr>
    <a:masterClrMapping/>
  </p:clrMapOvr>
  <p:transition spd="slow">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D5340E4-80F1-9A8E-9C22-2D2042770750}"/>
              </a:ext>
            </a:extLst>
          </p:cNvPr>
          <p:cNvSpPr txBox="1"/>
          <p:nvPr/>
        </p:nvSpPr>
        <p:spPr>
          <a:xfrm>
            <a:off x="152661" y="561209"/>
            <a:ext cx="4866112" cy="474345"/>
          </a:xfrm>
          <a:prstGeom prst="rect">
            <a:avLst/>
          </a:prstGeom>
        </p:spPr>
        <p:txBody>
          <a:bodyPr vert="horz" wrap="square" lIns="0" tIns="12700" rIns="0" bIns="0" rtlCol="0">
            <a:spAutoFit/>
          </a:bodyPr>
          <a:lstStyle>
            <a:lvl1pPr>
              <a:defRPr>
                <a:latin typeface="+mj-lt"/>
                <a:ea typeface="+mj-ea"/>
                <a:cs typeface="+mj-cs"/>
              </a:defRPr>
            </a:lvl1pPr>
          </a:lstStyle>
          <a:p>
            <a:pPr algn="ctr" rtl="0">
              <a:defRPr sz="2130" b="1" i="0" u="none" strike="noStrike" kern="1200" baseline="0">
                <a:solidFill>
                  <a:prstClr val="black">
                    <a:lumMod val="65000"/>
                    <a:lumOff val="35000"/>
                  </a:prstClr>
                </a:solidFill>
                <a:latin typeface="+mn-lt"/>
                <a:ea typeface="+mn-ea"/>
                <a:cs typeface="+mn-cs"/>
              </a:defRPr>
            </a:pPr>
            <a:r>
              <a:rPr lang="en-IN" sz="3000" dirty="0">
                <a:solidFill>
                  <a:schemeClr val="accent4">
                    <a:lumMod val="50000"/>
                  </a:schemeClr>
                </a:solidFill>
                <a:latin typeface="Calibri" panose="020F0502020204030204" charset="0"/>
                <a:cs typeface="Calibri" panose="020F0502020204030204" charset="0"/>
              </a:rPr>
              <a:t>Priority Wise Ticket Volume</a:t>
            </a:r>
          </a:p>
        </p:txBody>
      </p:sp>
      <p:sp>
        <p:nvSpPr>
          <p:cNvPr id="3" name="object 3">
            <a:extLst>
              <a:ext uri="{FF2B5EF4-FFF2-40B4-BE49-F238E27FC236}">
                <a16:creationId xmlns:a16="http://schemas.microsoft.com/office/drawing/2014/main" id="{226388F3-0729-B507-5561-9660C9225BEA}"/>
              </a:ext>
            </a:extLst>
          </p:cNvPr>
          <p:cNvSpPr/>
          <p:nvPr/>
        </p:nvSpPr>
        <p:spPr>
          <a:xfrm flipV="1">
            <a:off x="340931" y="1020445"/>
            <a:ext cx="4535869" cy="45719"/>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
        <p:nvSpPr>
          <p:cNvPr id="4" name="TextBox 3">
            <a:extLst>
              <a:ext uri="{FF2B5EF4-FFF2-40B4-BE49-F238E27FC236}">
                <a16:creationId xmlns:a16="http://schemas.microsoft.com/office/drawing/2014/main" id="{B4B87D99-A17F-C991-3D0E-1760C60FB22E}"/>
              </a:ext>
            </a:extLst>
          </p:cNvPr>
          <p:cNvSpPr txBox="1"/>
          <p:nvPr/>
        </p:nvSpPr>
        <p:spPr>
          <a:xfrm>
            <a:off x="7010400" y="1904206"/>
            <a:ext cx="4170680" cy="2590800"/>
          </a:xfrm>
          <a:prstGeom prst="rect">
            <a:avLst/>
          </a:prstGeom>
          <a:solidFill>
            <a:schemeClr val="accent4">
              <a:lumMod val="20000"/>
              <a:lumOff val="80000"/>
            </a:schemeClr>
          </a:solidFill>
          <a:ln w="19050">
            <a:solidFill>
              <a:schemeClr val="accent4">
                <a:lumMod val="50000"/>
              </a:schemeClr>
            </a:solidFill>
          </a:ln>
        </p:spPr>
        <p:txBody>
          <a:bodyPr wrap="square" rtlCol="0" anchor="t">
            <a:noAutofit/>
          </a:bodyPr>
          <a:lstStyle/>
          <a:p>
            <a:pPr marR="0" lvl="0" algn="l" defTabSz="914400" rtl="0" eaLnBrk="0" fontAlgn="base" latinLnBrk="0" hangingPunct="0">
              <a:lnSpc>
                <a:spcPct val="100000"/>
              </a:lnSpc>
              <a:spcBef>
                <a:spcPct val="0"/>
              </a:spcBef>
              <a:spcAft>
                <a:spcPct val="0"/>
              </a:spcAft>
              <a:buClrTx/>
              <a:buSzTx/>
            </a:pPr>
            <a:r>
              <a:rPr b="1" dirty="0">
                <a:solidFill>
                  <a:srgbClr val="464646"/>
                </a:solidFill>
                <a:latin typeface="Calibri" panose="020F0502020204030204" charset="0"/>
                <a:cs typeface="Calibri" panose="020F0502020204030204" charset="0"/>
              </a:rPr>
              <a:t>Key Insight</a:t>
            </a:r>
            <a:endParaRPr lang="en-IN" b="1" dirty="0">
              <a:solidFill>
                <a:srgbClr val="464646"/>
              </a:solidFill>
              <a:latin typeface="Calibri" panose="020F0502020204030204" charset="0"/>
              <a:cs typeface="Calibri" panose="020F0502020204030204" charset="0"/>
            </a:endParaRPr>
          </a:p>
          <a:p>
            <a:pPr marR="0" lvl="0" algn="l" defTabSz="914400" rtl="0" eaLnBrk="0" fontAlgn="base" latinLnBrk="0" hangingPunct="0">
              <a:lnSpc>
                <a:spcPct val="100000"/>
              </a:lnSpc>
              <a:spcBef>
                <a:spcPct val="0"/>
              </a:spcBef>
              <a:spcAft>
                <a:spcPct val="0"/>
              </a:spcAft>
              <a:buClrTx/>
              <a:buSzTx/>
            </a:pPr>
            <a:endParaRPr lang="en-IN" sz="1500" b="1" dirty="0">
              <a:solidFill>
                <a:srgbClr val="464646"/>
              </a:solidFill>
              <a:latin typeface="Calibri" panose="020F0502020204030204" charset="0"/>
              <a:cs typeface="Calibri" panose="020F050202020403020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GB" sz="1600" b="0" dirty="0">
                <a:solidFill>
                  <a:srgbClr val="464646"/>
                </a:solidFill>
                <a:latin typeface="Calibri" panose="020F0502020204030204" charset="0"/>
                <a:cs typeface="Calibri" panose="020F0502020204030204" charset="0"/>
              </a:rPr>
              <a:t>High priority leads: 35,549 tickets (36.5%) have high priority.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GB" sz="1600" b="0" dirty="0">
                <a:solidFill>
                  <a:srgbClr val="464646"/>
                </a:solidFill>
                <a:latin typeface="Calibri" panose="020F0502020204030204" charset="0"/>
                <a:cs typeface="Calibri" panose="020F0502020204030204" charset="0"/>
              </a:rPr>
              <a:t>Unassigned tickets remain significant: 29,410 tickets (30.2%) have no priority assigned.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GB" sz="1600" b="0" dirty="0">
                <a:solidFill>
                  <a:srgbClr val="464646"/>
                </a:solidFill>
                <a:latin typeface="Calibri" panose="020F0502020204030204" charset="0"/>
                <a:cs typeface="Calibri" panose="020F0502020204030204" charset="0"/>
              </a:rPr>
              <a:t>High + Unassigned account for 66.6% of all tickets, showing a strong concentration in these two groups. </a:t>
            </a:r>
            <a:endParaRPr sz="1600" b="0" dirty="0">
              <a:solidFill>
                <a:srgbClr val="464646"/>
              </a:solidFill>
              <a:latin typeface="Calibri" panose="020F0502020204030204" charset="0"/>
              <a:cs typeface="Calibri" panose="020F0502020204030204" charset="0"/>
            </a:endParaRPr>
          </a:p>
        </p:txBody>
      </p:sp>
      <p:cxnSp>
        <p:nvCxnSpPr>
          <p:cNvPr id="5" name="Connector: Elbow 4">
            <a:extLst>
              <a:ext uri="{FF2B5EF4-FFF2-40B4-BE49-F238E27FC236}">
                <a16:creationId xmlns:a16="http://schemas.microsoft.com/office/drawing/2014/main" id="{C9DF98E1-B80C-D03B-DE0A-140FAC843929}"/>
              </a:ext>
            </a:extLst>
          </p:cNvPr>
          <p:cNvCxnSpPr/>
          <p:nvPr/>
        </p:nvCxnSpPr>
        <p:spPr>
          <a:xfrm>
            <a:off x="6096000" y="2571237"/>
            <a:ext cx="914400" cy="914400"/>
          </a:xfrm>
          <a:prstGeom prst="bentConnector3">
            <a:avLst/>
          </a:prstGeom>
          <a:ln>
            <a:tailEnd type="triangle"/>
          </a:ln>
        </p:spPr>
        <p:style>
          <a:lnRef idx="2">
            <a:schemeClr val="accent5"/>
          </a:lnRef>
          <a:fillRef idx="0">
            <a:schemeClr val="accent5"/>
          </a:fillRef>
          <a:effectRef idx="1">
            <a:schemeClr val="accent5"/>
          </a:effectRef>
          <a:fontRef idx="minor">
            <a:schemeClr val="tx1"/>
          </a:fontRef>
        </p:style>
      </p:cxnSp>
      <p:pic>
        <p:nvPicPr>
          <p:cNvPr id="8" name="Picture 7">
            <a:extLst>
              <a:ext uri="{FF2B5EF4-FFF2-40B4-BE49-F238E27FC236}">
                <a16:creationId xmlns:a16="http://schemas.microsoft.com/office/drawing/2014/main" id="{A87C6538-CD18-7E41-E945-B94666CB4063}"/>
              </a:ext>
            </a:extLst>
          </p:cNvPr>
          <p:cNvPicPr>
            <a:picLocks noChangeAspect="1"/>
          </p:cNvPicPr>
          <p:nvPr/>
        </p:nvPicPr>
        <p:blipFill>
          <a:blip r:embed="rId2"/>
          <a:stretch>
            <a:fillRect/>
          </a:stretch>
        </p:blipFill>
        <p:spPr>
          <a:xfrm>
            <a:off x="690723" y="1904206"/>
            <a:ext cx="5405277" cy="2696210"/>
          </a:xfrm>
          <a:prstGeom prst="rect">
            <a:avLst/>
          </a:prstGeom>
        </p:spPr>
      </p:pic>
    </p:spTree>
    <p:extLst>
      <p:ext uri="{BB962C8B-B14F-4D97-AF65-F5344CB8AC3E}">
        <p14:creationId xmlns:p14="http://schemas.microsoft.com/office/powerpoint/2010/main" val="2215817756"/>
      </p:ext>
    </p:extLst>
  </p:cSld>
  <p:clrMapOvr>
    <a:masterClrMapping/>
  </p:clrMapOvr>
  <p:transition spd="slow">
    <p:cover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E251A1B-AED1-809F-5DEC-89D9E9834728}"/>
              </a:ext>
            </a:extLst>
          </p:cNvPr>
          <p:cNvSpPr txBox="1"/>
          <p:nvPr/>
        </p:nvSpPr>
        <p:spPr>
          <a:xfrm>
            <a:off x="152661" y="561209"/>
            <a:ext cx="4866112" cy="474345"/>
          </a:xfrm>
          <a:prstGeom prst="rect">
            <a:avLst/>
          </a:prstGeom>
        </p:spPr>
        <p:txBody>
          <a:bodyPr vert="horz" wrap="square" lIns="0" tIns="12700" rIns="0" bIns="0" rtlCol="0">
            <a:spAutoFit/>
          </a:bodyPr>
          <a:lstStyle>
            <a:lvl1pPr>
              <a:defRPr>
                <a:latin typeface="+mj-lt"/>
                <a:ea typeface="+mj-ea"/>
                <a:cs typeface="+mj-cs"/>
              </a:defRPr>
            </a:lvl1pPr>
          </a:lstStyle>
          <a:p>
            <a:pPr algn="ctr" rtl="0">
              <a:defRPr sz="2130" b="1" i="0" u="none" strike="noStrike" kern="1200" baseline="0">
                <a:solidFill>
                  <a:prstClr val="black">
                    <a:lumMod val="65000"/>
                    <a:lumOff val="35000"/>
                  </a:prstClr>
                </a:solidFill>
                <a:latin typeface="+mn-lt"/>
                <a:ea typeface="+mn-ea"/>
                <a:cs typeface="+mn-cs"/>
              </a:defRPr>
            </a:pPr>
            <a:r>
              <a:rPr lang="en-IN" sz="3000" dirty="0">
                <a:solidFill>
                  <a:schemeClr val="accent4">
                    <a:lumMod val="50000"/>
                  </a:schemeClr>
                </a:solidFill>
                <a:latin typeface="Calibri" panose="020F0502020204030204" charset="0"/>
                <a:cs typeface="Calibri" panose="020F0502020204030204" charset="0"/>
              </a:rPr>
              <a:t>Severity Wise Ticket Volume</a:t>
            </a:r>
          </a:p>
        </p:txBody>
      </p:sp>
      <p:sp>
        <p:nvSpPr>
          <p:cNvPr id="3" name="object 3">
            <a:extLst>
              <a:ext uri="{FF2B5EF4-FFF2-40B4-BE49-F238E27FC236}">
                <a16:creationId xmlns:a16="http://schemas.microsoft.com/office/drawing/2014/main" id="{C3813C7D-52EA-4A65-9AE6-81C06236887F}"/>
              </a:ext>
            </a:extLst>
          </p:cNvPr>
          <p:cNvSpPr/>
          <p:nvPr/>
        </p:nvSpPr>
        <p:spPr>
          <a:xfrm flipV="1">
            <a:off x="457200" y="989965"/>
            <a:ext cx="4331335" cy="762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
        <p:nvSpPr>
          <p:cNvPr id="4" name="TextBox 3">
            <a:extLst>
              <a:ext uri="{FF2B5EF4-FFF2-40B4-BE49-F238E27FC236}">
                <a16:creationId xmlns:a16="http://schemas.microsoft.com/office/drawing/2014/main" id="{FDA3AB8D-650F-0754-81EF-D39A296F0C6C}"/>
              </a:ext>
            </a:extLst>
          </p:cNvPr>
          <p:cNvSpPr txBox="1"/>
          <p:nvPr/>
        </p:nvSpPr>
        <p:spPr>
          <a:xfrm>
            <a:off x="7010400" y="1904206"/>
            <a:ext cx="4170680" cy="2696210"/>
          </a:xfrm>
          <a:prstGeom prst="rect">
            <a:avLst/>
          </a:prstGeom>
          <a:solidFill>
            <a:schemeClr val="accent4">
              <a:lumMod val="20000"/>
              <a:lumOff val="80000"/>
            </a:schemeClr>
          </a:solidFill>
          <a:ln w="19050">
            <a:solidFill>
              <a:schemeClr val="accent4">
                <a:lumMod val="50000"/>
              </a:schemeClr>
            </a:solidFill>
          </a:ln>
        </p:spPr>
        <p:txBody>
          <a:bodyPr wrap="square" rtlCol="0" anchor="t">
            <a:noAutofit/>
          </a:bodyPr>
          <a:lstStyle/>
          <a:p>
            <a:pPr marL="0" marR="0" lvl="0" indent="0" algn="l" defTabSz="914400" rtl="0" eaLnBrk="0" fontAlgn="base" latinLnBrk="0" hangingPunct="0">
              <a:lnSpc>
                <a:spcPct val="100000"/>
              </a:lnSpc>
              <a:spcBef>
                <a:spcPct val="0"/>
              </a:spcBef>
              <a:spcAft>
                <a:spcPct val="0"/>
              </a:spcAft>
              <a:buClrTx/>
              <a:buSzTx/>
            </a:pPr>
            <a:r>
              <a:rPr b="1" dirty="0">
                <a:solidFill>
                  <a:srgbClr val="464646"/>
                </a:solidFill>
                <a:latin typeface="Calibri" panose="020F0502020204030204" charset="0"/>
                <a:cs typeface="Calibri" panose="020F0502020204030204" charset="0"/>
              </a:rPr>
              <a:t>Key Insight</a:t>
            </a:r>
            <a:r>
              <a:rPr sz="1500" b="1" dirty="0">
                <a:solidFill>
                  <a:srgbClr val="464646"/>
                </a:solidFill>
                <a:latin typeface="Calibri" panose="020F0502020204030204" charset="0"/>
                <a:cs typeface="Calibri" panose="020F0502020204030204" charset="0"/>
              </a:rPr>
              <a:t>
</a:t>
            </a:r>
            <a:r>
              <a:rPr sz="1500" b="0" dirty="0">
                <a:solidFill>
                  <a:srgbClr val="464646"/>
                </a:solidFill>
                <a:latin typeface="Aptos"/>
              </a:rPr>
              <a:t>•</a:t>
            </a:r>
            <a:r>
              <a:rPr sz="1600" b="0" dirty="0">
                <a:solidFill>
                  <a:srgbClr val="464646"/>
                </a:solidFill>
                <a:latin typeface="Calibri" panose="020F0502020204030204" charset="0"/>
                <a:cs typeface="Calibri" panose="020F0502020204030204" charset="0"/>
              </a:rPr>
              <a:t> Normal severity dominates: 88,656 tickets (90.93%).
• Major + Urgent account for 6,228 tickets (6.39%).
• Urgent is only 1,392 tickets (1.43%).
• 356 tickets (0.37%) are Unclassified, indicating a small triage-quality gap.</a:t>
            </a:r>
          </a:p>
        </p:txBody>
      </p:sp>
      <p:cxnSp>
        <p:nvCxnSpPr>
          <p:cNvPr id="5" name="Connector: Elbow 4">
            <a:extLst>
              <a:ext uri="{FF2B5EF4-FFF2-40B4-BE49-F238E27FC236}">
                <a16:creationId xmlns:a16="http://schemas.microsoft.com/office/drawing/2014/main" id="{86A1C204-0476-611D-3642-0C9B6ADC827E}"/>
              </a:ext>
            </a:extLst>
          </p:cNvPr>
          <p:cNvCxnSpPr/>
          <p:nvPr/>
        </p:nvCxnSpPr>
        <p:spPr>
          <a:xfrm>
            <a:off x="6096000" y="2571237"/>
            <a:ext cx="914400" cy="914400"/>
          </a:xfrm>
          <a:prstGeom prst="bentConnector3">
            <a:avLst/>
          </a:prstGeom>
          <a:ln>
            <a:tailEnd type="triangle"/>
          </a:ln>
        </p:spPr>
        <p:style>
          <a:lnRef idx="2">
            <a:schemeClr val="accent5"/>
          </a:lnRef>
          <a:fillRef idx="0">
            <a:schemeClr val="accent5"/>
          </a:fillRef>
          <a:effectRef idx="1">
            <a:schemeClr val="accent5"/>
          </a:effectRef>
          <a:fontRef idx="minor">
            <a:schemeClr val="tx1"/>
          </a:fontRef>
        </p:style>
      </p:cxnSp>
      <p:pic>
        <p:nvPicPr>
          <p:cNvPr id="6" name="Picture 5">
            <a:extLst>
              <a:ext uri="{FF2B5EF4-FFF2-40B4-BE49-F238E27FC236}">
                <a16:creationId xmlns:a16="http://schemas.microsoft.com/office/drawing/2014/main" id="{498E6D6A-CBC0-9F4C-0DD8-5F7C1B438356}"/>
              </a:ext>
            </a:extLst>
          </p:cNvPr>
          <p:cNvPicPr>
            <a:picLocks noChangeAspect="1"/>
          </p:cNvPicPr>
          <p:nvPr/>
        </p:nvPicPr>
        <p:blipFill>
          <a:blip r:embed="rId2"/>
          <a:stretch>
            <a:fillRect/>
          </a:stretch>
        </p:blipFill>
        <p:spPr>
          <a:xfrm>
            <a:off x="1010919" y="2132804"/>
            <a:ext cx="5085081" cy="2209801"/>
          </a:xfrm>
          <a:prstGeom prst="rect">
            <a:avLst/>
          </a:prstGeom>
        </p:spPr>
      </p:pic>
    </p:spTree>
    <p:extLst>
      <p:ext uri="{BB962C8B-B14F-4D97-AF65-F5344CB8AC3E}">
        <p14:creationId xmlns:p14="http://schemas.microsoft.com/office/powerpoint/2010/main" val="3777873385"/>
      </p:ext>
    </p:extLst>
  </p:cSld>
  <p:clrMapOvr>
    <a:masterClrMapping/>
  </p:clrMapOvr>
  <p:transition spd="slow">
    <p:cover dir="d"/>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7" name="object 38"/>
          <p:cNvGrpSpPr/>
          <p:nvPr/>
        </p:nvGrpSpPr>
        <p:grpSpPr>
          <a:xfrm>
            <a:off x="8001000" y="1751964"/>
            <a:ext cx="3859530" cy="2895441"/>
            <a:chOff x="6095999" y="4314824"/>
            <a:chExt cx="2800350" cy="914400"/>
          </a:xfrm>
        </p:grpSpPr>
        <p:sp>
          <p:nvSpPr>
            <p:cNvPr id="38" name="object 39"/>
            <p:cNvSpPr/>
            <p:nvPr/>
          </p:nvSpPr>
          <p:spPr>
            <a:xfrm>
              <a:off x="6095999" y="4314824"/>
              <a:ext cx="2800350" cy="914400"/>
            </a:xfrm>
            <a:custGeom>
              <a:avLst/>
              <a:gdLst/>
              <a:ahLst/>
              <a:cxnLst/>
              <a:rect l="l" t="t" r="r" b="b"/>
              <a:pathLst>
                <a:path w="2800350" h="914400">
                  <a:moveTo>
                    <a:pt x="2800349" y="914399"/>
                  </a:moveTo>
                  <a:lnTo>
                    <a:pt x="0" y="914399"/>
                  </a:lnTo>
                  <a:lnTo>
                    <a:pt x="0" y="0"/>
                  </a:lnTo>
                  <a:lnTo>
                    <a:pt x="2800349" y="0"/>
                  </a:lnTo>
                  <a:lnTo>
                    <a:pt x="2800349" y="914399"/>
                  </a:lnTo>
                  <a:close/>
                </a:path>
              </a:pathLst>
            </a:custGeom>
            <a:solidFill>
              <a:schemeClr val="accent4">
                <a:lumMod val="20000"/>
                <a:lumOff val="80000"/>
              </a:schemeClr>
            </a:solidFill>
          </p:spPr>
          <p:txBody>
            <a:bodyPr wrap="square" lIns="0" tIns="0" rIns="0" bIns="0" rtlCol="0"/>
            <a:lstStyle/>
            <a:p>
              <a:endParaRPr dirty="0">
                <a:solidFill>
                  <a:schemeClr val="accent4">
                    <a:lumMod val="50000"/>
                  </a:schemeClr>
                </a:solidFill>
                <a:latin typeface="+mj-lt"/>
              </a:endParaRPr>
            </a:p>
          </p:txBody>
        </p:sp>
        <p:sp>
          <p:nvSpPr>
            <p:cNvPr id="39" name="object 40"/>
            <p:cNvSpPr/>
            <p:nvPr/>
          </p:nvSpPr>
          <p:spPr>
            <a:xfrm>
              <a:off x="6095999" y="4314824"/>
              <a:ext cx="28575" cy="914400"/>
            </a:xfrm>
            <a:custGeom>
              <a:avLst/>
              <a:gdLst/>
              <a:ahLst/>
              <a:cxnLst/>
              <a:rect l="l" t="t" r="r" b="b"/>
              <a:pathLst>
                <a:path w="28575" h="914400">
                  <a:moveTo>
                    <a:pt x="28574" y="914399"/>
                  </a:moveTo>
                  <a:lnTo>
                    <a:pt x="0" y="914399"/>
                  </a:lnTo>
                  <a:lnTo>
                    <a:pt x="0" y="0"/>
                  </a:lnTo>
                  <a:lnTo>
                    <a:pt x="28574" y="0"/>
                  </a:lnTo>
                  <a:lnTo>
                    <a:pt x="28574" y="914399"/>
                  </a:lnTo>
                  <a:close/>
                </a:path>
              </a:pathLst>
            </a:custGeom>
            <a:solidFill>
              <a:schemeClr val="accent4">
                <a:lumMod val="50000"/>
              </a:schemeClr>
            </a:solidFill>
          </p:spPr>
          <p:txBody>
            <a:bodyPr wrap="square" lIns="0" tIns="0" rIns="0" bIns="0" rtlCol="0"/>
            <a:lstStyle/>
            <a:p>
              <a:endParaRPr dirty="0">
                <a:solidFill>
                  <a:schemeClr val="accent4">
                    <a:lumMod val="50000"/>
                  </a:schemeClr>
                </a:solidFill>
                <a:latin typeface="+mj-lt"/>
              </a:endParaRPr>
            </a:p>
          </p:txBody>
        </p:sp>
      </p:grpSp>
      <p:grpSp>
        <p:nvGrpSpPr>
          <p:cNvPr id="19" name="object 19"/>
          <p:cNvGrpSpPr/>
          <p:nvPr/>
        </p:nvGrpSpPr>
        <p:grpSpPr>
          <a:xfrm>
            <a:off x="457118" y="5409411"/>
            <a:ext cx="8513527" cy="1292736"/>
            <a:chOff x="385762" y="7034211"/>
            <a:chExt cx="11420462" cy="933451"/>
          </a:xfrm>
          <a:solidFill>
            <a:schemeClr val="accent4">
              <a:lumMod val="20000"/>
              <a:lumOff val="80000"/>
            </a:schemeClr>
          </a:solidFill>
        </p:grpSpPr>
        <p:sp>
          <p:nvSpPr>
            <p:cNvPr id="20" name="object 20"/>
            <p:cNvSpPr/>
            <p:nvPr/>
          </p:nvSpPr>
          <p:spPr>
            <a:xfrm>
              <a:off x="385762" y="7034211"/>
              <a:ext cx="2276475" cy="933450"/>
            </a:xfrm>
            <a:custGeom>
              <a:avLst/>
              <a:gdLst/>
              <a:ahLst/>
              <a:cxnLst/>
              <a:rect l="l" t="t" r="r" b="b"/>
              <a:pathLst>
                <a:path w="2276475" h="933450">
                  <a:moveTo>
                    <a:pt x="2247558" y="933449"/>
                  </a:moveTo>
                  <a:lnTo>
                    <a:pt x="28916" y="933449"/>
                  </a:lnTo>
                  <a:lnTo>
                    <a:pt x="24664" y="932603"/>
                  </a:lnTo>
                  <a:lnTo>
                    <a:pt x="0" y="904532"/>
                  </a:lnTo>
                  <a:lnTo>
                    <a:pt x="0" y="900112"/>
                  </a:lnTo>
                  <a:lnTo>
                    <a:pt x="0" y="28916"/>
                  </a:lnTo>
                  <a:lnTo>
                    <a:pt x="28916" y="0"/>
                  </a:lnTo>
                  <a:lnTo>
                    <a:pt x="2247558" y="0"/>
                  </a:lnTo>
                  <a:lnTo>
                    <a:pt x="2276474" y="28916"/>
                  </a:lnTo>
                  <a:lnTo>
                    <a:pt x="2276474" y="904532"/>
                  </a:lnTo>
                  <a:lnTo>
                    <a:pt x="2251810" y="932603"/>
                  </a:lnTo>
                  <a:lnTo>
                    <a:pt x="2247558" y="933449"/>
                  </a:lnTo>
                  <a:close/>
                </a:path>
              </a:pathLst>
            </a:custGeom>
            <a:grpFill/>
          </p:spPr>
          <p:txBody>
            <a:bodyPr wrap="square" lIns="0" tIns="0" rIns="0" bIns="0" rtlCol="0"/>
            <a:lstStyle/>
            <a:p>
              <a:endParaRPr sz="3200">
                <a:solidFill>
                  <a:schemeClr val="accent4">
                    <a:lumMod val="50000"/>
                  </a:schemeClr>
                </a:solidFill>
                <a:latin typeface="+mj-lt"/>
              </a:endParaRPr>
            </a:p>
          </p:txBody>
        </p:sp>
        <p:sp>
          <p:nvSpPr>
            <p:cNvPr id="21" name="object 21"/>
            <p:cNvSpPr/>
            <p:nvPr/>
          </p:nvSpPr>
          <p:spPr>
            <a:xfrm>
              <a:off x="2671749" y="7034212"/>
              <a:ext cx="9134475" cy="933450"/>
            </a:xfrm>
            <a:custGeom>
              <a:avLst/>
              <a:gdLst/>
              <a:ahLst/>
              <a:cxnLst/>
              <a:rect l="l" t="t" r="r" b="b"/>
              <a:pathLst>
                <a:path w="9134475" h="933450">
                  <a:moveTo>
                    <a:pt x="2276475" y="28917"/>
                  </a:moveTo>
                  <a:lnTo>
                    <a:pt x="2247569" y="0"/>
                  </a:lnTo>
                  <a:lnTo>
                    <a:pt x="28917" y="0"/>
                  </a:lnTo>
                  <a:lnTo>
                    <a:pt x="0" y="28917"/>
                  </a:lnTo>
                  <a:lnTo>
                    <a:pt x="0" y="900112"/>
                  </a:lnTo>
                  <a:lnTo>
                    <a:pt x="0" y="904532"/>
                  </a:lnTo>
                  <a:lnTo>
                    <a:pt x="28917" y="933450"/>
                  </a:lnTo>
                  <a:lnTo>
                    <a:pt x="2247569" y="933450"/>
                  </a:lnTo>
                  <a:lnTo>
                    <a:pt x="2276475" y="904532"/>
                  </a:lnTo>
                  <a:lnTo>
                    <a:pt x="2276475" y="28917"/>
                  </a:lnTo>
                  <a:close/>
                </a:path>
                <a:path w="9134475" h="933450">
                  <a:moveTo>
                    <a:pt x="4562475" y="28917"/>
                  </a:moveTo>
                  <a:lnTo>
                    <a:pt x="4533557" y="0"/>
                  </a:lnTo>
                  <a:lnTo>
                    <a:pt x="2314918" y="0"/>
                  </a:lnTo>
                  <a:lnTo>
                    <a:pt x="2286000" y="28917"/>
                  </a:lnTo>
                  <a:lnTo>
                    <a:pt x="2286000" y="900112"/>
                  </a:lnTo>
                  <a:lnTo>
                    <a:pt x="2286000" y="904532"/>
                  </a:lnTo>
                  <a:lnTo>
                    <a:pt x="2314918" y="933450"/>
                  </a:lnTo>
                  <a:lnTo>
                    <a:pt x="4533557" y="933450"/>
                  </a:lnTo>
                  <a:lnTo>
                    <a:pt x="4562475" y="904532"/>
                  </a:lnTo>
                  <a:lnTo>
                    <a:pt x="4562475" y="28917"/>
                  </a:lnTo>
                  <a:close/>
                </a:path>
                <a:path w="9134475" h="933450">
                  <a:moveTo>
                    <a:pt x="6848475" y="28917"/>
                  </a:moveTo>
                  <a:lnTo>
                    <a:pt x="6819557" y="0"/>
                  </a:lnTo>
                  <a:lnTo>
                    <a:pt x="4600918" y="0"/>
                  </a:lnTo>
                  <a:lnTo>
                    <a:pt x="4572000" y="28917"/>
                  </a:lnTo>
                  <a:lnTo>
                    <a:pt x="4572000" y="900112"/>
                  </a:lnTo>
                  <a:lnTo>
                    <a:pt x="4572000" y="904532"/>
                  </a:lnTo>
                  <a:lnTo>
                    <a:pt x="4600918" y="933450"/>
                  </a:lnTo>
                  <a:lnTo>
                    <a:pt x="6819557" y="933450"/>
                  </a:lnTo>
                  <a:lnTo>
                    <a:pt x="6848475" y="904532"/>
                  </a:lnTo>
                  <a:lnTo>
                    <a:pt x="6848475" y="28917"/>
                  </a:lnTo>
                  <a:close/>
                </a:path>
                <a:path w="9134475" h="933450">
                  <a:moveTo>
                    <a:pt x="9134475" y="28917"/>
                  </a:moveTo>
                  <a:lnTo>
                    <a:pt x="9105557" y="0"/>
                  </a:lnTo>
                  <a:lnTo>
                    <a:pt x="6886918" y="0"/>
                  </a:lnTo>
                  <a:lnTo>
                    <a:pt x="6858000" y="28917"/>
                  </a:lnTo>
                  <a:lnTo>
                    <a:pt x="6858000" y="900112"/>
                  </a:lnTo>
                  <a:lnTo>
                    <a:pt x="6858000" y="904532"/>
                  </a:lnTo>
                  <a:lnTo>
                    <a:pt x="6886918" y="933450"/>
                  </a:lnTo>
                  <a:lnTo>
                    <a:pt x="9105557" y="933450"/>
                  </a:lnTo>
                  <a:lnTo>
                    <a:pt x="9134475" y="904532"/>
                  </a:lnTo>
                  <a:lnTo>
                    <a:pt x="9134475" y="28917"/>
                  </a:lnTo>
                  <a:close/>
                </a:path>
              </a:pathLst>
            </a:custGeom>
            <a:grpFill/>
          </p:spPr>
          <p:txBody>
            <a:bodyPr wrap="square" lIns="0" tIns="0" rIns="0" bIns="0" rtlCol="0"/>
            <a:lstStyle/>
            <a:p>
              <a:endParaRPr sz="3200">
                <a:solidFill>
                  <a:schemeClr val="accent4">
                    <a:lumMod val="50000"/>
                  </a:schemeClr>
                </a:solidFill>
                <a:latin typeface="+mj-lt"/>
              </a:endParaRPr>
            </a:p>
          </p:txBody>
        </p:sp>
      </p:grpSp>
      <p:sp>
        <p:nvSpPr>
          <p:cNvPr id="2" name="object 2"/>
          <p:cNvSpPr txBox="1">
            <a:spLocks noGrp="1"/>
          </p:cNvSpPr>
          <p:nvPr>
            <p:ph type="title"/>
          </p:nvPr>
        </p:nvSpPr>
        <p:spPr>
          <a:xfrm>
            <a:off x="-76200" y="456573"/>
            <a:ext cx="5244465" cy="474345"/>
          </a:xfrm>
          <a:prstGeom prst="rect">
            <a:avLst/>
          </a:prstGeom>
        </p:spPr>
        <p:txBody>
          <a:bodyPr vert="horz" wrap="square" lIns="0" tIns="12700" rIns="0" bIns="0" rtlCol="0">
            <a:spAutoFit/>
          </a:bodyPr>
          <a:lstStyle/>
          <a:p>
            <a:pPr marL="12700" algn="ctr">
              <a:lnSpc>
                <a:spcPct val="100000"/>
              </a:lnSpc>
              <a:spcBef>
                <a:spcPts val="100"/>
              </a:spcBef>
            </a:pPr>
            <a:r>
              <a:rPr lang="en-IN" sz="3000" dirty="0">
                <a:solidFill>
                  <a:schemeClr val="accent4">
                    <a:lumMod val="50000"/>
                  </a:schemeClr>
                </a:solidFill>
                <a:latin typeface="Calibri" panose="020F0502020204030204" charset="0"/>
                <a:cs typeface="Calibri" panose="020F0502020204030204" charset="0"/>
              </a:rPr>
              <a:t>Ticket Volume Over Time</a:t>
            </a:r>
          </a:p>
        </p:txBody>
      </p:sp>
      <p:sp>
        <p:nvSpPr>
          <p:cNvPr id="18" name="object 18"/>
          <p:cNvSpPr txBox="1"/>
          <p:nvPr/>
        </p:nvSpPr>
        <p:spPr>
          <a:xfrm>
            <a:off x="10141" y="5067802"/>
            <a:ext cx="3381064" cy="289560"/>
          </a:xfrm>
          <a:prstGeom prst="rect">
            <a:avLst/>
          </a:prstGeom>
        </p:spPr>
        <p:txBody>
          <a:bodyPr vert="horz" wrap="square" lIns="0" tIns="12700" rIns="0" bIns="0" rtlCol="0">
            <a:spAutoFit/>
          </a:bodyPr>
          <a:lstStyle/>
          <a:p>
            <a:pPr marL="12700" algn="ctr">
              <a:lnSpc>
                <a:spcPct val="100000"/>
              </a:lnSpc>
              <a:spcBef>
                <a:spcPts val="100"/>
              </a:spcBef>
            </a:pPr>
            <a:r>
              <a:rPr lang="en-IN" b="1" dirty="0">
                <a:solidFill>
                  <a:schemeClr val="accent4">
                    <a:lumMod val="50000"/>
                  </a:schemeClr>
                </a:solidFill>
                <a:latin typeface="Calibri" panose="020F0502020204030204" charset="0"/>
                <a:cs typeface="Calibri" panose="020F0502020204030204" charset="0"/>
              </a:rPr>
              <a:t>Year-wise Ticket Volume</a:t>
            </a:r>
          </a:p>
        </p:txBody>
      </p:sp>
      <p:sp>
        <p:nvSpPr>
          <p:cNvPr id="4" name="TextBox 3"/>
          <p:cNvSpPr txBox="1"/>
          <p:nvPr/>
        </p:nvSpPr>
        <p:spPr>
          <a:xfrm>
            <a:off x="609388" y="5653246"/>
            <a:ext cx="1295401" cy="583565"/>
          </a:xfrm>
          <a:prstGeom prst="rect">
            <a:avLst/>
          </a:prstGeom>
          <a:noFill/>
        </p:spPr>
        <p:txBody>
          <a:bodyPr wrap="square" rtlCol="0">
            <a:spAutoFit/>
          </a:bodyPr>
          <a:lstStyle/>
          <a:p>
            <a:pPr algn="ctr"/>
            <a:r>
              <a:rPr lang="en-US" sz="1600" b="1" dirty="0">
                <a:solidFill>
                  <a:schemeClr val="accent4">
                    <a:lumMod val="50000"/>
                  </a:schemeClr>
                </a:solidFill>
                <a:latin typeface="Calibri" panose="020F0502020204030204" charset="0"/>
                <a:cs typeface="Calibri" panose="020F0502020204030204" charset="0"/>
              </a:rPr>
              <a:t>13,051</a:t>
            </a:r>
          </a:p>
          <a:p>
            <a:pPr algn="ctr"/>
            <a:r>
              <a:rPr lang="en-US" sz="1600" dirty="0">
                <a:solidFill>
                  <a:schemeClr val="accent4">
                    <a:lumMod val="50000"/>
                  </a:schemeClr>
                </a:solidFill>
                <a:latin typeface="Calibri" panose="020F0502020204030204" charset="0"/>
                <a:cs typeface="Calibri" panose="020F0502020204030204" charset="0"/>
              </a:rPr>
              <a:t>2016</a:t>
            </a:r>
            <a:endParaRPr lang="en-IN" sz="1600" dirty="0">
              <a:solidFill>
                <a:schemeClr val="accent4">
                  <a:lumMod val="50000"/>
                </a:schemeClr>
              </a:solidFill>
              <a:latin typeface="Calibri" panose="020F0502020204030204" charset="0"/>
              <a:cs typeface="Calibri" panose="020F0502020204030204" charset="0"/>
            </a:endParaRPr>
          </a:p>
        </p:txBody>
      </p:sp>
      <p:sp>
        <p:nvSpPr>
          <p:cNvPr id="12" name="TextBox 11"/>
          <p:cNvSpPr txBox="1"/>
          <p:nvPr/>
        </p:nvSpPr>
        <p:spPr>
          <a:xfrm>
            <a:off x="2418447" y="5638006"/>
            <a:ext cx="1295401" cy="829945"/>
          </a:xfrm>
          <a:prstGeom prst="rect">
            <a:avLst/>
          </a:prstGeom>
          <a:noFill/>
        </p:spPr>
        <p:txBody>
          <a:bodyPr wrap="square" rtlCol="0">
            <a:spAutoFit/>
          </a:bodyPr>
          <a:lstStyle/>
          <a:p>
            <a:pPr algn="ctr"/>
            <a:r>
              <a:rPr lang="en-US" sz="1600" b="1" dirty="0">
                <a:solidFill>
                  <a:schemeClr val="accent4">
                    <a:lumMod val="50000"/>
                  </a:schemeClr>
                </a:solidFill>
                <a:latin typeface="Calibri" panose="020F0502020204030204" charset="0"/>
                <a:cs typeface="Calibri" panose="020F0502020204030204" charset="0"/>
              </a:rPr>
              <a:t>14,915</a:t>
            </a:r>
          </a:p>
          <a:p>
            <a:pPr algn="ctr"/>
            <a:r>
              <a:rPr lang="en-US" sz="1600" dirty="0">
                <a:solidFill>
                  <a:schemeClr val="accent4">
                    <a:lumMod val="50000"/>
                  </a:schemeClr>
                </a:solidFill>
                <a:latin typeface="Calibri" panose="020F0502020204030204" charset="0"/>
                <a:cs typeface="Calibri" panose="020F0502020204030204" charset="0"/>
              </a:rPr>
              <a:t>2017</a:t>
            </a:r>
          </a:p>
          <a:p>
            <a:pPr algn="ctr"/>
            <a:r>
              <a:rPr lang="en-US" sz="1600" dirty="0">
                <a:solidFill>
                  <a:schemeClr val="accent4">
                    <a:lumMod val="50000"/>
                  </a:schemeClr>
                </a:solidFill>
                <a:latin typeface="Calibri" panose="020F0502020204030204" charset="0"/>
                <a:cs typeface="Calibri" panose="020F0502020204030204" charset="0"/>
              </a:rPr>
              <a:t>+14.28% YoY</a:t>
            </a:r>
            <a:endParaRPr lang="en-IN" sz="1600" dirty="0">
              <a:solidFill>
                <a:schemeClr val="accent4">
                  <a:lumMod val="50000"/>
                </a:schemeClr>
              </a:solidFill>
              <a:latin typeface="Calibri" panose="020F0502020204030204" charset="0"/>
              <a:cs typeface="Calibri" panose="020F0502020204030204" charset="0"/>
            </a:endParaRPr>
          </a:p>
        </p:txBody>
      </p:sp>
      <p:sp>
        <p:nvSpPr>
          <p:cNvPr id="13" name="TextBox 12"/>
          <p:cNvSpPr txBox="1"/>
          <p:nvPr/>
        </p:nvSpPr>
        <p:spPr>
          <a:xfrm>
            <a:off x="4191221" y="5653446"/>
            <a:ext cx="1295401" cy="829945"/>
          </a:xfrm>
          <a:prstGeom prst="rect">
            <a:avLst/>
          </a:prstGeom>
          <a:noFill/>
        </p:spPr>
        <p:txBody>
          <a:bodyPr wrap="square" rtlCol="0">
            <a:spAutoFit/>
          </a:bodyPr>
          <a:lstStyle/>
          <a:p>
            <a:pPr algn="ctr"/>
            <a:r>
              <a:rPr lang="en-US" sz="1600" b="1" dirty="0">
                <a:solidFill>
                  <a:schemeClr val="accent4">
                    <a:lumMod val="50000"/>
                  </a:schemeClr>
                </a:solidFill>
                <a:latin typeface="Calibri" panose="020F0502020204030204" charset="0"/>
                <a:cs typeface="Calibri" panose="020F0502020204030204" charset="0"/>
              </a:rPr>
              <a:t>18,954</a:t>
            </a:r>
          </a:p>
          <a:p>
            <a:pPr algn="ctr"/>
            <a:r>
              <a:rPr lang="en-US" sz="1600" dirty="0">
                <a:solidFill>
                  <a:schemeClr val="accent4">
                    <a:lumMod val="50000"/>
                  </a:schemeClr>
                </a:solidFill>
                <a:latin typeface="Calibri" panose="020F0502020204030204" charset="0"/>
                <a:cs typeface="Calibri" panose="020F0502020204030204" charset="0"/>
              </a:rPr>
              <a:t>2018</a:t>
            </a:r>
          </a:p>
          <a:p>
            <a:pPr algn="ctr"/>
            <a:r>
              <a:rPr lang="en-US" sz="1600" dirty="0">
                <a:solidFill>
                  <a:schemeClr val="accent4">
                    <a:lumMod val="50000"/>
                  </a:schemeClr>
                </a:solidFill>
                <a:latin typeface="Calibri" panose="020F0502020204030204" charset="0"/>
                <a:cs typeface="Calibri" panose="020F0502020204030204" charset="0"/>
              </a:rPr>
              <a:t>+27.08% YoY</a:t>
            </a:r>
            <a:endParaRPr lang="en-IN" sz="1600" dirty="0">
              <a:solidFill>
                <a:schemeClr val="accent4">
                  <a:lumMod val="50000"/>
                </a:schemeClr>
              </a:solidFill>
              <a:latin typeface="Calibri" panose="020F0502020204030204" charset="0"/>
              <a:cs typeface="Calibri" panose="020F0502020204030204" charset="0"/>
            </a:endParaRPr>
          </a:p>
        </p:txBody>
      </p:sp>
      <p:sp>
        <p:nvSpPr>
          <p:cNvPr id="14" name="TextBox 13"/>
          <p:cNvSpPr txBox="1"/>
          <p:nvPr/>
        </p:nvSpPr>
        <p:spPr>
          <a:xfrm>
            <a:off x="5736582" y="5653246"/>
            <a:ext cx="1295401" cy="829945"/>
          </a:xfrm>
          <a:prstGeom prst="rect">
            <a:avLst/>
          </a:prstGeom>
          <a:noFill/>
        </p:spPr>
        <p:txBody>
          <a:bodyPr wrap="square" rtlCol="0">
            <a:spAutoFit/>
          </a:bodyPr>
          <a:lstStyle/>
          <a:p>
            <a:pPr algn="ctr"/>
            <a:r>
              <a:rPr lang="en-US" sz="1600" b="1" dirty="0">
                <a:solidFill>
                  <a:schemeClr val="accent4">
                    <a:lumMod val="50000"/>
                  </a:schemeClr>
                </a:solidFill>
                <a:latin typeface="Calibri" panose="020F0502020204030204" charset="0"/>
                <a:cs typeface="Calibri" panose="020F0502020204030204" charset="0"/>
              </a:rPr>
              <a:t>21,490</a:t>
            </a:r>
          </a:p>
          <a:p>
            <a:pPr algn="ctr"/>
            <a:r>
              <a:rPr lang="en-US" sz="1600" dirty="0">
                <a:solidFill>
                  <a:schemeClr val="accent4">
                    <a:lumMod val="50000"/>
                  </a:schemeClr>
                </a:solidFill>
                <a:latin typeface="Calibri" panose="020F0502020204030204" charset="0"/>
                <a:cs typeface="Calibri" panose="020F0502020204030204" charset="0"/>
              </a:rPr>
              <a:t>2019</a:t>
            </a:r>
          </a:p>
          <a:p>
            <a:pPr algn="ctr"/>
            <a:r>
              <a:rPr lang="en-US" sz="1600" dirty="0">
                <a:solidFill>
                  <a:schemeClr val="accent4">
                    <a:lumMod val="50000"/>
                  </a:schemeClr>
                </a:solidFill>
                <a:latin typeface="Calibri" panose="020F0502020204030204" charset="0"/>
                <a:cs typeface="Calibri" panose="020F0502020204030204" charset="0"/>
              </a:rPr>
              <a:t>+13.38% YoY</a:t>
            </a:r>
            <a:endParaRPr lang="en-IN" sz="1600" dirty="0">
              <a:solidFill>
                <a:schemeClr val="accent4">
                  <a:lumMod val="50000"/>
                </a:schemeClr>
              </a:solidFill>
              <a:latin typeface="Calibri" panose="020F0502020204030204" charset="0"/>
              <a:cs typeface="Calibri" panose="020F0502020204030204" charset="0"/>
            </a:endParaRPr>
          </a:p>
        </p:txBody>
      </p:sp>
      <p:sp>
        <p:nvSpPr>
          <p:cNvPr id="15" name="TextBox 14"/>
          <p:cNvSpPr txBox="1"/>
          <p:nvPr/>
        </p:nvSpPr>
        <p:spPr>
          <a:xfrm>
            <a:off x="7460063" y="5638006"/>
            <a:ext cx="1295401" cy="829945"/>
          </a:xfrm>
          <a:prstGeom prst="rect">
            <a:avLst/>
          </a:prstGeom>
          <a:noFill/>
        </p:spPr>
        <p:txBody>
          <a:bodyPr wrap="square" rtlCol="0">
            <a:spAutoFit/>
          </a:bodyPr>
          <a:lstStyle/>
          <a:p>
            <a:pPr algn="ctr"/>
            <a:r>
              <a:rPr lang="en-US" sz="1600" b="1" dirty="0">
                <a:solidFill>
                  <a:schemeClr val="accent4">
                    <a:lumMod val="50000"/>
                  </a:schemeClr>
                </a:solidFill>
                <a:latin typeface="Calibri" panose="020F0502020204030204" charset="0"/>
                <a:cs typeface="Calibri" panose="020F0502020204030204" charset="0"/>
              </a:rPr>
              <a:t>29,088</a:t>
            </a:r>
          </a:p>
          <a:p>
            <a:pPr algn="ctr"/>
            <a:r>
              <a:rPr lang="en-US" sz="1600" dirty="0">
                <a:solidFill>
                  <a:schemeClr val="accent4">
                    <a:lumMod val="50000"/>
                  </a:schemeClr>
                </a:solidFill>
                <a:latin typeface="Calibri" panose="020F0502020204030204" charset="0"/>
                <a:cs typeface="Calibri" panose="020F0502020204030204" charset="0"/>
              </a:rPr>
              <a:t>2020</a:t>
            </a:r>
          </a:p>
          <a:p>
            <a:pPr algn="ctr"/>
            <a:r>
              <a:rPr lang="en-US" sz="1600" dirty="0">
                <a:solidFill>
                  <a:schemeClr val="accent4">
                    <a:lumMod val="50000"/>
                  </a:schemeClr>
                </a:solidFill>
                <a:latin typeface="Calibri" panose="020F0502020204030204" charset="0"/>
                <a:cs typeface="Calibri" panose="020F0502020204030204" charset="0"/>
              </a:rPr>
              <a:t>+35.36% YoY</a:t>
            </a:r>
            <a:endParaRPr lang="en-IN" sz="1600" dirty="0">
              <a:solidFill>
                <a:schemeClr val="accent4">
                  <a:lumMod val="50000"/>
                </a:schemeClr>
              </a:solidFill>
              <a:latin typeface="Calibri" panose="020F0502020204030204" charset="0"/>
              <a:cs typeface="Calibri" panose="020F0502020204030204" charset="0"/>
            </a:endParaRPr>
          </a:p>
        </p:txBody>
      </p:sp>
      <p:sp>
        <p:nvSpPr>
          <p:cNvPr id="5" name="Minus Sign 4"/>
          <p:cNvSpPr/>
          <p:nvPr/>
        </p:nvSpPr>
        <p:spPr>
          <a:xfrm rot="5400000">
            <a:off x="1372524" y="6008840"/>
            <a:ext cx="1728000" cy="72000"/>
          </a:xfrm>
          <a:prstGeom prst="mathMinu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9" name="object 12"/>
          <p:cNvSpPr txBox="1"/>
          <p:nvPr/>
        </p:nvSpPr>
        <p:spPr>
          <a:xfrm>
            <a:off x="8153301" y="2209199"/>
            <a:ext cx="3556123" cy="1830070"/>
          </a:xfrm>
          <a:prstGeom prst="rect">
            <a:avLst/>
          </a:prstGeom>
          <a:ln>
            <a:noFill/>
          </a:ln>
        </p:spPr>
        <p:txBody>
          <a:bodyPr vert="horz" wrap="square" lIns="0" tIns="106680" rIns="0" bIns="0" rtlCol="0" anchor="t">
            <a:spAutoFit/>
          </a:bodyPr>
          <a:lstStyle/>
          <a:p>
            <a:pPr marL="114300" algn="l">
              <a:lnSpc>
                <a:spcPct val="100000"/>
              </a:lnSpc>
              <a:spcBef>
                <a:spcPts val="840"/>
              </a:spcBef>
            </a:pPr>
            <a:r>
              <a:rPr sz="1500" b="0" dirty="0">
                <a:solidFill>
                  <a:srgbClr val="464646"/>
                </a:solidFill>
                <a:latin typeface="Aptos"/>
              </a:rPr>
              <a:t>•</a:t>
            </a:r>
            <a:r>
              <a:rPr sz="1600" b="0" dirty="0">
                <a:solidFill>
                  <a:srgbClr val="464646"/>
                </a:solidFill>
                <a:latin typeface="Calibri" panose="020F0502020204030204" charset="0"/>
                <a:cs typeface="Calibri" panose="020F0502020204030204" charset="0"/>
              </a:rPr>
              <a:t> Ticket volume rose from 13,051 in 2016 to 29,088 in 2020.
• This is a 122.9% increase across five years.
• 2020 alone grew 35.36% year over year.
• The trend indicates a need for scalable capacity and stronger ticket triage.</a:t>
            </a:r>
            <a:endParaRPr sz="1600" dirty="0">
              <a:solidFill>
                <a:schemeClr val="accent4">
                  <a:lumMod val="50000"/>
                </a:schemeClr>
              </a:solidFill>
              <a:latin typeface="Calibri" panose="020F0502020204030204" charset="0"/>
              <a:cs typeface="Calibri" panose="020F0502020204030204" charset="0"/>
            </a:endParaRPr>
          </a:p>
        </p:txBody>
      </p:sp>
      <p:sp>
        <p:nvSpPr>
          <p:cNvPr id="30" name="object 11"/>
          <p:cNvSpPr txBox="1"/>
          <p:nvPr/>
        </p:nvSpPr>
        <p:spPr>
          <a:xfrm>
            <a:off x="8229501" y="1801140"/>
            <a:ext cx="1548765" cy="289560"/>
          </a:xfrm>
          <a:prstGeom prst="rect">
            <a:avLst/>
          </a:prstGeom>
        </p:spPr>
        <p:txBody>
          <a:bodyPr vert="horz" wrap="square" lIns="0" tIns="12700" rIns="0" bIns="0" rtlCol="0">
            <a:spAutoFit/>
          </a:bodyPr>
          <a:lstStyle/>
          <a:p>
            <a:pPr marL="12700">
              <a:lnSpc>
                <a:spcPct val="100000"/>
              </a:lnSpc>
              <a:spcBef>
                <a:spcPts val="100"/>
              </a:spcBef>
            </a:pPr>
            <a:r>
              <a:rPr lang="en-IN" sz="1800" b="1" dirty="0">
                <a:solidFill>
                  <a:schemeClr val="accent4">
                    <a:lumMod val="50000"/>
                  </a:schemeClr>
                </a:solidFill>
                <a:latin typeface="Calibri" panose="020F0502020204030204" charset="0"/>
                <a:cs typeface="Calibri" panose="020F0502020204030204" charset="0"/>
              </a:rPr>
              <a:t>Key Insight:</a:t>
            </a:r>
            <a:endParaRPr lang="en-IN" sz="1800" dirty="0">
              <a:solidFill>
                <a:schemeClr val="accent4">
                  <a:lumMod val="50000"/>
                </a:schemeClr>
              </a:solidFill>
              <a:latin typeface="Calibri" panose="020F0502020204030204" charset="0"/>
              <a:cs typeface="Calibri" panose="020F0502020204030204" charset="0"/>
            </a:endParaRPr>
          </a:p>
        </p:txBody>
      </p:sp>
      <p:sp>
        <p:nvSpPr>
          <p:cNvPr id="23" name="Minus Sign 22"/>
          <p:cNvSpPr/>
          <p:nvPr/>
        </p:nvSpPr>
        <p:spPr>
          <a:xfrm rot="5400000">
            <a:off x="3093129" y="6008983"/>
            <a:ext cx="1728000" cy="72000"/>
          </a:xfrm>
          <a:prstGeom prst="mathMinu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24" name="Minus Sign 23"/>
          <p:cNvSpPr/>
          <p:nvPr/>
        </p:nvSpPr>
        <p:spPr>
          <a:xfrm rot="5400000">
            <a:off x="4737160" y="6008840"/>
            <a:ext cx="1728000" cy="72000"/>
          </a:xfrm>
          <a:prstGeom prst="mathMinu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2" name="Minus Sign 31"/>
          <p:cNvSpPr/>
          <p:nvPr/>
        </p:nvSpPr>
        <p:spPr>
          <a:xfrm rot="5400000">
            <a:off x="6453237" y="6008840"/>
            <a:ext cx="1728000" cy="72000"/>
          </a:xfrm>
          <a:prstGeom prst="mathMinu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3" name="Minus Sign 32"/>
          <p:cNvSpPr/>
          <p:nvPr/>
        </p:nvSpPr>
        <p:spPr>
          <a:xfrm rot="5400000">
            <a:off x="-368810" y="6008840"/>
            <a:ext cx="1728000" cy="72000"/>
          </a:xfrm>
          <a:prstGeom prst="mathMinu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4">
                  <a:lumMod val="50000"/>
                </a:schemeClr>
              </a:solidFill>
              <a:latin typeface="+mj-lt"/>
            </a:endParaRPr>
          </a:p>
        </p:txBody>
      </p:sp>
      <p:sp>
        <p:nvSpPr>
          <p:cNvPr id="34" name="object 3"/>
          <p:cNvSpPr/>
          <p:nvPr/>
        </p:nvSpPr>
        <p:spPr>
          <a:xfrm>
            <a:off x="459740" y="961390"/>
            <a:ext cx="4307840" cy="762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cxnSp>
        <p:nvCxnSpPr>
          <p:cNvPr id="11" name="Connector: Elbow 10"/>
          <p:cNvCxnSpPr/>
          <p:nvPr/>
        </p:nvCxnSpPr>
        <p:spPr>
          <a:xfrm>
            <a:off x="7061083" y="2318702"/>
            <a:ext cx="914400" cy="914400"/>
          </a:xfrm>
          <a:prstGeom prst="bentConnector3">
            <a:avLst/>
          </a:prstGeom>
          <a:ln>
            <a:tailEnd type="triangle"/>
          </a:ln>
        </p:spPr>
        <p:style>
          <a:lnRef idx="2">
            <a:schemeClr val="accent5"/>
          </a:lnRef>
          <a:fillRef idx="0">
            <a:schemeClr val="accent5"/>
          </a:fillRef>
          <a:effectRef idx="1">
            <a:schemeClr val="accent5"/>
          </a:effectRef>
          <a:fontRef idx="minor">
            <a:schemeClr val="tx1"/>
          </a:fontRef>
        </p:style>
      </p:cxnSp>
      <p:pic>
        <p:nvPicPr>
          <p:cNvPr id="6" name="Picture 5">
            <a:extLst>
              <a:ext uri="{FF2B5EF4-FFF2-40B4-BE49-F238E27FC236}">
                <a16:creationId xmlns:a16="http://schemas.microsoft.com/office/drawing/2014/main" id="{C6B1C127-F3BA-EA11-2E7A-856B81D3AA72}"/>
              </a:ext>
            </a:extLst>
          </p:cNvPr>
          <p:cNvPicPr>
            <a:picLocks noChangeAspect="1"/>
          </p:cNvPicPr>
          <p:nvPr/>
        </p:nvPicPr>
        <p:blipFill>
          <a:blip r:embed="rId2"/>
          <a:stretch>
            <a:fillRect/>
          </a:stretch>
        </p:blipFill>
        <p:spPr>
          <a:xfrm>
            <a:off x="1368450" y="1751964"/>
            <a:ext cx="5692633" cy="2590642"/>
          </a:xfrm>
          <a:prstGeom prst="rect">
            <a:avLst/>
          </a:prstGeom>
        </p:spPr>
      </p:pic>
    </p:spTree>
  </p:cSld>
  <p:clrMapOvr>
    <a:masterClrMapping/>
  </p:clrMapOvr>
  <p:transition spd="slow">
    <p:cover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xfrm>
            <a:off x="-228600" y="685165"/>
            <a:ext cx="9538335" cy="474345"/>
          </a:xfrm>
          <a:prstGeom prst="rect">
            <a:avLst/>
          </a:prstGeom>
        </p:spPr>
        <p:txBody>
          <a:bodyPr vert="horz" wrap="square" lIns="0" tIns="12700" rIns="0" bIns="0" rtlCol="0">
            <a:spAutoFit/>
          </a:bodyPr>
          <a:lstStyle/>
          <a:p>
            <a:pPr marL="12700" algn="ctr">
              <a:lnSpc>
                <a:spcPct val="100000"/>
              </a:lnSpc>
              <a:spcBef>
                <a:spcPts val="100"/>
              </a:spcBef>
            </a:pPr>
            <a:r>
              <a:rPr lang="en-US" sz="3000" dirty="0">
                <a:solidFill>
                  <a:schemeClr val="accent4">
                    <a:lumMod val="50000"/>
                  </a:schemeClr>
                </a:solidFill>
                <a:latin typeface="Calibri" panose="020F0502020204030204" charset="0"/>
                <a:cs typeface="Calibri" panose="020F0502020204030204" charset="0"/>
              </a:rPr>
              <a:t>Distribution Of Tickets Based On Resolution Time</a:t>
            </a:r>
          </a:p>
        </p:txBody>
      </p:sp>
      <p:sp>
        <p:nvSpPr>
          <p:cNvPr id="7" name="object 3"/>
          <p:cNvSpPr/>
          <p:nvPr/>
        </p:nvSpPr>
        <p:spPr>
          <a:xfrm flipV="1">
            <a:off x="609600" y="1169670"/>
            <a:ext cx="8338820" cy="762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
        <p:nvSpPr>
          <p:cNvPr id="3" name="TextBox 2"/>
          <p:cNvSpPr txBox="1"/>
          <p:nvPr/>
        </p:nvSpPr>
        <p:spPr>
          <a:xfrm>
            <a:off x="5904865" y="1804670"/>
            <a:ext cx="4345940" cy="2881630"/>
          </a:xfrm>
          <a:prstGeom prst="rect">
            <a:avLst/>
          </a:prstGeom>
          <a:solidFill>
            <a:schemeClr val="accent4">
              <a:lumMod val="20000"/>
              <a:lumOff val="80000"/>
            </a:schemeClr>
          </a:solidFill>
          <a:ln w="19050">
            <a:solidFill>
              <a:schemeClr val="accent4">
                <a:lumMod val="50000"/>
              </a:schemeClr>
            </a:solidFill>
          </a:ln>
        </p:spPr>
        <p:txBody>
          <a:bodyPr wrap="square" rtlCol="0" anchor="t">
            <a:noAutofit/>
          </a:bodyPr>
          <a:lstStyle/>
          <a:p>
            <a:pPr algn="l"/>
            <a:r>
              <a:rPr sz="1800" b="1" dirty="0">
                <a:solidFill>
                  <a:srgbClr val="464646"/>
                </a:solidFill>
                <a:latin typeface="Calibri" panose="020F0502020204030204" charset="0"/>
                <a:cs typeface="Calibri" panose="020F0502020204030204" charset="0"/>
              </a:rPr>
              <a:t>Key Insight
</a:t>
            </a:r>
            <a:r>
              <a:rPr sz="1500" b="0" dirty="0">
                <a:solidFill>
                  <a:srgbClr val="464646"/>
                </a:solidFill>
                <a:latin typeface="Aptos"/>
              </a:rPr>
              <a:t>• </a:t>
            </a:r>
            <a:r>
              <a:rPr sz="1600" b="0" dirty="0">
                <a:solidFill>
                  <a:srgbClr val="464646"/>
                </a:solidFill>
                <a:latin typeface="Calibri" panose="020F0502020204030204" charset="0"/>
                <a:cs typeface="Calibri" panose="020F0502020204030204" charset="0"/>
              </a:rPr>
              <a:t>47,014 tickets (48.2%) were resolved within 0–3 days.
• 75,</a:t>
            </a:r>
            <a:r>
              <a:rPr lang="en-IN" sz="1600" b="0" dirty="0">
                <a:solidFill>
                  <a:srgbClr val="464646"/>
                </a:solidFill>
                <a:latin typeface="Calibri" panose="020F0502020204030204" charset="0"/>
                <a:cs typeface="Calibri" panose="020F0502020204030204" charset="0"/>
              </a:rPr>
              <a:t>1</a:t>
            </a:r>
            <a:r>
              <a:rPr sz="1600" b="0" dirty="0">
                <a:solidFill>
                  <a:srgbClr val="464646"/>
                </a:solidFill>
                <a:latin typeface="Calibri" panose="020F0502020204030204" charset="0"/>
                <a:cs typeface="Calibri" panose="020F0502020204030204" charset="0"/>
              </a:rPr>
              <a:t>06 tickets (77.</a:t>
            </a:r>
            <a:r>
              <a:rPr lang="en-IN" sz="1600" b="0" dirty="0">
                <a:solidFill>
                  <a:srgbClr val="464646"/>
                </a:solidFill>
                <a:latin typeface="Calibri" panose="020F0502020204030204" charset="0"/>
                <a:cs typeface="Calibri" panose="020F0502020204030204" charset="0"/>
              </a:rPr>
              <a:t>0</a:t>
            </a:r>
            <a:r>
              <a:rPr sz="1600" b="0" dirty="0">
                <a:solidFill>
                  <a:srgbClr val="464646"/>
                </a:solidFill>
                <a:latin typeface="Calibri" panose="020F0502020204030204" charset="0"/>
                <a:cs typeface="Calibri" panose="020F0502020204030204" charset="0"/>
              </a:rPr>
              <a:t>%) were resolved within 0–7 days.
• Only 1,979 tickets (2.0%) took more than 16 days.
• The distribution is concentrated in shorter resolution windows, with a small long-tail.</a:t>
            </a:r>
          </a:p>
        </p:txBody>
      </p:sp>
      <p:cxnSp>
        <p:nvCxnSpPr>
          <p:cNvPr id="11" name="Connector: Elbow 10"/>
          <p:cNvCxnSpPr/>
          <p:nvPr/>
        </p:nvCxnSpPr>
        <p:spPr>
          <a:xfrm>
            <a:off x="4954595" y="2666206"/>
            <a:ext cx="914400" cy="914400"/>
          </a:xfrm>
          <a:prstGeom prst="bentConnector3">
            <a:avLst/>
          </a:prstGeom>
          <a:ln>
            <a:tailEnd type="triangle"/>
          </a:ln>
        </p:spPr>
        <p:style>
          <a:lnRef idx="2">
            <a:schemeClr val="accent5"/>
          </a:lnRef>
          <a:fillRef idx="0">
            <a:schemeClr val="accent5"/>
          </a:fillRef>
          <a:effectRef idx="1">
            <a:schemeClr val="accent5"/>
          </a:effectRef>
          <a:fontRef idx="minor">
            <a:schemeClr val="tx1"/>
          </a:fontRef>
        </p:style>
      </p:cxnSp>
      <p:pic>
        <p:nvPicPr>
          <p:cNvPr id="5" name="Picture 4">
            <a:extLst>
              <a:ext uri="{FF2B5EF4-FFF2-40B4-BE49-F238E27FC236}">
                <a16:creationId xmlns:a16="http://schemas.microsoft.com/office/drawing/2014/main" id="{E037B923-3BEE-53F8-811A-C284BBCF3A1E}"/>
              </a:ext>
            </a:extLst>
          </p:cNvPr>
          <p:cNvPicPr>
            <a:picLocks noChangeAspect="1"/>
          </p:cNvPicPr>
          <p:nvPr/>
        </p:nvPicPr>
        <p:blipFill>
          <a:blip r:embed="rId2"/>
          <a:stretch>
            <a:fillRect/>
          </a:stretch>
        </p:blipFill>
        <p:spPr>
          <a:xfrm>
            <a:off x="608656" y="1804670"/>
            <a:ext cx="4345940" cy="2461735"/>
          </a:xfrm>
          <a:prstGeom prst="rect">
            <a:avLst/>
          </a:prstGeom>
        </p:spPr>
      </p:pic>
    </p:spTree>
  </p:cSld>
  <p:clrMapOvr>
    <a:masterClrMapping/>
  </p:clrMapOvr>
  <p:transition spd="slow">
    <p:cover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p:nvPr/>
        </p:nvSpPr>
        <p:spPr>
          <a:xfrm>
            <a:off x="533400" y="1141730"/>
            <a:ext cx="8086725" cy="762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sp>
        <p:nvSpPr>
          <p:cNvPr id="7" name="TextBox 6"/>
          <p:cNvSpPr txBox="1"/>
          <p:nvPr/>
        </p:nvSpPr>
        <p:spPr>
          <a:xfrm>
            <a:off x="6400800" y="2056765"/>
            <a:ext cx="4338955" cy="2551430"/>
          </a:xfrm>
          <a:prstGeom prst="rect">
            <a:avLst/>
          </a:prstGeom>
          <a:solidFill>
            <a:schemeClr val="accent4">
              <a:lumMod val="20000"/>
              <a:lumOff val="80000"/>
            </a:schemeClr>
          </a:solidFill>
          <a:ln w="19050">
            <a:solidFill>
              <a:schemeClr val="accent4">
                <a:lumMod val="50000"/>
              </a:schemeClr>
            </a:solidFill>
          </a:ln>
        </p:spPr>
        <p:txBody>
          <a:bodyPr wrap="square" rtlCol="0" anchor="t">
            <a:noAutofit/>
          </a:bodyPr>
          <a:lstStyle/>
          <a:p>
            <a:pPr algn="l"/>
            <a:r>
              <a:rPr sz="1800" b="1" dirty="0">
                <a:solidFill>
                  <a:srgbClr val="464646"/>
                </a:solidFill>
                <a:latin typeface="Calibri" panose="020F0502020204030204" charset="0"/>
                <a:cs typeface="Calibri" panose="020F0502020204030204" charset="0"/>
              </a:rPr>
              <a:t>Key Insight
</a:t>
            </a:r>
            <a:r>
              <a:rPr sz="1500" b="0" dirty="0">
                <a:solidFill>
                  <a:srgbClr val="464646"/>
                </a:solidFill>
                <a:latin typeface="Aptos"/>
              </a:rPr>
              <a:t>• </a:t>
            </a:r>
            <a:r>
              <a:rPr sz="1600" b="0" dirty="0">
                <a:solidFill>
                  <a:srgbClr val="464646"/>
                </a:solidFill>
                <a:latin typeface="Calibri" panose="020F0502020204030204" charset="0"/>
                <a:cs typeface="Calibri" panose="020F0502020204030204" charset="0"/>
              </a:rPr>
              <a:t>50,770 tickets (52.1%) received the top score 
• Scores of 4 or 5 total 78,332 tickets (80.3%).
• Score 1 appears about 5× as often as score 2.
• Overall feedback is strongly concentrated toward high satisfaction.</a:t>
            </a:r>
          </a:p>
        </p:txBody>
      </p:sp>
      <p:sp>
        <p:nvSpPr>
          <p:cNvPr id="9" name="object 2"/>
          <p:cNvSpPr txBox="1"/>
          <p:nvPr/>
        </p:nvSpPr>
        <p:spPr>
          <a:xfrm>
            <a:off x="-76200" y="608965"/>
            <a:ext cx="9121140" cy="474345"/>
          </a:xfrm>
          <a:prstGeom prst="rect">
            <a:avLst/>
          </a:prstGeom>
        </p:spPr>
        <p:txBody>
          <a:bodyPr vert="horz" wrap="square" lIns="0" tIns="12700" rIns="0" bIns="0" rtlCol="0">
            <a:spAutoFit/>
          </a:bodyPr>
          <a:lstStyle>
            <a:lvl1pPr>
              <a:defRPr>
                <a:latin typeface="+mj-lt"/>
                <a:ea typeface="+mj-ea"/>
                <a:cs typeface="+mj-cs"/>
              </a:defRPr>
            </a:lvl1pPr>
          </a:lstStyle>
          <a:p>
            <a:pPr marL="12700" algn="ctr">
              <a:spcBef>
                <a:spcPts val="100"/>
              </a:spcBef>
            </a:pPr>
            <a:r>
              <a:rPr lang="en-US" sz="3000" b="1" dirty="0">
                <a:solidFill>
                  <a:schemeClr val="accent4">
                    <a:lumMod val="50000"/>
                  </a:schemeClr>
                </a:solidFill>
                <a:latin typeface="Calibri" panose="020F0502020204030204" charset="0"/>
                <a:cs typeface="Calibri" panose="020F0502020204030204" charset="0"/>
              </a:rPr>
              <a:t>Distribution Of Tickets Based On Satisfaction Rate</a:t>
            </a:r>
          </a:p>
        </p:txBody>
      </p:sp>
      <p:pic>
        <p:nvPicPr>
          <p:cNvPr id="3" name="Picture 2">
            <a:extLst>
              <a:ext uri="{FF2B5EF4-FFF2-40B4-BE49-F238E27FC236}">
                <a16:creationId xmlns:a16="http://schemas.microsoft.com/office/drawing/2014/main" id="{80BE8434-9781-F16D-A419-204EE32E3500}"/>
              </a:ext>
            </a:extLst>
          </p:cNvPr>
          <p:cNvPicPr>
            <a:picLocks noChangeAspect="1"/>
          </p:cNvPicPr>
          <p:nvPr/>
        </p:nvPicPr>
        <p:blipFill>
          <a:blip r:embed="rId2"/>
          <a:stretch>
            <a:fillRect/>
          </a:stretch>
        </p:blipFill>
        <p:spPr>
          <a:xfrm>
            <a:off x="533399" y="2054610"/>
            <a:ext cx="5263021" cy="2551430"/>
          </a:xfrm>
          <a:prstGeom prst="rect">
            <a:avLst/>
          </a:prstGeom>
        </p:spPr>
      </p:pic>
    </p:spTree>
  </p:cSld>
  <p:clrMapOvr>
    <a:masterClrMapping/>
  </p:clrMapOvr>
  <p:transition spd="slow">
    <p:cover dir="d"/>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456565"/>
            <a:ext cx="9464675" cy="439420"/>
          </a:xfrm>
          <a:prstGeom prst="rect">
            <a:avLst/>
          </a:prstGeom>
        </p:spPr>
        <p:txBody>
          <a:bodyPr vert="horz" wrap="square" lIns="0" tIns="26034" rIns="0" bIns="0" rtlCol="0">
            <a:spAutoFit/>
          </a:bodyPr>
          <a:lstStyle/>
          <a:p>
            <a:pPr marL="12700" marR="5080">
              <a:lnSpc>
                <a:spcPts val="3230"/>
              </a:lnSpc>
              <a:spcBef>
                <a:spcPts val="205"/>
              </a:spcBef>
            </a:pPr>
            <a:r>
              <a:rPr lang="en-US" sz="3000" spc="415" dirty="0">
                <a:solidFill>
                  <a:schemeClr val="accent4">
                    <a:lumMod val="50000"/>
                  </a:schemeClr>
                </a:solidFill>
                <a:latin typeface="Calibri" panose="020F0502020204030204" charset="0"/>
                <a:cs typeface="Calibri" panose="020F0502020204030204" charset="0"/>
              </a:rPr>
              <a:t>Age Group Vs Average Satisfaction Rate</a:t>
            </a:r>
            <a:endParaRPr lang="en-US" sz="3000" spc="430" dirty="0">
              <a:solidFill>
                <a:schemeClr val="accent4">
                  <a:lumMod val="50000"/>
                </a:schemeClr>
              </a:solidFill>
              <a:latin typeface="Calibri" panose="020F0502020204030204" charset="0"/>
              <a:cs typeface="Calibri" panose="020F0502020204030204" charset="0"/>
            </a:endParaRPr>
          </a:p>
        </p:txBody>
      </p:sp>
      <p:sp>
        <p:nvSpPr>
          <p:cNvPr id="3" name="TextBox 2"/>
          <p:cNvSpPr txBox="1"/>
          <p:nvPr/>
        </p:nvSpPr>
        <p:spPr>
          <a:xfrm>
            <a:off x="6477000" y="1599565"/>
            <a:ext cx="4488180" cy="2574925"/>
          </a:xfrm>
          <a:prstGeom prst="rect">
            <a:avLst/>
          </a:prstGeom>
          <a:solidFill>
            <a:schemeClr val="accent4">
              <a:lumMod val="20000"/>
              <a:lumOff val="80000"/>
            </a:schemeClr>
          </a:solidFill>
          <a:ln w="19050">
            <a:solidFill>
              <a:schemeClr val="accent4">
                <a:lumMod val="50000"/>
              </a:schemeClr>
            </a:solidFill>
          </a:ln>
        </p:spPr>
        <p:txBody>
          <a:bodyPr wrap="square" rtlCol="0" anchor="t">
            <a:noAutofit/>
          </a:bodyPr>
          <a:lstStyle/>
          <a:p>
            <a:pPr algn="l" rtl="0" eaLnBrk="0" fontAlgn="base" hangingPunct="0">
              <a:spcBef>
                <a:spcPct val="0"/>
              </a:spcBef>
              <a:spcAft>
                <a:spcPct val="0"/>
              </a:spcAft>
            </a:pPr>
            <a:r>
              <a:rPr sz="1800" b="1" dirty="0">
                <a:solidFill>
                  <a:srgbClr val="464646"/>
                </a:solidFill>
                <a:latin typeface="Calibri" panose="020F0502020204030204" charset="0"/>
                <a:cs typeface="Calibri" panose="020F0502020204030204" charset="0"/>
              </a:rPr>
              <a:t>Key Insight
</a:t>
            </a:r>
            <a:r>
              <a:rPr sz="1500" b="0" dirty="0">
                <a:solidFill>
                  <a:srgbClr val="464646"/>
                </a:solidFill>
                <a:latin typeface="Aptos"/>
              </a:rPr>
              <a:t>
</a:t>
            </a:r>
            <a:r>
              <a:rPr sz="1600" b="0" dirty="0">
                <a:solidFill>
                  <a:srgbClr val="464646"/>
                </a:solidFill>
                <a:latin typeface="Calibri" panose="020F0502020204030204" charset="0"/>
                <a:cs typeface="Calibri" panose="020F0502020204030204" charset="0"/>
              </a:rPr>
              <a:t>• 29–33 has the highest average satisfaction: 4.21.
• 34–38 has the lowest: 3.96.
• 39–43 improves to 4.14; 49–54 reaches 4.20.
• The 0.25-point gap between the highest and lowest groups identifies 34–38 as the clearest improvement area.</a:t>
            </a:r>
          </a:p>
        </p:txBody>
      </p:sp>
      <p:sp>
        <p:nvSpPr>
          <p:cNvPr id="17" name="object 3"/>
          <p:cNvSpPr/>
          <p:nvPr/>
        </p:nvSpPr>
        <p:spPr>
          <a:xfrm flipV="1">
            <a:off x="304800" y="977265"/>
            <a:ext cx="8378190" cy="762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p:spPr>
        <p:txBody>
          <a:bodyPr wrap="square" lIns="0" tIns="0" rIns="0" bIns="0" rtlCol="0"/>
          <a:lstStyle/>
          <a:p>
            <a:endParaRPr>
              <a:solidFill>
                <a:schemeClr val="accent4">
                  <a:lumMod val="50000"/>
                </a:schemeClr>
              </a:solidFill>
              <a:latin typeface="+mj-lt"/>
            </a:endParaRPr>
          </a:p>
        </p:txBody>
      </p:sp>
      <p:pic>
        <p:nvPicPr>
          <p:cNvPr id="6" name="Picture 5">
            <a:extLst>
              <a:ext uri="{FF2B5EF4-FFF2-40B4-BE49-F238E27FC236}">
                <a16:creationId xmlns:a16="http://schemas.microsoft.com/office/drawing/2014/main" id="{20078F3F-4F6A-CCC1-9EA1-A6E6C22D5C9B}"/>
              </a:ext>
            </a:extLst>
          </p:cNvPr>
          <p:cNvPicPr>
            <a:picLocks noChangeAspect="1"/>
          </p:cNvPicPr>
          <p:nvPr/>
        </p:nvPicPr>
        <p:blipFill>
          <a:blip r:embed="rId2"/>
          <a:stretch>
            <a:fillRect/>
          </a:stretch>
        </p:blipFill>
        <p:spPr>
          <a:xfrm>
            <a:off x="304800" y="1599565"/>
            <a:ext cx="5580848" cy="2574925"/>
          </a:xfrm>
          <a:prstGeom prst="rect">
            <a:avLst/>
          </a:prstGeom>
        </p:spPr>
      </p:pic>
    </p:spTree>
  </p:cSld>
  <p:clrMapOvr>
    <a:masterClrMapping/>
  </p:clrMapOvr>
  <p:transition spd="slow">
    <p:cover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F3C645-3263-06AE-C97C-BD188BF130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0598"/>
            <a:ext cx="12192000" cy="4355217"/>
          </a:xfrm>
          <a:prstGeom prst="rect">
            <a:avLst/>
          </a:prstGeom>
        </p:spPr>
      </p:pic>
      <p:sp>
        <p:nvSpPr>
          <p:cNvPr id="19" name="Rectangle 18">
            <a:extLst>
              <a:ext uri="{FF2B5EF4-FFF2-40B4-BE49-F238E27FC236}">
                <a16:creationId xmlns:a16="http://schemas.microsoft.com/office/drawing/2014/main" id="{35B3D80F-1A5A-4A84-BFC1-586753A083D0}"/>
              </a:ext>
            </a:extLst>
          </p:cNvPr>
          <p:cNvSpPr/>
          <p:nvPr/>
        </p:nvSpPr>
        <p:spPr>
          <a:xfrm>
            <a:off x="0" y="0"/>
            <a:ext cx="12191695" cy="777240"/>
          </a:xfrm>
          <a:prstGeom prst="rect">
            <a:avLst/>
          </a:prstGeom>
        </p:spPr>
        <p:style>
          <a:lnRef idx="0">
            <a:srgbClr val="FFFFFF"/>
          </a:lnRef>
          <a:fillRef idx="1">
            <a:schemeClr val="accent4"/>
          </a:fillRef>
          <a:effectRef idx="0">
            <a:srgbClr val="FFFFFF"/>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8376CD44-A727-FB0A-5324-3410797BA1BA}"/>
              </a:ext>
            </a:extLst>
          </p:cNvPr>
          <p:cNvSpPr txBox="1"/>
          <p:nvPr/>
        </p:nvSpPr>
        <p:spPr>
          <a:xfrm>
            <a:off x="411480" y="146304"/>
            <a:ext cx="11338560" cy="553085"/>
          </a:xfrm>
          <a:prstGeom prst="rect">
            <a:avLst/>
          </a:prstGeom>
          <a:noFill/>
        </p:spPr>
        <p:txBody>
          <a:bodyPr wrap="square" anchor="t">
            <a:spAutoFit/>
          </a:bodyPr>
          <a:lstStyle/>
          <a:p>
            <a:pPr algn="ctr"/>
            <a:r>
              <a:rPr lang="en-IN" sz="3000" b="1" dirty="0">
                <a:solidFill>
                  <a:srgbClr val="FFFFFF"/>
                </a:solidFill>
                <a:latin typeface="Calibri" panose="020F0502020204030204" charset="0"/>
                <a:cs typeface="Calibri" panose="020F0502020204030204" charset="0"/>
              </a:rPr>
              <a:t>DASHBOARD</a:t>
            </a:r>
            <a:endParaRPr sz="3000" b="1" dirty="0">
              <a:solidFill>
                <a:srgbClr val="FFFFFF"/>
              </a:solidFill>
              <a:latin typeface="Calibri" panose="020F0502020204030204" charset="0"/>
              <a:cs typeface="Calibri" panose="020F0502020204030204" charset="0"/>
            </a:endParaRPr>
          </a:p>
        </p:txBody>
      </p:sp>
    </p:spTree>
  </p:cSld>
  <p:clrMapOvr>
    <a:masterClrMapping/>
  </p:clrMapOvr>
  <p:transition spd="slow">
    <p:cover dir="d"/>
  </p:transition>
</p:sld>
</file>

<file path=ppt/slides/slide14.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50000"/>
                <a:lumOff val="50000"/>
              </a:schemeClr>
            </a:gs>
            <a:gs pos="20000">
              <a:schemeClr val="accent4">
                <a:lumMod val="25000"/>
                <a:lumOff val="75000"/>
              </a:schemeClr>
            </a:gs>
            <a:gs pos="40000">
              <a:schemeClr val="accent4">
                <a:lumMod val="50000"/>
                <a:lumOff val="50000"/>
              </a:schemeClr>
            </a:gs>
            <a:gs pos="60000">
              <a:schemeClr val="accent4">
                <a:lumMod val="25000"/>
                <a:lumOff val="75000"/>
              </a:schemeClr>
            </a:gs>
            <a:gs pos="100000">
              <a:schemeClr val="accent4">
                <a:lumMod val="25000"/>
                <a:lumOff val="75000"/>
              </a:schemeClr>
            </a:gs>
            <a:gs pos="80000">
              <a:schemeClr val="accent4">
                <a:lumMod val="50000"/>
                <a:lumOff val="50000"/>
              </a:schemeClr>
            </a:gs>
          </a:gsLst>
          <a:lin ang="2700000" scaled="0"/>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p:spPr>
        <p:style>
          <a:lnRef idx="0">
            <a:srgbClr val="FFFFFF"/>
          </a:lnRef>
          <a:fillRef idx="1">
            <a:schemeClr val="accent4"/>
          </a:fillRef>
          <a:effectRef idx="0">
            <a:srgbClr val="FFFFFF"/>
          </a:effectRef>
          <a:fontRef idx="minor">
            <a:schemeClr val="lt1"/>
          </a:fontRef>
        </p:style>
        <p:txBody>
          <a:bodyPr rtlCol="0" anchor="ctr"/>
          <a:lstStyle/>
          <a:p>
            <a:pPr algn="ctr"/>
            <a:endParaRPr/>
          </a:p>
        </p:txBody>
      </p:sp>
      <p:sp>
        <p:nvSpPr>
          <p:cNvPr id="3" name="TextBox 2"/>
          <p:cNvSpPr txBox="1"/>
          <p:nvPr/>
        </p:nvSpPr>
        <p:spPr>
          <a:xfrm>
            <a:off x="411480" y="146304"/>
            <a:ext cx="11338560" cy="553085"/>
          </a:xfrm>
          <a:prstGeom prst="rect">
            <a:avLst/>
          </a:prstGeom>
          <a:noFill/>
        </p:spPr>
        <p:txBody>
          <a:bodyPr wrap="square" anchor="t">
            <a:spAutoFit/>
          </a:bodyPr>
          <a:lstStyle/>
          <a:p>
            <a:pPr algn="ctr"/>
            <a:r>
              <a:rPr sz="3000" b="1" dirty="0">
                <a:solidFill>
                  <a:srgbClr val="FFFFFF"/>
                </a:solidFill>
                <a:latin typeface="Calibri" panose="020F0502020204030204" charset="0"/>
                <a:cs typeface="Calibri" panose="020F0502020204030204" charset="0"/>
              </a:rPr>
              <a:t>RECOMMENDATIONS </a:t>
            </a:r>
          </a:p>
        </p:txBody>
      </p:sp>
      <p:sp>
        <p:nvSpPr>
          <p:cNvPr id="4" name="TextBox 3"/>
          <p:cNvSpPr txBox="1"/>
          <p:nvPr/>
        </p:nvSpPr>
        <p:spPr>
          <a:xfrm>
            <a:off x="502920" y="896112"/>
            <a:ext cx="11155680" cy="338554"/>
          </a:xfrm>
          <a:prstGeom prst="rect">
            <a:avLst/>
          </a:prstGeom>
          <a:noFill/>
        </p:spPr>
        <p:txBody>
          <a:bodyPr wrap="square" anchor="t">
            <a:spAutoFit/>
          </a:bodyPr>
          <a:lstStyle/>
          <a:p>
            <a:pPr algn="ctr"/>
            <a:r>
              <a:rPr sz="1600" b="0" dirty="0">
                <a:solidFill>
                  <a:srgbClr val="464646"/>
                </a:solidFill>
                <a:latin typeface="Calibri" panose="020F0502020204030204" charset="0"/>
                <a:cs typeface="Calibri" panose="020F0502020204030204" charset="0"/>
              </a:rPr>
              <a:t>Prioritized actions with measurable targets and deadlines</a:t>
            </a:r>
          </a:p>
        </p:txBody>
      </p:sp>
      <p:sp>
        <p:nvSpPr>
          <p:cNvPr id="5" name="Rounded Rectangle 4"/>
          <p:cNvSpPr/>
          <p:nvPr/>
        </p:nvSpPr>
        <p:spPr>
          <a:xfrm>
            <a:off x="502920" y="1417320"/>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 y="1536176"/>
            <a:ext cx="3072384" cy="369332"/>
          </a:xfrm>
          <a:prstGeom prst="rect">
            <a:avLst/>
          </a:prstGeom>
          <a:noFill/>
        </p:spPr>
        <p:txBody>
          <a:bodyPr wrap="square" anchor="t">
            <a:spAutoFit/>
          </a:bodyPr>
          <a:lstStyle/>
          <a:p>
            <a:pPr algn="l"/>
            <a:r>
              <a:rPr lang="en-US" altLang="" b="1" dirty="0">
                <a:solidFill>
                  <a:srgbClr val="563A68"/>
                </a:solidFill>
                <a:latin typeface="Calibri" panose="020F0502020204030204" charset="0"/>
                <a:cs typeface="Calibri" panose="020F0502020204030204" charset="0"/>
              </a:rPr>
              <a:t>1. </a:t>
            </a:r>
            <a:r>
              <a:rPr b="1" dirty="0">
                <a:solidFill>
                  <a:srgbClr val="563A68"/>
                </a:solidFill>
                <a:latin typeface="Calibri" panose="020F0502020204030204" charset="0"/>
                <a:cs typeface="Calibri" panose="020F0502020204030204" charset="0"/>
              </a:rPr>
              <a:t>Reduce resolution time</a:t>
            </a:r>
          </a:p>
        </p:txBody>
      </p:sp>
      <p:sp>
        <p:nvSpPr>
          <p:cNvPr id="7" name="TextBox 6"/>
          <p:cNvSpPr txBox="1"/>
          <p:nvPr/>
        </p:nvSpPr>
        <p:spPr>
          <a:xfrm>
            <a:off x="831977" y="1974088"/>
            <a:ext cx="3072384" cy="830997"/>
          </a:xfrm>
          <a:prstGeom prst="rect">
            <a:avLst/>
          </a:prstGeom>
          <a:noFill/>
        </p:spPr>
        <p:txBody>
          <a:bodyPr wrap="square" anchor="t">
            <a:spAutoFit/>
          </a:bodyPr>
          <a:lstStyle/>
          <a:p>
            <a:pPr algn="l"/>
            <a:r>
              <a:rPr sz="1600" b="0" dirty="0">
                <a:solidFill>
                  <a:srgbClr val="464646"/>
                </a:solidFill>
                <a:latin typeface="Calibri" panose="020F0502020204030204" charset="0"/>
                <a:cs typeface="Calibri" panose="020F0502020204030204" charset="0"/>
              </a:rPr>
              <a:t>Hardware: 7.63 → 5.0 days
System: 6.62 → 5.0 days
Target: within 3 months.</a:t>
            </a:r>
          </a:p>
        </p:txBody>
      </p:sp>
      <p:sp>
        <p:nvSpPr>
          <p:cNvPr id="8" name="Rounded Rectangle 7"/>
          <p:cNvSpPr/>
          <p:nvPr/>
        </p:nvSpPr>
        <p:spPr>
          <a:xfrm>
            <a:off x="4133087" y="1417320"/>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86109" y="1487932"/>
            <a:ext cx="3072384" cy="646331"/>
          </a:xfrm>
          <a:prstGeom prst="rect">
            <a:avLst/>
          </a:prstGeom>
          <a:noFill/>
        </p:spPr>
        <p:txBody>
          <a:bodyPr wrap="square" anchor="t">
            <a:spAutoFit/>
          </a:bodyPr>
          <a:lstStyle/>
          <a:p>
            <a:pPr algn="l"/>
            <a:r>
              <a:rPr b="1" dirty="0">
                <a:solidFill>
                  <a:srgbClr val="563A68"/>
                </a:solidFill>
                <a:latin typeface="Calibri" panose="020F0502020204030204" charset="0"/>
                <a:cs typeface="Calibri" panose="020F0502020204030204" charset="0"/>
              </a:rPr>
              <a:t>2</a:t>
            </a:r>
            <a:r>
              <a:rPr lang="en-US" altLang="" b="1" dirty="0">
                <a:solidFill>
                  <a:srgbClr val="563A68"/>
                </a:solidFill>
                <a:latin typeface="Calibri" panose="020F0502020204030204" charset="0"/>
                <a:cs typeface="Calibri" panose="020F0502020204030204" charset="0"/>
              </a:rPr>
              <a:t>.</a:t>
            </a:r>
            <a:r>
              <a:rPr b="1" dirty="0">
                <a:solidFill>
                  <a:srgbClr val="563A68"/>
                </a:solidFill>
                <a:latin typeface="Calibri" panose="020F0502020204030204" charset="0"/>
                <a:cs typeface="Calibri" panose="020F0502020204030204" charset="0"/>
              </a:rPr>
              <a:t> Automate high-volume work</a:t>
            </a:r>
          </a:p>
        </p:txBody>
      </p:sp>
      <p:sp>
        <p:nvSpPr>
          <p:cNvPr id="10" name="TextBox 9"/>
          <p:cNvSpPr txBox="1"/>
          <p:nvPr/>
        </p:nvSpPr>
        <p:spPr>
          <a:xfrm>
            <a:off x="4233418" y="2086076"/>
            <a:ext cx="3274547" cy="830997"/>
          </a:xfrm>
          <a:prstGeom prst="rect">
            <a:avLst/>
          </a:prstGeom>
          <a:noFill/>
        </p:spPr>
        <p:txBody>
          <a:bodyPr wrap="square" anchor="t">
            <a:spAutoFit/>
          </a:bodyPr>
          <a:lstStyle/>
          <a:p>
            <a:pPr algn="l"/>
            <a:r>
              <a:rPr lang="en-GB" sz="1600" b="0" dirty="0">
                <a:solidFill>
                  <a:srgbClr val="464646"/>
                </a:solidFill>
                <a:latin typeface="Calibri" panose="020F0502020204030204" charset="0"/>
                <a:cs typeface="Calibri" panose="020F0502020204030204" charset="0"/>
              </a:rPr>
              <a:t>Automate Login Access + System workflows. Target: Reduce volume by 20% in 6 months</a:t>
            </a:r>
            <a:endParaRPr sz="1600" b="0" dirty="0">
              <a:solidFill>
                <a:srgbClr val="464646"/>
              </a:solidFill>
              <a:latin typeface="Calibri" panose="020F0502020204030204" charset="0"/>
              <a:cs typeface="Calibri" panose="020F0502020204030204" charset="0"/>
            </a:endParaRPr>
          </a:p>
        </p:txBody>
      </p:sp>
      <p:sp>
        <p:nvSpPr>
          <p:cNvPr id="11" name="Rounded Rectangle 10"/>
          <p:cNvSpPr/>
          <p:nvPr/>
        </p:nvSpPr>
        <p:spPr>
          <a:xfrm>
            <a:off x="7763256" y="1417320"/>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27848" y="1554480"/>
            <a:ext cx="3072384" cy="369332"/>
          </a:xfrm>
          <a:prstGeom prst="rect">
            <a:avLst/>
          </a:prstGeom>
          <a:noFill/>
        </p:spPr>
        <p:txBody>
          <a:bodyPr wrap="square" anchor="t">
            <a:spAutoFit/>
          </a:bodyPr>
          <a:lstStyle/>
          <a:p>
            <a:pPr algn="l"/>
            <a:r>
              <a:rPr b="1" dirty="0">
                <a:solidFill>
                  <a:srgbClr val="563A68"/>
                </a:solidFill>
                <a:latin typeface="Calibri" panose="020F0502020204030204" charset="0"/>
                <a:cs typeface="Calibri" panose="020F0502020204030204" charset="0"/>
              </a:rPr>
              <a:t>3</a:t>
            </a:r>
            <a:r>
              <a:rPr lang="en-US" altLang="" b="1" dirty="0">
                <a:solidFill>
                  <a:srgbClr val="563A68"/>
                </a:solidFill>
                <a:latin typeface="Calibri" panose="020F0502020204030204" charset="0"/>
                <a:cs typeface="Calibri" panose="020F0502020204030204" charset="0"/>
              </a:rPr>
              <a:t>.</a:t>
            </a:r>
            <a:r>
              <a:rPr b="1" dirty="0">
                <a:solidFill>
                  <a:srgbClr val="563A68"/>
                </a:solidFill>
                <a:latin typeface="Calibri" panose="020F0502020204030204" charset="0"/>
                <a:cs typeface="Calibri" panose="020F0502020204030204" charset="0"/>
              </a:rPr>
              <a:t> Improve ticket triage</a:t>
            </a:r>
          </a:p>
        </p:txBody>
      </p:sp>
      <p:sp>
        <p:nvSpPr>
          <p:cNvPr id="13" name="TextBox 12"/>
          <p:cNvSpPr txBox="1"/>
          <p:nvPr/>
        </p:nvSpPr>
        <p:spPr>
          <a:xfrm>
            <a:off x="7927848" y="1974087"/>
            <a:ext cx="3072384" cy="830997"/>
          </a:xfrm>
          <a:prstGeom prst="rect">
            <a:avLst/>
          </a:prstGeom>
          <a:noFill/>
        </p:spPr>
        <p:txBody>
          <a:bodyPr wrap="square" anchor="t">
            <a:spAutoFit/>
          </a:bodyPr>
          <a:lstStyle/>
          <a:p>
            <a:pPr algn="l"/>
            <a:r>
              <a:rPr sz="1600" b="0" dirty="0">
                <a:solidFill>
                  <a:srgbClr val="464646"/>
                </a:solidFill>
                <a:latin typeface="Calibri" panose="020F0502020204030204" charset="0"/>
                <a:cs typeface="Calibri" panose="020F0502020204030204" charset="0"/>
              </a:rPr>
              <a:t>Unclassified: 356 tickets (0.37%).
Target: reduce to fewer than 200
within 3 months.</a:t>
            </a:r>
          </a:p>
        </p:txBody>
      </p:sp>
      <p:sp>
        <p:nvSpPr>
          <p:cNvPr id="14" name="Rounded Rectangle 13"/>
          <p:cNvSpPr/>
          <p:nvPr/>
        </p:nvSpPr>
        <p:spPr>
          <a:xfrm>
            <a:off x="502920" y="3401568"/>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512" y="3538728"/>
            <a:ext cx="3072384" cy="369332"/>
          </a:xfrm>
          <a:prstGeom prst="rect">
            <a:avLst/>
          </a:prstGeom>
          <a:noFill/>
        </p:spPr>
        <p:txBody>
          <a:bodyPr wrap="square" anchor="t">
            <a:spAutoFit/>
          </a:bodyPr>
          <a:lstStyle/>
          <a:p>
            <a:pPr algn="l"/>
            <a:r>
              <a:rPr b="1" dirty="0">
                <a:solidFill>
                  <a:srgbClr val="563A68"/>
                </a:solidFill>
                <a:latin typeface="Calibri" panose="020F0502020204030204" charset="0"/>
                <a:cs typeface="Calibri" panose="020F0502020204030204" charset="0"/>
              </a:rPr>
              <a:t>4</a:t>
            </a:r>
            <a:r>
              <a:rPr lang="en-US" altLang="" b="1" dirty="0">
                <a:solidFill>
                  <a:srgbClr val="563A68"/>
                </a:solidFill>
                <a:latin typeface="Calibri" panose="020F0502020204030204" charset="0"/>
                <a:cs typeface="Calibri" panose="020F0502020204030204" charset="0"/>
              </a:rPr>
              <a:t>.</a:t>
            </a:r>
            <a:r>
              <a:rPr b="1" dirty="0">
                <a:solidFill>
                  <a:srgbClr val="563A68"/>
                </a:solidFill>
                <a:latin typeface="Calibri" panose="020F0502020204030204" charset="0"/>
                <a:cs typeface="Calibri" panose="020F0502020204030204" charset="0"/>
              </a:rPr>
              <a:t>  Train bottom performers</a:t>
            </a:r>
          </a:p>
        </p:txBody>
      </p:sp>
      <p:sp>
        <p:nvSpPr>
          <p:cNvPr id="16" name="TextBox 15"/>
          <p:cNvSpPr txBox="1"/>
          <p:nvPr/>
        </p:nvSpPr>
        <p:spPr>
          <a:xfrm>
            <a:off x="762127" y="3986276"/>
            <a:ext cx="3072384" cy="1077218"/>
          </a:xfrm>
          <a:prstGeom prst="rect">
            <a:avLst/>
          </a:prstGeom>
          <a:noFill/>
        </p:spPr>
        <p:txBody>
          <a:bodyPr wrap="square" anchor="t">
            <a:spAutoFit/>
          </a:bodyPr>
          <a:lstStyle/>
          <a:p>
            <a:pPr algn="l"/>
            <a:r>
              <a:rPr sz="1600" b="0" dirty="0">
                <a:solidFill>
                  <a:srgbClr val="464646"/>
                </a:solidFill>
                <a:latin typeface="Calibri" panose="020F0502020204030204" charset="0"/>
                <a:cs typeface="Calibri" panose="020F0502020204030204" charset="0"/>
              </a:rPr>
              <a:t>Focus: Agents 3, 6, 22 and 28.
Run a 12-week coaching plan.
Target: 10% lower average resolution time.</a:t>
            </a:r>
          </a:p>
        </p:txBody>
      </p:sp>
      <p:sp>
        <p:nvSpPr>
          <p:cNvPr id="17" name="Rounded Rectangle 16"/>
          <p:cNvSpPr/>
          <p:nvPr/>
        </p:nvSpPr>
        <p:spPr>
          <a:xfrm>
            <a:off x="4133087" y="3401568"/>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97679" y="3538728"/>
            <a:ext cx="3072384" cy="646331"/>
          </a:xfrm>
          <a:prstGeom prst="rect">
            <a:avLst/>
          </a:prstGeom>
          <a:noFill/>
        </p:spPr>
        <p:txBody>
          <a:bodyPr wrap="square" anchor="t">
            <a:spAutoFit/>
          </a:bodyPr>
          <a:lstStyle/>
          <a:p>
            <a:pPr algn="l"/>
            <a:r>
              <a:rPr b="1" dirty="0">
                <a:solidFill>
                  <a:srgbClr val="563A68"/>
                </a:solidFill>
                <a:latin typeface="Calibri" panose="020F0502020204030204" charset="0"/>
                <a:cs typeface="Calibri" panose="020F0502020204030204" charset="0"/>
              </a:rPr>
              <a:t>5</a:t>
            </a:r>
            <a:r>
              <a:rPr lang="en-US" altLang="" b="1" dirty="0">
                <a:solidFill>
                  <a:srgbClr val="563A68"/>
                </a:solidFill>
                <a:latin typeface="Calibri" panose="020F0502020204030204" charset="0"/>
                <a:cs typeface="Calibri" panose="020F0502020204030204" charset="0"/>
              </a:rPr>
              <a:t>. </a:t>
            </a:r>
            <a:r>
              <a:rPr b="1" dirty="0">
                <a:solidFill>
                  <a:srgbClr val="563A68"/>
                </a:solidFill>
                <a:latin typeface="Calibri" panose="020F0502020204030204" charset="0"/>
                <a:cs typeface="Calibri" panose="020F0502020204030204" charset="0"/>
              </a:rPr>
              <a:t>Lift the weakest satisfaction group</a:t>
            </a:r>
          </a:p>
        </p:txBody>
      </p:sp>
      <p:sp>
        <p:nvSpPr>
          <p:cNvPr id="19" name="TextBox 18"/>
          <p:cNvSpPr txBox="1"/>
          <p:nvPr/>
        </p:nvSpPr>
        <p:spPr>
          <a:xfrm>
            <a:off x="4419599" y="4190111"/>
            <a:ext cx="3072384" cy="830997"/>
          </a:xfrm>
          <a:prstGeom prst="rect">
            <a:avLst/>
          </a:prstGeom>
          <a:noFill/>
        </p:spPr>
        <p:txBody>
          <a:bodyPr wrap="square" anchor="t">
            <a:spAutoFit/>
          </a:bodyPr>
          <a:lstStyle/>
          <a:p>
            <a:pPr algn="l"/>
            <a:r>
              <a:rPr sz="1600" b="0" dirty="0">
                <a:solidFill>
                  <a:srgbClr val="464646"/>
                </a:solidFill>
                <a:latin typeface="Calibri" panose="020F0502020204030204" charset="0"/>
                <a:cs typeface="Calibri" panose="020F0502020204030204" charset="0"/>
              </a:rPr>
              <a:t>Age 34–38: 3.96/5.
Target: reach at least 4.10/5
within 6 months.</a:t>
            </a:r>
          </a:p>
        </p:txBody>
      </p:sp>
      <p:sp>
        <p:nvSpPr>
          <p:cNvPr id="20" name="Rounded Rectangle 19"/>
          <p:cNvSpPr/>
          <p:nvPr/>
        </p:nvSpPr>
        <p:spPr>
          <a:xfrm>
            <a:off x="7763256" y="3401568"/>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27848" y="3538728"/>
            <a:ext cx="3072384" cy="369332"/>
          </a:xfrm>
          <a:prstGeom prst="rect">
            <a:avLst/>
          </a:prstGeom>
          <a:noFill/>
        </p:spPr>
        <p:txBody>
          <a:bodyPr wrap="square" anchor="t">
            <a:spAutoFit/>
          </a:bodyPr>
          <a:lstStyle/>
          <a:p>
            <a:pPr algn="l"/>
            <a:r>
              <a:rPr b="1" dirty="0">
                <a:solidFill>
                  <a:srgbClr val="563A68"/>
                </a:solidFill>
                <a:latin typeface="Calibri" panose="020F0502020204030204" charset="0"/>
                <a:cs typeface="Calibri" panose="020F0502020204030204" charset="0"/>
              </a:rPr>
              <a:t>6</a:t>
            </a:r>
            <a:r>
              <a:rPr lang="en-US" altLang="" b="1" dirty="0">
                <a:solidFill>
                  <a:srgbClr val="563A68"/>
                </a:solidFill>
                <a:latin typeface="Calibri" panose="020F0502020204030204" charset="0"/>
                <a:cs typeface="Calibri" panose="020F0502020204030204" charset="0"/>
              </a:rPr>
              <a:t>.</a:t>
            </a:r>
            <a:r>
              <a:rPr b="1" dirty="0">
                <a:solidFill>
                  <a:srgbClr val="563A68"/>
                </a:solidFill>
                <a:latin typeface="Calibri" panose="020F0502020204030204" charset="0"/>
                <a:cs typeface="Calibri" panose="020F0502020204030204" charset="0"/>
              </a:rPr>
              <a:t> Plan capacity for growth</a:t>
            </a:r>
          </a:p>
        </p:txBody>
      </p:sp>
      <p:sp>
        <p:nvSpPr>
          <p:cNvPr id="22" name="TextBox 21"/>
          <p:cNvSpPr txBox="1"/>
          <p:nvPr/>
        </p:nvSpPr>
        <p:spPr>
          <a:xfrm>
            <a:off x="7821167" y="3943890"/>
            <a:ext cx="3517900" cy="1077218"/>
          </a:xfrm>
          <a:prstGeom prst="rect">
            <a:avLst/>
          </a:prstGeom>
          <a:noFill/>
        </p:spPr>
        <p:txBody>
          <a:bodyPr wrap="square" anchor="t">
            <a:spAutoFit/>
          </a:bodyPr>
          <a:lstStyle/>
          <a:p>
            <a:pPr algn="l"/>
            <a:r>
              <a:rPr sz="1600" b="0" dirty="0">
                <a:solidFill>
                  <a:srgbClr val="464646"/>
                </a:solidFill>
                <a:latin typeface="Calibri" panose="020F0502020204030204" charset="0"/>
                <a:cs typeface="Calibri" panose="020F0502020204030204" charset="0"/>
              </a:rPr>
              <a:t>Volume rose 122.9% from 2016–2020.
Review capacity and staffing quarterly
against ticket growth and SLA performance.</a:t>
            </a:r>
          </a:p>
        </p:txBody>
      </p:sp>
    </p:spTree>
  </p:cSld>
  <p:clrMapOvr>
    <a:masterClrMapping/>
  </p:clrMapOvr>
  <p:transition spd="slow">
    <p:cover dir="d"/>
  </p:transition>
</p:sld>
</file>

<file path=ppt/slides/slide15.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50000"/>
                <a:lumOff val="50000"/>
              </a:schemeClr>
            </a:gs>
            <a:gs pos="20000">
              <a:schemeClr val="accent4">
                <a:lumMod val="25000"/>
                <a:lumOff val="75000"/>
              </a:schemeClr>
            </a:gs>
            <a:gs pos="40000">
              <a:schemeClr val="accent4">
                <a:lumMod val="50000"/>
                <a:lumOff val="50000"/>
              </a:schemeClr>
            </a:gs>
            <a:gs pos="60000">
              <a:schemeClr val="accent4">
                <a:lumMod val="25000"/>
                <a:lumOff val="75000"/>
              </a:schemeClr>
            </a:gs>
            <a:gs pos="100000">
              <a:schemeClr val="accent4">
                <a:lumMod val="25000"/>
                <a:lumOff val="75000"/>
              </a:schemeClr>
            </a:gs>
            <a:gs pos="80000">
              <a:schemeClr val="accent4">
                <a:lumMod val="50000"/>
                <a:lumOff val="50000"/>
              </a:schemeClr>
            </a:gs>
          </a:gsLst>
          <a:lin ang="2700000" scaled="0"/>
        </a:gradFill>
        <a:effectLst/>
      </p:bgPr>
    </p:bg>
    <p:spTree>
      <p:nvGrpSpPr>
        <p:cNvPr id="1" name="">
          <a:extLst>
            <a:ext uri="{FF2B5EF4-FFF2-40B4-BE49-F238E27FC236}">
              <a16:creationId xmlns:a16="http://schemas.microsoft.com/office/drawing/2014/main" id="{A4C520E1-6401-0094-08B3-F909C8D8DA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54F5987-F8E1-E9B7-C978-882BCA5B8172}"/>
              </a:ext>
            </a:extLst>
          </p:cNvPr>
          <p:cNvSpPr/>
          <p:nvPr/>
        </p:nvSpPr>
        <p:spPr>
          <a:xfrm>
            <a:off x="0" y="0"/>
            <a:ext cx="12191695" cy="777240"/>
          </a:xfrm>
          <a:prstGeom prst="rect">
            <a:avLst/>
          </a:prstGeom>
        </p:spPr>
        <p:style>
          <a:lnRef idx="0">
            <a:srgbClr val="FFFFFF"/>
          </a:lnRef>
          <a:fillRef idx="1">
            <a:schemeClr val="accent4"/>
          </a:fillRef>
          <a:effectRef idx="0">
            <a:srgbClr val="FFFFFF"/>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824E145-8B46-0F5B-A4DA-B5795049EBD0}"/>
              </a:ext>
            </a:extLst>
          </p:cNvPr>
          <p:cNvSpPr txBox="1"/>
          <p:nvPr/>
        </p:nvSpPr>
        <p:spPr>
          <a:xfrm>
            <a:off x="411480" y="146304"/>
            <a:ext cx="11338560" cy="553085"/>
          </a:xfrm>
          <a:prstGeom prst="rect">
            <a:avLst/>
          </a:prstGeom>
          <a:noFill/>
        </p:spPr>
        <p:txBody>
          <a:bodyPr wrap="square" anchor="t">
            <a:spAutoFit/>
          </a:bodyPr>
          <a:lstStyle/>
          <a:p>
            <a:pPr algn="ctr"/>
            <a:r>
              <a:rPr sz="3000" b="1" dirty="0">
                <a:solidFill>
                  <a:srgbClr val="FFFFFF"/>
                </a:solidFill>
                <a:latin typeface="Calibri" panose="020F0502020204030204" charset="0"/>
                <a:cs typeface="Calibri" panose="020F0502020204030204" charset="0"/>
              </a:rPr>
              <a:t> CONCLUSION</a:t>
            </a:r>
          </a:p>
        </p:txBody>
      </p:sp>
      <p:sp>
        <p:nvSpPr>
          <p:cNvPr id="4" name="TextBox 3">
            <a:extLst>
              <a:ext uri="{FF2B5EF4-FFF2-40B4-BE49-F238E27FC236}">
                <a16:creationId xmlns:a16="http://schemas.microsoft.com/office/drawing/2014/main" id="{74871F8A-4CFA-C29C-D799-7B76F7B3F015}"/>
              </a:ext>
            </a:extLst>
          </p:cNvPr>
          <p:cNvSpPr txBox="1"/>
          <p:nvPr/>
        </p:nvSpPr>
        <p:spPr>
          <a:xfrm>
            <a:off x="502920" y="896112"/>
            <a:ext cx="11155680" cy="338554"/>
          </a:xfrm>
          <a:prstGeom prst="rect">
            <a:avLst/>
          </a:prstGeom>
          <a:noFill/>
        </p:spPr>
        <p:txBody>
          <a:bodyPr wrap="square" anchor="t">
            <a:spAutoFit/>
          </a:bodyPr>
          <a:lstStyle/>
          <a:p>
            <a:pPr algn="ctr"/>
            <a:r>
              <a:rPr lang="en-IN" sz="1600" b="0" dirty="0">
                <a:solidFill>
                  <a:srgbClr val="464646"/>
                </a:solidFill>
                <a:latin typeface="Calibri" panose="020F0502020204030204" charset="0"/>
                <a:cs typeface="Calibri" panose="020F0502020204030204" charset="0"/>
              </a:rPr>
              <a:t>key Findings And Performance Highlights</a:t>
            </a:r>
            <a:endParaRPr sz="1600" b="0" dirty="0">
              <a:solidFill>
                <a:srgbClr val="464646"/>
              </a:solidFill>
              <a:latin typeface="Calibri" panose="020F0502020204030204" charset="0"/>
              <a:cs typeface="Calibri" panose="020F0502020204030204" charset="0"/>
            </a:endParaRPr>
          </a:p>
        </p:txBody>
      </p:sp>
      <p:sp>
        <p:nvSpPr>
          <p:cNvPr id="5" name="Rounded Rectangle 4">
            <a:extLst>
              <a:ext uri="{FF2B5EF4-FFF2-40B4-BE49-F238E27FC236}">
                <a16:creationId xmlns:a16="http://schemas.microsoft.com/office/drawing/2014/main" id="{A9605102-E130-B6F2-1EA9-F1C023E4DA8C}"/>
              </a:ext>
            </a:extLst>
          </p:cNvPr>
          <p:cNvSpPr/>
          <p:nvPr/>
        </p:nvSpPr>
        <p:spPr>
          <a:xfrm>
            <a:off x="502920" y="1417320"/>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A6DF63A-5248-F209-19D8-E9381A45F7FA}"/>
              </a:ext>
            </a:extLst>
          </p:cNvPr>
          <p:cNvSpPr txBox="1"/>
          <p:nvPr/>
        </p:nvSpPr>
        <p:spPr>
          <a:xfrm>
            <a:off x="667512" y="1554480"/>
            <a:ext cx="3072384" cy="369332"/>
          </a:xfrm>
          <a:prstGeom prst="rect">
            <a:avLst/>
          </a:prstGeom>
          <a:noFill/>
        </p:spPr>
        <p:txBody>
          <a:bodyPr wrap="square" anchor="t">
            <a:spAutoFit/>
          </a:bodyPr>
          <a:lstStyle/>
          <a:p>
            <a:pPr algn="l"/>
            <a:r>
              <a:rPr lang="en-US" altLang="" b="1" dirty="0">
                <a:solidFill>
                  <a:srgbClr val="563A68"/>
                </a:solidFill>
                <a:latin typeface="Calibri" panose="020F0502020204030204" charset="0"/>
                <a:cs typeface="Calibri" panose="020F0502020204030204" charset="0"/>
              </a:rPr>
              <a:t>1. </a:t>
            </a:r>
            <a:r>
              <a:rPr lang="en-IN" b="1" dirty="0">
                <a:solidFill>
                  <a:srgbClr val="563A68"/>
                </a:solidFill>
                <a:latin typeface="Calibri" panose="020F0502020204030204" charset="0"/>
                <a:cs typeface="Calibri" panose="020F0502020204030204" charset="0"/>
              </a:rPr>
              <a:t>High Ticket Volume</a:t>
            </a:r>
            <a:endParaRPr b="1" dirty="0">
              <a:solidFill>
                <a:srgbClr val="563A68"/>
              </a:solidFill>
              <a:latin typeface="Calibri" panose="020F0502020204030204" charset="0"/>
              <a:cs typeface="Calibri" panose="020F0502020204030204" charset="0"/>
            </a:endParaRPr>
          </a:p>
        </p:txBody>
      </p:sp>
      <p:sp>
        <p:nvSpPr>
          <p:cNvPr id="7" name="TextBox 6">
            <a:extLst>
              <a:ext uri="{FF2B5EF4-FFF2-40B4-BE49-F238E27FC236}">
                <a16:creationId xmlns:a16="http://schemas.microsoft.com/office/drawing/2014/main" id="{FDB0A7D7-3526-E8CE-E6FB-CAED79490DCE}"/>
              </a:ext>
            </a:extLst>
          </p:cNvPr>
          <p:cNvSpPr txBox="1"/>
          <p:nvPr/>
        </p:nvSpPr>
        <p:spPr>
          <a:xfrm>
            <a:off x="667512" y="1970595"/>
            <a:ext cx="3072384" cy="830997"/>
          </a:xfrm>
          <a:prstGeom prst="rect">
            <a:avLst/>
          </a:prstGeom>
          <a:noFill/>
        </p:spPr>
        <p:txBody>
          <a:bodyPr wrap="square" anchor="t">
            <a:spAutoFit/>
          </a:bodyPr>
          <a:lstStyle/>
          <a:p>
            <a:pPr algn="l"/>
            <a:r>
              <a:rPr lang="en-GB" sz="1600" b="0" dirty="0">
                <a:solidFill>
                  <a:srgbClr val="464646"/>
                </a:solidFill>
                <a:latin typeface="Calibri" panose="020F0502020204030204" charset="0"/>
                <a:cs typeface="Calibri" panose="020F0502020204030204" charset="0"/>
              </a:rPr>
              <a:t>The support team handled 97,498 tickets, indicating a substantial and sustained service workload.</a:t>
            </a:r>
            <a:endParaRPr sz="1600" b="0" dirty="0">
              <a:solidFill>
                <a:srgbClr val="464646"/>
              </a:solidFill>
              <a:latin typeface="Calibri" panose="020F0502020204030204" charset="0"/>
              <a:cs typeface="Calibri" panose="020F0502020204030204" charset="0"/>
            </a:endParaRPr>
          </a:p>
        </p:txBody>
      </p:sp>
      <p:sp>
        <p:nvSpPr>
          <p:cNvPr id="8" name="Rounded Rectangle 7">
            <a:extLst>
              <a:ext uri="{FF2B5EF4-FFF2-40B4-BE49-F238E27FC236}">
                <a16:creationId xmlns:a16="http://schemas.microsoft.com/office/drawing/2014/main" id="{07420150-5058-A298-EC3E-2574DF0983DA}"/>
              </a:ext>
            </a:extLst>
          </p:cNvPr>
          <p:cNvSpPr/>
          <p:nvPr/>
        </p:nvSpPr>
        <p:spPr>
          <a:xfrm>
            <a:off x="4133087" y="1417320"/>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0F7062BD-B1CC-0BBD-A54E-03207B37C201}"/>
              </a:ext>
            </a:extLst>
          </p:cNvPr>
          <p:cNvSpPr txBox="1"/>
          <p:nvPr/>
        </p:nvSpPr>
        <p:spPr>
          <a:xfrm>
            <a:off x="4313230" y="1578740"/>
            <a:ext cx="3072384" cy="369332"/>
          </a:xfrm>
          <a:prstGeom prst="rect">
            <a:avLst/>
          </a:prstGeom>
          <a:noFill/>
        </p:spPr>
        <p:txBody>
          <a:bodyPr wrap="square" anchor="t">
            <a:spAutoFit/>
          </a:bodyPr>
          <a:lstStyle/>
          <a:p>
            <a:pPr algn="l"/>
            <a:r>
              <a:rPr b="1" dirty="0">
                <a:solidFill>
                  <a:srgbClr val="563A68"/>
                </a:solidFill>
                <a:latin typeface="Calibri" panose="020F0502020204030204" charset="0"/>
                <a:cs typeface="Calibri" panose="020F0502020204030204" charset="0"/>
              </a:rPr>
              <a:t>2</a:t>
            </a:r>
            <a:r>
              <a:rPr lang="en-US" altLang="" b="1" dirty="0">
                <a:solidFill>
                  <a:srgbClr val="563A68"/>
                </a:solidFill>
                <a:latin typeface="Calibri" panose="020F0502020204030204" charset="0"/>
                <a:cs typeface="Calibri" panose="020F0502020204030204" charset="0"/>
              </a:rPr>
              <a:t>.</a:t>
            </a:r>
            <a:r>
              <a:rPr b="1" dirty="0">
                <a:solidFill>
                  <a:srgbClr val="563A68"/>
                </a:solidFill>
                <a:latin typeface="Calibri" panose="020F0502020204030204" charset="0"/>
                <a:cs typeface="Calibri" panose="020F0502020204030204" charset="0"/>
              </a:rPr>
              <a:t> </a:t>
            </a:r>
            <a:r>
              <a:rPr lang="en-IN" b="1" dirty="0">
                <a:solidFill>
                  <a:srgbClr val="563A68"/>
                </a:solidFill>
                <a:latin typeface="Calibri" panose="020F0502020204030204" charset="0"/>
                <a:cs typeface="Calibri" panose="020F0502020204030204" charset="0"/>
              </a:rPr>
              <a:t>Significant Volume Growth</a:t>
            </a:r>
            <a:endParaRPr b="1" dirty="0">
              <a:solidFill>
                <a:srgbClr val="563A68"/>
              </a:solidFill>
              <a:latin typeface="Calibri" panose="020F0502020204030204" charset="0"/>
              <a:cs typeface="Calibri" panose="020F0502020204030204" charset="0"/>
            </a:endParaRPr>
          </a:p>
        </p:txBody>
      </p:sp>
      <p:sp>
        <p:nvSpPr>
          <p:cNvPr id="10" name="TextBox 9">
            <a:extLst>
              <a:ext uri="{FF2B5EF4-FFF2-40B4-BE49-F238E27FC236}">
                <a16:creationId xmlns:a16="http://schemas.microsoft.com/office/drawing/2014/main" id="{92453E5C-0AB9-B155-F385-AE1FE57871B2}"/>
              </a:ext>
            </a:extLst>
          </p:cNvPr>
          <p:cNvSpPr txBox="1"/>
          <p:nvPr/>
        </p:nvSpPr>
        <p:spPr>
          <a:xfrm>
            <a:off x="4313230" y="1969880"/>
            <a:ext cx="3072384" cy="830997"/>
          </a:xfrm>
          <a:prstGeom prst="rect">
            <a:avLst/>
          </a:prstGeom>
          <a:noFill/>
        </p:spPr>
        <p:txBody>
          <a:bodyPr wrap="square" anchor="t">
            <a:spAutoFit/>
          </a:bodyPr>
          <a:lstStyle/>
          <a:p>
            <a:pPr algn="l"/>
            <a:r>
              <a:rPr lang="en-GB" sz="1600" b="0" dirty="0">
                <a:solidFill>
                  <a:srgbClr val="464646"/>
                </a:solidFill>
                <a:latin typeface="Calibri" panose="020F0502020204030204" charset="0"/>
                <a:cs typeface="Calibri" panose="020F0502020204030204" charset="0"/>
              </a:rPr>
              <a:t>Ticket volume increased by 122.9% from 2016–2020, showing rising demand for IT support.</a:t>
            </a:r>
            <a:endParaRPr sz="1600" b="0" dirty="0">
              <a:solidFill>
                <a:srgbClr val="464646"/>
              </a:solidFill>
              <a:latin typeface="Calibri" panose="020F0502020204030204" charset="0"/>
              <a:cs typeface="Calibri" panose="020F0502020204030204" charset="0"/>
            </a:endParaRPr>
          </a:p>
        </p:txBody>
      </p:sp>
      <p:sp>
        <p:nvSpPr>
          <p:cNvPr id="11" name="Rounded Rectangle 10">
            <a:extLst>
              <a:ext uri="{FF2B5EF4-FFF2-40B4-BE49-F238E27FC236}">
                <a16:creationId xmlns:a16="http://schemas.microsoft.com/office/drawing/2014/main" id="{E0D9B41A-AD2A-28B2-39D8-276CA5E9677B}"/>
              </a:ext>
            </a:extLst>
          </p:cNvPr>
          <p:cNvSpPr/>
          <p:nvPr/>
        </p:nvSpPr>
        <p:spPr>
          <a:xfrm>
            <a:off x="7763256" y="1417320"/>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547F1552-FCA0-2EC2-DC77-04DB6BD16B51}"/>
              </a:ext>
            </a:extLst>
          </p:cNvPr>
          <p:cNvSpPr txBox="1"/>
          <p:nvPr/>
        </p:nvSpPr>
        <p:spPr>
          <a:xfrm>
            <a:off x="7869656" y="1553727"/>
            <a:ext cx="3465577" cy="646331"/>
          </a:xfrm>
          <a:prstGeom prst="rect">
            <a:avLst/>
          </a:prstGeom>
          <a:noFill/>
        </p:spPr>
        <p:txBody>
          <a:bodyPr wrap="square" anchor="t">
            <a:spAutoFit/>
          </a:bodyPr>
          <a:lstStyle/>
          <a:p>
            <a:pPr algn="l"/>
            <a:r>
              <a:rPr lang="en-GB" b="1" dirty="0">
                <a:solidFill>
                  <a:srgbClr val="563A68"/>
                </a:solidFill>
                <a:latin typeface="Calibri" panose="020F0502020204030204" charset="0"/>
                <a:cs typeface="Calibri" panose="020F0502020204030204" charset="0"/>
              </a:rPr>
              <a:t>3</a:t>
            </a:r>
            <a:r>
              <a:rPr lang="en-GB" altLang="" b="1" dirty="0">
                <a:solidFill>
                  <a:srgbClr val="563A68"/>
                </a:solidFill>
                <a:latin typeface="Calibri" panose="020F0502020204030204" charset="0"/>
                <a:cs typeface="Calibri" panose="020F0502020204030204" charset="0"/>
              </a:rPr>
              <a:t>. </a:t>
            </a:r>
            <a:r>
              <a:rPr lang="en-GB" b="1" dirty="0">
                <a:solidFill>
                  <a:srgbClr val="563A68"/>
                </a:solidFill>
                <a:latin typeface="Calibri" panose="020F0502020204030204" charset="0"/>
                <a:cs typeface="Calibri" panose="020F0502020204030204" charset="0"/>
              </a:rPr>
              <a:t>Resolution Time Needs Attention</a:t>
            </a:r>
            <a:endParaRPr b="1" dirty="0">
              <a:solidFill>
                <a:srgbClr val="563A68"/>
              </a:solidFill>
              <a:latin typeface="Calibri" panose="020F0502020204030204" charset="0"/>
              <a:cs typeface="Calibri" panose="020F0502020204030204" charset="0"/>
            </a:endParaRPr>
          </a:p>
        </p:txBody>
      </p:sp>
      <p:sp>
        <p:nvSpPr>
          <p:cNvPr id="13" name="TextBox 12">
            <a:extLst>
              <a:ext uri="{FF2B5EF4-FFF2-40B4-BE49-F238E27FC236}">
                <a16:creationId xmlns:a16="http://schemas.microsoft.com/office/drawing/2014/main" id="{328B9A79-7D53-AE7B-B59A-5F037915A2A6}"/>
              </a:ext>
            </a:extLst>
          </p:cNvPr>
          <p:cNvSpPr txBox="1"/>
          <p:nvPr/>
        </p:nvSpPr>
        <p:spPr>
          <a:xfrm>
            <a:off x="7887818" y="2109692"/>
            <a:ext cx="3277005" cy="1077218"/>
          </a:xfrm>
          <a:prstGeom prst="rect">
            <a:avLst/>
          </a:prstGeom>
          <a:noFill/>
        </p:spPr>
        <p:txBody>
          <a:bodyPr wrap="square" anchor="t">
            <a:spAutoFit/>
          </a:bodyPr>
          <a:lstStyle/>
          <a:p>
            <a:pPr algn="l"/>
            <a:r>
              <a:rPr lang="en-GB" sz="1600" b="0" dirty="0">
                <a:solidFill>
                  <a:srgbClr val="464646"/>
                </a:solidFill>
                <a:latin typeface="Calibri" panose="020F0502020204030204" charset="0"/>
                <a:cs typeface="Calibri" panose="020F0502020204030204" charset="0"/>
              </a:rPr>
              <a:t>The overall average resolution time is 4.55 days, with Hardware and System tickets taking longer to resolve.</a:t>
            </a:r>
            <a:r>
              <a:rPr sz="1600" b="0" dirty="0">
                <a:solidFill>
                  <a:srgbClr val="464646"/>
                </a:solidFill>
                <a:latin typeface="Calibri" panose="020F0502020204030204" charset="0"/>
                <a:cs typeface="Calibri" panose="020F0502020204030204" charset="0"/>
              </a:rPr>
              <a:t>.</a:t>
            </a:r>
          </a:p>
        </p:txBody>
      </p:sp>
      <p:sp>
        <p:nvSpPr>
          <p:cNvPr id="14" name="Rounded Rectangle 13">
            <a:extLst>
              <a:ext uri="{FF2B5EF4-FFF2-40B4-BE49-F238E27FC236}">
                <a16:creationId xmlns:a16="http://schemas.microsoft.com/office/drawing/2014/main" id="{B921E35F-D6A9-83A7-4BDB-52B97D76DCD4}"/>
              </a:ext>
            </a:extLst>
          </p:cNvPr>
          <p:cNvSpPr/>
          <p:nvPr/>
        </p:nvSpPr>
        <p:spPr>
          <a:xfrm>
            <a:off x="502920" y="3401568"/>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693AEC5-2A78-4818-736D-71068A512D24}"/>
              </a:ext>
            </a:extLst>
          </p:cNvPr>
          <p:cNvSpPr txBox="1"/>
          <p:nvPr/>
        </p:nvSpPr>
        <p:spPr>
          <a:xfrm>
            <a:off x="669316" y="3522493"/>
            <a:ext cx="3401567" cy="646331"/>
          </a:xfrm>
          <a:prstGeom prst="rect">
            <a:avLst/>
          </a:prstGeom>
          <a:noFill/>
        </p:spPr>
        <p:txBody>
          <a:bodyPr wrap="square" anchor="t">
            <a:spAutoFit/>
          </a:bodyPr>
          <a:lstStyle/>
          <a:p>
            <a:pPr algn="l"/>
            <a:r>
              <a:rPr lang="en-IN" b="1" dirty="0">
                <a:solidFill>
                  <a:srgbClr val="563A68"/>
                </a:solidFill>
                <a:latin typeface="Calibri" panose="020F0502020204030204" charset="0"/>
                <a:cs typeface="Calibri" panose="020F0502020204030204" charset="0"/>
              </a:rPr>
              <a:t>4. High-Volume Workflows Drive Demand</a:t>
            </a:r>
            <a:endParaRPr b="1" dirty="0">
              <a:solidFill>
                <a:srgbClr val="563A68"/>
              </a:solidFill>
              <a:latin typeface="Calibri" panose="020F0502020204030204" charset="0"/>
              <a:cs typeface="Calibri" panose="020F0502020204030204" charset="0"/>
            </a:endParaRPr>
          </a:p>
        </p:txBody>
      </p:sp>
      <p:sp>
        <p:nvSpPr>
          <p:cNvPr id="16" name="TextBox 15">
            <a:extLst>
              <a:ext uri="{FF2B5EF4-FFF2-40B4-BE49-F238E27FC236}">
                <a16:creationId xmlns:a16="http://schemas.microsoft.com/office/drawing/2014/main" id="{75C261FD-E1DF-1A5C-2273-E32D77E1E94C}"/>
              </a:ext>
            </a:extLst>
          </p:cNvPr>
          <p:cNvSpPr txBox="1"/>
          <p:nvPr/>
        </p:nvSpPr>
        <p:spPr>
          <a:xfrm>
            <a:off x="677496" y="4109694"/>
            <a:ext cx="3310190" cy="1077218"/>
          </a:xfrm>
          <a:prstGeom prst="rect">
            <a:avLst/>
          </a:prstGeom>
          <a:noFill/>
        </p:spPr>
        <p:txBody>
          <a:bodyPr wrap="square" anchor="t">
            <a:spAutoFit/>
          </a:bodyPr>
          <a:lstStyle/>
          <a:p>
            <a:pPr algn="l"/>
            <a:r>
              <a:rPr lang="en-GB" sz="1600" b="0" dirty="0">
                <a:solidFill>
                  <a:srgbClr val="464646"/>
                </a:solidFill>
                <a:latin typeface="Calibri" panose="020F0502020204030204" charset="0"/>
                <a:cs typeface="Calibri" panose="020F0502020204030204" charset="0"/>
              </a:rPr>
              <a:t>Login Access and System workflows account for a major share of ticket volume, making them key workload drivers.</a:t>
            </a:r>
            <a:endParaRPr sz="1600" b="0" dirty="0">
              <a:solidFill>
                <a:srgbClr val="464646"/>
              </a:solidFill>
              <a:latin typeface="Calibri" panose="020F0502020204030204" charset="0"/>
              <a:cs typeface="Calibri" panose="020F0502020204030204" charset="0"/>
            </a:endParaRPr>
          </a:p>
        </p:txBody>
      </p:sp>
      <p:sp>
        <p:nvSpPr>
          <p:cNvPr id="17" name="Rounded Rectangle 16">
            <a:extLst>
              <a:ext uri="{FF2B5EF4-FFF2-40B4-BE49-F238E27FC236}">
                <a16:creationId xmlns:a16="http://schemas.microsoft.com/office/drawing/2014/main" id="{057D48E3-90F5-E252-0C7C-60ED54650B7B}"/>
              </a:ext>
            </a:extLst>
          </p:cNvPr>
          <p:cNvSpPr/>
          <p:nvPr/>
        </p:nvSpPr>
        <p:spPr>
          <a:xfrm>
            <a:off x="4133087" y="3401568"/>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00BFA287-9027-7990-8129-E0141A5EAAFD}"/>
              </a:ext>
            </a:extLst>
          </p:cNvPr>
          <p:cNvSpPr txBox="1"/>
          <p:nvPr/>
        </p:nvSpPr>
        <p:spPr>
          <a:xfrm>
            <a:off x="4266577" y="3538728"/>
            <a:ext cx="3072384" cy="369332"/>
          </a:xfrm>
          <a:prstGeom prst="rect">
            <a:avLst/>
          </a:prstGeom>
          <a:noFill/>
        </p:spPr>
        <p:txBody>
          <a:bodyPr wrap="square" anchor="t">
            <a:spAutoFit/>
          </a:bodyPr>
          <a:lstStyle/>
          <a:p>
            <a:pPr algn="l"/>
            <a:r>
              <a:rPr b="1" dirty="0">
                <a:solidFill>
                  <a:srgbClr val="563A68"/>
                </a:solidFill>
                <a:latin typeface="Calibri" panose="020F0502020204030204" charset="0"/>
                <a:cs typeface="Calibri" panose="020F0502020204030204" charset="0"/>
              </a:rPr>
              <a:t>5</a:t>
            </a:r>
            <a:r>
              <a:rPr lang="en-US" altLang="" b="1" dirty="0">
                <a:solidFill>
                  <a:srgbClr val="563A68"/>
                </a:solidFill>
                <a:latin typeface="Calibri" panose="020F0502020204030204" charset="0"/>
                <a:cs typeface="Calibri" panose="020F0502020204030204" charset="0"/>
              </a:rPr>
              <a:t>. </a:t>
            </a:r>
            <a:r>
              <a:rPr lang="en-IN" b="1" dirty="0">
                <a:solidFill>
                  <a:srgbClr val="563A68"/>
                </a:solidFill>
                <a:latin typeface="Calibri" panose="020F0502020204030204" charset="0"/>
                <a:cs typeface="Calibri" panose="020F0502020204030204" charset="0"/>
              </a:rPr>
              <a:t>Triage &amp; Classification Gap</a:t>
            </a:r>
            <a:endParaRPr b="1" dirty="0">
              <a:solidFill>
                <a:srgbClr val="563A68"/>
              </a:solidFill>
              <a:latin typeface="Calibri" panose="020F0502020204030204" charset="0"/>
              <a:cs typeface="Calibri" panose="020F0502020204030204" charset="0"/>
            </a:endParaRPr>
          </a:p>
        </p:txBody>
      </p:sp>
      <p:sp>
        <p:nvSpPr>
          <p:cNvPr id="19" name="TextBox 18">
            <a:extLst>
              <a:ext uri="{FF2B5EF4-FFF2-40B4-BE49-F238E27FC236}">
                <a16:creationId xmlns:a16="http://schemas.microsoft.com/office/drawing/2014/main" id="{DD8C1E26-FA5B-CFED-F52E-B68EC378B753}"/>
              </a:ext>
            </a:extLst>
          </p:cNvPr>
          <p:cNvSpPr txBox="1"/>
          <p:nvPr/>
        </p:nvSpPr>
        <p:spPr>
          <a:xfrm>
            <a:off x="4351984" y="4016241"/>
            <a:ext cx="3072384" cy="830997"/>
          </a:xfrm>
          <a:prstGeom prst="rect">
            <a:avLst/>
          </a:prstGeom>
          <a:noFill/>
        </p:spPr>
        <p:txBody>
          <a:bodyPr wrap="square" anchor="t">
            <a:spAutoFit/>
          </a:bodyPr>
          <a:lstStyle/>
          <a:p>
            <a:pPr algn="l"/>
            <a:r>
              <a:rPr lang="en-GB" sz="1600" b="0" dirty="0">
                <a:solidFill>
                  <a:srgbClr val="464646"/>
                </a:solidFill>
                <a:latin typeface="Calibri" panose="020F0502020204030204" charset="0"/>
                <a:cs typeface="Calibri" panose="020F0502020204030204" charset="0"/>
              </a:rPr>
              <a:t>There are 356 unclassified tickets (0.37%), indicating room for better ticket categorization and routing</a:t>
            </a:r>
            <a:r>
              <a:rPr sz="1600" b="0" dirty="0">
                <a:solidFill>
                  <a:srgbClr val="464646"/>
                </a:solidFill>
                <a:latin typeface="Calibri" panose="020F0502020204030204" charset="0"/>
                <a:cs typeface="Calibri" panose="020F0502020204030204" charset="0"/>
              </a:rPr>
              <a:t>.</a:t>
            </a:r>
          </a:p>
        </p:txBody>
      </p:sp>
      <p:sp>
        <p:nvSpPr>
          <p:cNvPr id="20" name="Rounded Rectangle 19">
            <a:extLst>
              <a:ext uri="{FF2B5EF4-FFF2-40B4-BE49-F238E27FC236}">
                <a16:creationId xmlns:a16="http://schemas.microsoft.com/office/drawing/2014/main" id="{2922C4D2-6712-437D-0E5F-905DF7660EFC}"/>
              </a:ext>
            </a:extLst>
          </p:cNvPr>
          <p:cNvSpPr/>
          <p:nvPr/>
        </p:nvSpPr>
        <p:spPr>
          <a:xfrm>
            <a:off x="7763256" y="3401568"/>
            <a:ext cx="3401568" cy="1755648"/>
          </a:xfrm>
          <a:prstGeom prst="roundRect">
            <a:avLst/>
          </a:prstGeom>
          <a:solidFill>
            <a:srgbClr val="FFFFFF"/>
          </a:solidFill>
          <a:ln w="12700">
            <a:solidFill>
              <a:srgbClr val="CDB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2F788DD2-98D2-5061-3D3A-26CFD3DBBCA5}"/>
              </a:ext>
            </a:extLst>
          </p:cNvPr>
          <p:cNvSpPr txBox="1"/>
          <p:nvPr/>
        </p:nvSpPr>
        <p:spPr>
          <a:xfrm>
            <a:off x="7851243" y="3450557"/>
            <a:ext cx="3401568" cy="646331"/>
          </a:xfrm>
          <a:prstGeom prst="rect">
            <a:avLst/>
          </a:prstGeom>
          <a:noFill/>
        </p:spPr>
        <p:txBody>
          <a:bodyPr wrap="square" anchor="t">
            <a:spAutoFit/>
          </a:bodyPr>
          <a:lstStyle/>
          <a:p>
            <a:pPr algn="l"/>
            <a:r>
              <a:rPr b="1" dirty="0">
                <a:solidFill>
                  <a:srgbClr val="563A68"/>
                </a:solidFill>
                <a:latin typeface="Calibri" panose="020F0502020204030204" charset="0"/>
                <a:cs typeface="Calibri" panose="020F0502020204030204" charset="0"/>
              </a:rPr>
              <a:t>6</a:t>
            </a:r>
            <a:r>
              <a:rPr lang="en-US" altLang="" b="1" dirty="0">
                <a:solidFill>
                  <a:srgbClr val="563A68"/>
                </a:solidFill>
                <a:latin typeface="Calibri" panose="020F0502020204030204" charset="0"/>
                <a:cs typeface="Calibri" panose="020F0502020204030204" charset="0"/>
              </a:rPr>
              <a:t>.</a:t>
            </a:r>
            <a:r>
              <a:rPr b="1" dirty="0">
                <a:solidFill>
                  <a:srgbClr val="563A68"/>
                </a:solidFill>
                <a:latin typeface="Calibri" panose="020F0502020204030204" charset="0"/>
                <a:cs typeface="Calibri" panose="020F0502020204030204" charset="0"/>
              </a:rPr>
              <a:t> </a:t>
            </a:r>
            <a:r>
              <a:rPr lang="en-IN" b="1" dirty="0">
                <a:solidFill>
                  <a:srgbClr val="563A68"/>
                </a:solidFill>
                <a:latin typeface="Calibri" panose="020F0502020204030204" charset="0"/>
                <a:cs typeface="Calibri" panose="020F0502020204030204" charset="0"/>
              </a:rPr>
              <a:t>Satisfaction &amp; Agent Performance Vary</a:t>
            </a:r>
            <a:endParaRPr b="1" dirty="0">
              <a:solidFill>
                <a:srgbClr val="563A68"/>
              </a:solidFill>
              <a:latin typeface="Calibri" panose="020F0502020204030204" charset="0"/>
              <a:cs typeface="Calibri" panose="020F0502020204030204" charset="0"/>
            </a:endParaRPr>
          </a:p>
        </p:txBody>
      </p:sp>
      <p:sp>
        <p:nvSpPr>
          <p:cNvPr id="22" name="TextBox 21">
            <a:extLst>
              <a:ext uri="{FF2B5EF4-FFF2-40B4-BE49-F238E27FC236}">
                <a16:creationId xmlns:a16="http://schemas.microsoft.com/office/drawing/2014/main" id="{7AF4B51B-AAA4-10F6-5635-EBE9A1B49A85}"/>
              </a:ext>
            </a:extLst>
          </p:cNvPr>
          <p:cNvSpPr txBox="1"/>
          <p:nvPr/>
        </p:nvSpPr>
        <p:spPr>
          <a:xfrm>
            <a:off x="7807250" y="4044982"/>
            <a:ext cx="3401568" cy="1077218"/>
          </a:xfrm>
          <a:prstGeom prst="rect">
            <a:avLst/>
          </a:prstGeom>
          <a:noFill/>
        </p:spPr>
        <p:txBody>
          <a:bodyPr wrap="square" anchor="t">
            <a:spAutoFit/>
          </a:bodyPr>
          <a:lstStyle/>
          <a:p>
            <a:pPr algn="l"/>
            <a:r>
              <a:rPr lang="en-GB" sz="1600" b="0" dirty="0">
                <a:solidFill>
                  <a:srgbClr val="464646"/>
                </a:solidFill>
                <a:latin typeface="Calibri" panose="020F0502020204030204" charset="0"/>
                <a:cs typeface="Calibri" panose="020F0502020204030204" charset="0"/>
              </a:rPr>
              <a:t>Overall satisfaction is 4.1/5, with the 34–38 age group lowest at 3.96/5. Some agents also show weaker resolution performance</a:t>
            </a:r>
            <a:endParaRPr sz="1600" b="0" dirty="0">
              <a:solidFill>
                <a:srgbClr val="464646"/>
              </a:solidFill>
              <a:latin typeface="Calibri" panose="020F0502020204030204" charset="0"/>
              <a:cs typeface="Calibri" panose="020F0502020204030204" charset="0"/>
            </a:endParaRPr>
          </a:p>
        </p:txBody>
      </p:sp>
    </p:spTree>
    <p:extLst>
      <p:ext uri="{BB962C8B-B14F-4D97-AF65-F5344CB8AC3E}">
        <p14:creationId xmlns:p14="http://schemas.microsoft.com/office/powerpoint/2010/main" val="3731882830"/>
      </p:ext>
    </p:extLst>
  </p:cSld>
  <p:clrMapOvr>
    <a:masterClrMapping/>
  </p:clrMapOvr>
  <p:transition spd="slow">
    <p:cover dir="d"/>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object 29"/>
          <p:cNvSpPr/>
          <p:nvPr/>
        </p:nvSpPr>
        <p:spPr>
          <a:xfrm>
            <a:off x="4267200" y="5454492"/>
            <a:ext cx="2790344" cy="814219"/>
          </a:xfrm>
          <a:custGeom>
            <a:avLst/>
            <a:gdLst/>
            <a:ahLst/>
            <a:cxnLst/>
            <a:rect l="l" t="t" r="r" b="b"/>
            <a:pathLst>
              <a:path w="5410200" h="647700">
                <a:moveTo>
                  <a:pt x="5410199" y="647699"/>
                </a:moveTo>
                <a:lnTo>
                  <a:pt x="0" y="647699"/>
                </a:lnTo>
                <a:lnTo>
                  <a:pt x="0" y="0"/>
                </a:lnTo>
                <a:lnTo>
                  <a:pt x="5410199" y="0"/>
                </a:lnTo>
                <a:lnTo>
                  <a:pt x="5410199" y="647699"/>
                </a:lnTo>
                <a:close/>
              </a:path>
            </a:pathLst>
          </a:custGeom>
          <a:solidFill>
            <a:schemeClr val="accent4">
              <a:lumMod val="20000"/>
              <a:lumOff val="80000"/>
            </a:schemeClr>
          </a:solidFill>
          <a:ln>
            <a:solidFill>
              <a:schemeClr val="accent4"/>
            </a:solidFill>
          </a:ln>
        </p:spPr>
        <p:txBody>
          <a:bodyPr wrap="square" lIns="0" tIns="0" rIns="0" bIns="0" rtlCol="0"/>
          <a:lstStyle/>
          <a:p>
            <a:endParaRPr dirty="0">
              <a:solidFill>
                <a:schemeClr val="accent4">
                  <a:lumMod val="50000"/>
                </a:schemeClr>
              </a:solidFill>
              <a:latin typeface="+mj-lt"/>
            </a:endParaRPr>
          </a:p>
        </p:txBody>
      </p:sp>
      <p:sp>
        <p:nvSpPr>
          <p:cNvPr id="31" name="object 31"/>
          <p:cNvSpPr txBox="1">
            <a:spLocks noGrp="1"/>
          </p:cNvSpPr>
          <p:nvPr>
            <p:ph sz="half" idx="2"/>
          </p:nvPr>
        </p:nvSpPr>
        <p:spPr>
          <a:xfrm>
            <a:off x="5258021" y="5508045"/>
            <a:ext cx="1735069" cy="446405"/>
          </a:xfrm>
          <a:prstGeom prst="rect">
            <a:avLst/>
          </a:prstGeom>
        </p:spPr>
        <p:txBody>
          <a:bodyPr vert="horz" wrap="square" lIns="0" tIns="201111" rIns="0" bIns="0" rtlCol="0" anchor="t">
            <a:spAutoFit/>
          </a:bodyPr>
          <a:lstStyle/>
          <a:p>
            <a:pPr marL="12700" algn="l">
              <a:lnSpc>
                <a:spcPct val="100000"/>
              </a:lnSpc>
            </a:pPr>
            <a:r>
              <a:rPr sz="1600" b="0" dirty="0">
                <a:solidFill>
                  <a:schemeClr val="tx1"/>
                </a:solidFill>
                <a:latin typeface="Calibri" panose="020F0502020204030204" charset="0"/>
                <a:cs typeface="Calibri" panose="020F0502020204030204" charset="0"/>
              </a:rPr>
              <a:t>Akhil B. </a:t>
            </a:r>
            <a:r>
              <a:rPr lang="en-IN" sz="1600" b="0" dirty="0" err="1">
                <a:solidFill>
                  <a:schemeClr val="tx1"/>
                </a:solidFill>
                <a:latin typeface="Calibri" panose="020F0502020204030204" charset="0"/>
                <a:cs typeface="Calibri" panose="020F0502020204030204" charset="0"/>
              </a:rPr>
              <a:t>Wabhitkar</a:t>
            </a:r>
            <a:endParaRPr sz="1600" b="0" dirty="0">
              <a:solidFill>
                <a:schemeClr val="tx1"/>
              </a:solidFill>
              <a:latin typeface="Calibri" panose="020F0502020204030204" charset="0"/>
              <a:cs typeface="Calibri" panose="020F0502020204030204" charset="0"/>
            </a:endParaRPr>
          </a:p>
        </p:txBody>
      </p:sp>
      <p:sp>
        <p:nvSpPr>
          <p:cNvPr id="17" name="object 17"/>
          <p:cNvSpPr/>
          <p:nvPr/>
        </p:nvSpPr>
        <p:spPr>
          <a:xfrm>
            <a:off x="761907" y="2035597"/>
            <a:ext cx="4117623" cy="2680813"/>
          </a:xfrm>
          <a:prstGeom prst="roundRect">
            <a:avLst>
              <a:gd name="adj" fmla="val 1434"/>
            </a:avLst>
          </a:prstGeom>
          <a:solidFill>
            <a:schemeClr val="accent4">
              <a:lumMod val="20000"/>
              <a:lumOff val="80000"/>
            </a:schemeClr>
          </a:solidFill>
          <a:ln w="19050">
            <a:solidFill>
              <a:schemeClr val="accent4">
                <a:lumMod val="50000"/>
              </a:schemeClr>
            </a:solidFill>
          </a:ln>
        </p:spPr>
        <p:txBody>
          <a:bodyPr wrap="square" lIns="0" tIns="0" rIns="0" bIns="0" rtlCol="0"/>
          <a:lstStyle/>
          <a:p>
            <a:endParaRPr>
              <a:solidFill>
                <a:schemeClr val="accent4">
                  <a:lumMod val="50000"/>
                </a:schemeClr>
              </a:solidFill>
              <a:latin typeface="+mj-lt"/>
            </a:endParaRPr>
          </a:p>
        </p:txBody>
      </p:sp>
      <p:sp>
        <p:nvSpPr>
          <p:cNvPr id="25" name="object 20"/>
          <p:cNvSpPr txBox="1"/>
          <p:nvPr/>
        </p:nvSpPr>
        <p:spPr>
          <a:xfrm>
            <a:off x="697103" y="3415369"/>
            <a:ext cx="5715000" cy="833755"/>
          </a:xfrm>
          <a:prstGeom prst="rect">
            <a:avLst/>
          </a:prstGeom>
        </p:spPr>
        <p:txBody>
          <a:bodyPr vert="horz" wrap="square" lIns="0" tIns="59690" rIns="0" bIns="0" rtlCol="0">
            <a:spAutoFit/>
          </a:bodyPr>
          <a:lstStyle/>
          <a:p>
            <a:pPr marR="3775075" algn="r">
              <a:lnSpc>
                <a:spcPct val="100000"/>
              </a:lnSpc>
              <a:spcBef>
                <a:spcPts val="1310"/>
              </a:spcBef>
            </a:pPr>
            <a:endParaRPr lang="en-US" sz="1600" b="1" dirty="0">
              <a:solidFill>
                <a:schemeClr val="accent4">
                  <a:lumMod val="50000"/>
                </a:schemeClr>
              </a:solidFill>
              <a:latin typeface="+mj-lt"/>
              <a:cs typeface="Arial" panose="020B0604020202020204"/>
            </a:endParaRPr>
          </a:p>
          <a:p>
            <a:pPr marL="737870" marR="1743075" indent="0">
              <a:lnSpc>
                <a:spcPct val="104000"/>
              </a:lnSpc>
              <a:spcBef>
                <a:spcPts val="130"/>
              </a:spcBef>
              <a:buFont typeface="Arial" panose="020B0604020202020204" pitchFamily="34" charset="0"/>
              <a:buNone/>
            </a:pPr>
            <a:r>
              <a:rPr lang="en-US" sz="1600" spc="-10" dirty="0">
                <a:solidFill>
                  <a:schemeClr val="accent4">
                    <a:lumMod val="50000"/>
                  </a:schemeClr>
                </a:solidFill>
                <a:latin typeface="Calibri" panose="020F0502020204030204" charset="0"/>
                <a:cs typeface="Calibri" panose="020F0502020204030204" charset="0"/>
              </a:rPr>
              <a:t>50</a:t>
            </a:r>
            <a:r>
              <a:rPr lang="en-US" sz="1600" spc="-50" dirty="0">
                <a:solidFill>
                  <a:schemeClr val="accent4">
                    <a:lumMod val="50000"/>
                  </a:schemeClr>
                </a:solidFill>
                <a:latin typeface="Calibri" panose="020F0502020204030204" charset="0"/>
                <a:cs typeface="Calibri" panose="020F0502020204030204" charset="0"/>
              </a:rPr>
              <a:t> </a:t>
            </a:r>
            <a:r>
              <a:rPr lang="en-US" sz="1600" spc="-10" dirty="0">
                <a:solidFill>
                  <a:schemeClr val="accent4">
                    <a:lumMod val="50000"/>
                  </a:schemeClr>
                </a:solidFill>
                <a:latin typeface="Calibri" panose="020F0502020204030204" charset="0"/>
                <a:cs typeface="Calibri" panose="020F0502020204030204" charset="0"/>
              </a:rPr>
              <a:t>agents</a:t>
            </a:r>
            <a:r>
              <a:rPr lang="en-US" sz="1600" spc="-45" dirty="0">
                <a:solidFill>
                  <a:schemeClr val="accent4">
                    <a:lumMod val="50000"/>
                  </a:schemeClr>
                </a:solidFill>
                <a:latin typeface="Calibri" panose="020F0502020204030204" charset="0"/>
                <a:cs typeface="Calibri" panose="020F0502020204030204" charset="0"/>
              </a:rPr>
              <a:t> </a:t>
            </a:r>
            <a:r>
              <a:rPr lang="en-US" sz="1600" dirty="0">
                <a:solidFill>
                  <a:schemeClr val="accent4">
                    <a:lumMod val="50000"/>
                  </a:schemeClr>
                </a:solidFill>
                <a:latin typeface="Calibri" panose="020F0502020204030204" charset="0"/>
                <a:cs typeface="Calibri" panose="020F0502020204030204" charset="0"/>
              </a:rPr>
              <a:t>with</a:t>
            </a:r>
            <a:r>
              <a:rPr lang="en-US" sz="1600" spc="-50" dirty="0">
                <a:solidFill>
                  <a:schemeClr val="accent4">
                    <a:lumMod val="50000"/>
                  </a:schemeClr>
                </a:solidFill>
                <a:latin typeface="Calibri" panose="020F0502020204030204" charset="0"/>
                <a:cs typeface="Calibri" panose="020F0502020204030204" charset="0"/>
              </a:rPr>
              <a:t> </a:t>
            </a:r>
            <a:r>
              <a:rPr lang="en-US" sz="1600" spc="-10" dirty="0">
                <a:solidFill>
                  <a:schemeClr val="accent4">
                    <a:lumMod val="50000"/>
                  </a:schemeClr>
                </a:solidFill>
                <a:latin typeface="Calibri" panose="020F0502020204030204" charset="0"/>
                <a:cs typeface="Calibri" panose="020F0502020204030204" charset="0"/>
              </a:rPr>
              <a:t>demographic</a:t>
            </a:r>
            <a:r>
              <a:rPr lang="en-US" sz="1600" spc="-45" dirty="0">
                <a:solidFill>
                  <a:schemeClr val="accent4">
                    <a:lumMod val="50000"/>
                  </a:schemeClr>
                </a:solidFill>
                <a:latin typeface="Calibri" panose="020F0502020204030204" charset="0"/>
                <a:cs typeface="Calibri" panose="020F0502020204030204" charset="0"/>
              </a:rPr>
              <a:t> </a:t>
            </a:r>
            <a:r>
              <a:rPr lang="en-US" sz="1600" spc="-10" dirty="0">
                <a:solidFill>
                  <a:schemeClr val="accent4">
                    <a:lumMod val="50000"/>
                  </a:schemeClr>
                </a:solidFill>
                <a:latin typeface="Calibri" panose="020F0502020204030204" charset="0"/>
                <a:cs typeface="Calibri" panose="020F0502020204030204" charset="0"/>
              </a:rPr>
              <a:t>&amp;</a:t>
            </a:r>
            <a:r>
              <a:rPr lang="en-US" sz="1600" spc="-45" dirty="0">
                <a:solidFill>
                  <a:schemeClr val="accent4">
                    <a:lumMod val="50000"/>
                  </a:schemeClr>
                </a:solidFill>
                <a:latin typeface="Calibri" panose="020F0502020204030204" charset="0"/>
                <a:cs typeface="Calibri" panose="020F0502020204030204" charset="0"/>
              </a:rPr>
              <a:t>              </a:t>
            </a:r>
            <a:r>
              <a:rPr lang="en-US" sz="1600" spc="-10" dirty="0">
                <a:solidFill>
                  <a:schemeClr val="accent4">
                    <a:lumMod val="50000"/>
                  </a:schemeClr>
                </a:solidFill>
                <a:latin typeface="Calibri" panose="020F0502020204030204" charset="0"/>
                <a:cs typeface="Calibri" panose="020F0502020204030204" charset="0"/>
              </a:rPr>
              <a:t>performance</a:t>
            </a:r>
            <a:r>
              <a:rPr lang="en-US" sz="1600" spc="-50" dirty="0">
                <a:solidFill>
                  <a:schemeClr val="accent4">
                    <a:lumMod val="50000"/>
                  </a:schemeClr>
                </a:solidFill>
                <a:latin typeface="Calibri" panose="020F0502020204030204" charset="0"/>
                <a:cs typeface="Calibri" panose="020F0502020204030204" charset="0"/>
              </a:rPr>
              <a:t>  </a:t>
            </a:r>
            <a:r>
              <a:rPr lang="en-US" sz="1600" spc="-20" dirty="0">
                <a:solidFill>
                  <a:schemeClr val="accent4">
                    <a:lumMod val="50000"/>
                  </a:schemeClr>
                </a:solidFill>
                <a:latin typeface="Calibri" panose="020F0502020204030204" charset="0"/>
                <a:cs typeface="Calibri" panose="020F0502020204030204" charset="0"/>
              </a:rPr>
              <a:t>data</a:t>
            </a:r>
          </a:p>
        </p:txBody>
      </p:sp>
      <p:sp>
        <p:nvSpPr>
          <p:cNvPr id="20" name="object 20"/>
          <p:cNvSpPr txBox="1"/>
          <p:nvPr/>
        </p:nvSpPr>
        <p:spPr>
          <a:xfrm>
            <a:off x="838200" y="2189480"/>
            <a:ext cx="3982085" cy="1290320"/>
          </a:xfrm>
          <a:prstGeom prst="rect">
            <a:avLst/>
          </a:prstGeom>
        </p:spPr>
        <p:txBody>
          <a:bodyPr vert="horz" wrap="square" lIns="0" tIns="59690" rIns="0" bIns="0" rtlCol="0" anchor="t">
            <a:spAutoFit/>
          </a:bodyPr>
          <a:lstStyle/>
          <a:p>
            <a:pPr marL="630555" algn="l">
              <a:lnSpc>
                <a:spcPct val="100000"/>
              </a:lnSpc>
            </a:pPr>
            <a:r>
              <a:rPr sz="1600" b="0" dirty="0">
                <a:solidFill>
                  <a:srgbClr val="464646"/>
                </a:solidFill>
                <a:latin typeface="Calibri" panose="020F0502020204030204" charset="0"/>
                <a:cs typeface="Calibri" panose="020F0502020204030204" charset="0"/>
              </a:rPr>
              <a:t>Tickets Dataset:-
97,498 records with complete ticket metadata.
Source: Internal IT Management System</a:t>
            </a:r>
          </a:p>
        </p:txBody>
      </p:sp>
      <p:sp>
        <p:nvSpPr>
          <p:cNvPr id="2" name="object 2"/>
          <p:cNvSpPr txBox="1"/>
          <p:nvPr/>
        </p:nvSpPr>
        <p:spPr>
          <a:xfrm>
            <a:off x="152400" y="624205"/>
            <a:ext cx="6887210" cy="474980"/>
          </a:xfrm>
          <a:prstGeom prst="rect">
            <a:avLst/>
          </a:prstGeom>
        </p:spPr>
        <p:txBody>
          <a:bodyPr vert="horz" wrap="square" lIns="0" tIns="4445" rIns="0" bIns="0" rtlCol="0">
            <a:spAutoFit/>
          </a:bodyPr>
          <a:lstStyle/>
          <a:p>
            <a:pPr marL="12700" marR="5080" algn="ctr">
              <a:lnSpc>
                <a:spcPct val="102000"/>
              </a:lnSpc>
              <a:spcBef>
                <a:spcPts val="35"/>
              </a:spcBef>
            </a:pPr>
            <a:r>
              <a:rPr lang="en-IN" sz="3000" b="1" dirty="0">
                <a:solidFill>
                  <a:schemeClr val="accent4">
                    <a:lumMod val="50000"/>
                  </a:schemeClr>
                </a:solidFill>
                <a:latin typeface="Calibri" panose="020F0502020204030204" charset="0"/>
                <a:cs typeface="Calibri" panose="020F0502020204030204" charset="0"/>
              </a:rPr>
              <a:t>Acknowledgements &amp; References</a:t>
            </a:r>
          </a:p>
        </p:txBody>
      </p:sp>
      <p:sp>
        <p:nvSpPr>
          <p:cNvPr id="3" name="object 3"/>
          <p:cNvSpPr/>
          <p:nvPr/>
        </p:nvSpPr>
        <p:spPr>
          <a:xfrm flipV="1">
            <a:off x="762000" y="1087120"/>
            <a:ext cx="5868035" cy="76200"/>
          </a:xfrm>
          <a:custGeom>
            <a:avLst/>
            <a:gdLst/>
            <a:ahLst/>
            <a:cxnLst/>
            <a:rect l="l" t="t" r="r" b="b"/>
            <a:pathLst>
              <a:path w="571500" h="38100">
                <a:moveTo>
                  <a:pt x="571499" y="38099"/>
                </a:moveTo>
                <a:lnTo>
                  <a:pt x="0" y="38099"/>
                </a:lnTo>
                <a:lnTo>
                  <a:pt x="0" y="0"/>
                </a:lnTo>
                <a:lnTo>
                  <a:pt x="571499" y="0"/>
                </a:lnTo>
                <a:lnTo>
                  <a:pt x="571499" y="38099"/>
                </a:lnTo>
                <a:close/>
              </a:path>
            </a:pathLst>
          </a:custGeom>
          <a:solidFill>
            <a:schemeClr val="accent4">
              <a:lumMod val="50000"/>
            </a:schemeClr>
          </a:solidFill>
          <a:ln>
            <a:solidFill>
              <a:schemeClr val="accent4">
                <a:lumMod val="50000"/>
              </a:schemeClr>
            </a:solidFill>
          </a:ln>
        </p:spPr>
        <p:txBody>
          <a:bodyPr wrap="square" lIns="0" tIns="0" rIns="0" bIns="0" rtlCol="0"/>
          <a:lstStyle/>
          <a:p>
            <a:endParaRPr lang="en-IN" dirty="0">
              <a:solidFill>
                <a:schemeClr val="accent4">
                  <a:lumMod val="50000"/>
                </a:schemeClr>
              </a:solidFill>
              <a:latin typeface="+mj-lt"/>
            </a:endParaRPr>
          </a:p>
        </p:txBody>
      </p:sp>
      <p:grpSp>
        <p:nvGrpSpPr>
          <p:cNvPr id="10" name="object 10"/>
          <p:cNvGrpSpPr/>
          <p:nvPr/>
        </p:nvGrpSpPr>
        <p:grpSpPr>
          <a:xfrm>
            <a:off x="6095843" y="2099151"/>
            <a:ext cx="5132228" cy="2680812"/>
            <a:chOff x="6095999" y="876300"/>
            <a:chExt cx="5715000" cy="2343150"/>
          </a:xfrm>
          <a:solidFill>
            <a:schemeClr val="accent4">
              <a:lumMod val="20000"/>
              <a:lumOff val="80000"/>
            </a:schemeClr>
          </a:solidFill>
        </p:grpSpPr>
        <p:sp>
          <p:nvSpPr>
            <p:cNvPr id="11" name="object 11"/>
            <p:cNvSpPr/>
            <p:nvPr/>
          </p:nvSpPr>
          <p:spPr>
            <a:xfrm>
              <a:off x="6095999" y="876300"/>
              <a:ext cx="5715000" cy="2343150"/>
            </a:xfrm>
            <a:custGeom>
              <a:avLst/>
              <a:gdLst/>
              <a:ahLst/>
              <a:cxnLst/>
              <a:rect l="l" t="t" r="r" b="b"/>
              <a:pathLst>
                <a:path w="5715000" h="2343150">
                  <a:moveTo>
                    <a:pt x="5676899" y="2343149"/>
                  </a:moveTo>
                  <a:lnTo>
                    <a:pt x="38099" y="2343149"/>
                  </a:lnTo>
                  <a:lnTo>
                    <a:pt x="30497" y="2342452"/>
                  </a:lnTo>
                  <a:lnTo>
                    <a:pt x="697" y="2312651"/>
                  </a:lnTo>
                  <a:lnTo>
                    <a:pt x="0" y="2305049"/>
                  </a:lnTo>
                  <a:lnTo>
                    <a:pt x="0" y="38099"/>
                  </a:lnTo>
                  <a:lnTo>
                    <a:pt x="23473" y="2789"/>
                  </a:lnTo>
                  <a:lnTo>
                    <a:pt x="38099" y="0"/>
                  </a:lnTo>
                  <a:lnTo>
                    <a:pt x="5676899" y="0"/>
                  </a:lnTo>
                  <a:lnTo>
                    <a:pt x="5712209" y="23474"/>
                  </a:lnTo>
                  <a:lnTo>
                    <a:pt x="5714999" y="38099"/>
                  </a:lnTo>
                  <a:lnTo>
                    <a:pt x="5714999" y="2305049"/>
                  </a:lnTo>
                  <a:lnTo>
                    <a:pt x="5691525" y="2340359"/>
                  </a:lnTo>
                  <a:lnTo>
                    <a:pt x="5676899" y="2343149"/>
                  </a:lnTo>
                  <a:close/>
                </a:path>
              </a:pathLst>
            </a:custGeom>
            <a:grpFill/>
            <a:ln>
              <a:solidFill>
                <a:schemeClr val="accent4">
                  <a:lumMod val="50000"/>
                </a:schemeClr>
              </a:solidFill>
            </a:ln>
          </p:spPr>
          <p:txBody>
            <a:bodyPr wrap="square" lIns="0" tIns="0" rIns="0" bIns="0" rtlCol="0"/>
            <a:lstStyle/>
            <a:p>
              <a:endParaRPr sz="1600" dirty="0">
                <a:solidFill>
                  <a:schemeClr val="accent4">
                    <a:lumMod val="50000"/>
                  </a:schemeClr>
                </a:solidFill>
                <a:latin typeface="+mj-lt"/>
              </a:endParaRPr>
            </a:p>
          </p:txBody>
        </p:sp>
        <p:sp>
          <p:nvSpPr>
            <p:cNvPr id="12" name="object 12"/>
            <p:cNvSpPr/>
            <p:nvPr/>
          </p:nvSpPr>
          <p:spPr>
            <a:xfrm>
              <a:off x="6095999" y="876300"/>
              <a:ext cx="5715000" cy="2343150"/>
            </a:xfrm>
            <a:custGeom>
              <a:avLst/>
              <a:gdLst/>
              <a:ahLst/>
              <a:cxnLst/>
              <a:rect l="l" t="t" r="r" b="b"/>
              <a:pathLst>
                <a:path w="5715000" h="2343150">
                  <a:moveTo>
                    <a:pt x="5676899" y="2343149"/>
                  </a:moveTo>
                  <a:lnTo>
                    <a:pt x="38099" y="2343149"/>
                  </a:lnTo>
                  <a:lnTo>
                    <a:pt x="30497" y="2342452"/>
                  </a:lnTo>
                  <a:lnTo>
                    <a:pt x="697" y="2312651"/>
                  </a:lnTo>
                  <a:lnTo>
                    <a:pt x="0" y="2305049"/>
                  </a:lnTo>
                  <a:lnTo>
                    <a:pt x="0" y="38099"/>
                  </a:lnTo>
                  <a:lnTo>
                    <a:pt x="681" y="30665"/>
                  </a:lnTo>
                  <a:lnTo>
                    <a:pt x="697" y="30498"/>
                  </a:lnTo>
                  <a:lnTo>
                    <a:pt x="2732" y="23663"/>
                  </a:lnTo>
                  <a:lnTo>
                    <a:pt x="2789" y="23474"/>
                  </a:lnTo>
                  <a:lnTo>
                    <a:pt x="6276" y="17027"/>
                  </a:lnTo>
                  <a:lnTo>
                    <a:pt x="38099" y="0"/>
                  </a:lnTo>
                  <a:lnTo>
                    <a:pt x="5676899" y="0"/>
                  </a:lnTo>
                  <a:lnTo>
                    <a:pt x="5684501" y="697"/>
                  </a:lnTo>
                  <a:lnTo>
                    <a:pt x="5691525" y="2789"/>
                  </a:lnTo>
                  <a:lnTo>
                    <a:pt x="5697971" y="6277"/>
                  </a:lnTo>
                  <a:lnTo>
                    <a:pt x="5701876" y="9524"/>
                  </a:lnTo>
                  <a:lnTo>
                    <a:pt x="34309" y="9524"/>
                  </a:lnTo>
                  <a:lnTo>
                    <a:pt x="30664" y="10249"/>
                  </a:lnTo>
                  <a:lnTo>
                    <a:pt x="23662" y="13150"/>
                  </a:lnTo>
                  <a:lnTo>
                    <a:pt x="20572" y="15214"/>
                  </a:lnTo>
                  <a:lnTo>
                    <a:pt x="15213" y="20573"/>
                  </a:lnTo>
                  <a:lnTo>
                    <a:pt x="13275" y="23474"/>
                  </a:lnTo>
                  <a:lnTo>
                    <a:pt x="13148" y="23663"/>
                  </a:lnTo>
                  <a:lnTo>
                    <a:pt x="10318" y="30498"/>
                  </a:lnTo>
                  <a:lnTo>
                    <a:pt x="10249" y="30665"/>
                  </a:lnTo>
                  <a:lnTo>
                    <a:pt x="9524" y="34310"/>
                  </a:lnTo>
                  <a:lnTo>
                    <a:pt x="9524" y="2308838"/>
                  </a:lnTo>
                  <a:lnTo>
                    <a:pt x="10249" y="2312483"/>
                  </a:lnTo>
                  <a:lnTo>
                    <a:pt x="34309" y="2333624"/>
                  </a:lnTo>
                  <a:lnTo>
                    <a:pt x="5701876" y="2333624"/>
                  </a:lnTo>
                  <a:lnTo>
                    <a:pt x="5697971" y="2336872"/>
                  </a:lnTo>
                  <a:lnTo>
                    <a:pt x="5691525" y="2340360"/>
                  </a:lnTo>
                  <a:lnTo>
                    <a:pt x="5684501" y="2342452"/>
                  </a:lnTo>
                  <a:lnTo>
                    <a:pt x="5676899" y="2343149"/>
                  </a:lnTo>
                  <a:close/>
                </a:path>
                <a:path w="5715000" h="2343150">
                  <a:moveTo>
                    <a:pt x="5701876" y="2333624"/>
                  </a:moveTo>
                  <a:lnTo>
                    <a:pt x="5680687" y="2333624"/>
                  </a:lnTo>
                  <a:lnTo>
                    <a:pt x="5684332" y="2332899"/>
                  </a:lnTo>
                  <a:lnTo>
                    <a:pt x="5691334" y="2329999"/>
                  </a:lnTo>
                  <a:lnTo>
                    <a:pt x="5705472" y="2308838"/>
                  </a:lnTo>
                  <a:lnTo>
                    <a:pt x="5705472" y="34310"/>
                  </a:lnTo>
                  <a:lnTo>
                    <a:pt x="5680687" y="9524"/>
                  </a:lnTo>
                  <a:lnTo>
                    <a:pt x="5701876" y="9524"/>
                  </a:lnTo>
                  <a:lnTo>
                    <a:pt x="5714999" y="2305049"/>
                  </a:lnTo>
                  <a:lnTo>
                    <a:pt x="5714317" y="2312483"/>
                  </a:lnTo>
                  <a:lnTo>
                    <a:pt x="5714302" y="2312651"/>
                  </a:lnTo>
                  <a:lnTo>
                    <a:pt x="5712266" y="2319485"/>
                  </a:lnTo>
                  <a:lnTo>
                    <a:pt x="5712209" y="2319675"/>
                  </a:lnTo>
                  <a:lnTo>
                    <a:pt x="5708722" y="2326121"/>
                  </a:lnTo>
                  <a:lnTo>
                    <a:pt x="5703840" y="2331990"/>
                  </a:lnTo>
                  <a:lnTo>
                    <a:pt x="5701876" y="2333624"/>
                  </a:lnTo>
                  <a:close/>
                </a:path>
              </a:pathLst>
            </a:custGeom>
            <a:grpFill/>
            <a:ln>
              <a:solidFill>
                <a:schemeClr val="accent4">
                  <a:lumMod val="50000"/>
                </a:schemeClr>
              </a:solidFill>
            </a:ln>
          </p:spPr>
          <p:txBody>
            <a:bodyPr wrap="square" lIns="0" tIns="0" rIns="0" bIns="0" rtlCol="0"/>
            <a:lstStyle/>
            <a:p>
              <a:endParaRPr sz="1600">
                <a:solidFill>
                  <a:schemeClr val="accent4">
                    <a:lumMod val="50000"/>
                  </a:schemeClr>
                </a:solidFill>
                <a:latin typeface="+mj-lt"/>
              </a:endParaRPr>
            </a:p>
          </p:txBody>
        </p:sp>
      </p:grpSp>
      <p:sp>
        <p:nvSpPr>
          <p:cNvPr id="13" name="object 13"/>
          <p:cNvSpPr txBox="1">
            <a:spLocks noGrp="1"/>
          </p:cNvSpPr>
          <p:nvPr>
            <p:ph type="title"/>
          </p:nvPr>
        </p:nvSpPr>
        <p:spPr>
          <a:xfrm>
            <a:off x="6221573" y="1610867"/>
            <a:ext cx="1963668" cy="289560"/>
          </a:xfrm>
          <a:prstGeom prst="rect">
            <a:avLst/>
          </a:prstGeom>
        </p:spPr>
        <p:txBody>
          <a:bodyPr vert="horz" wrap="square" lIns="0" tIns="12700" rIns="0" bIns="0" rtlCol="0">
            <a:spAutoFit/>
          </a:bodyPr>
          <a:lstStyle/>
          <a:p>
            <a:pPr marL="12700">
              <a:lnSpc>
                <a:spcPct val="100000"/>
              </a:lnSpc>
              <a:spcBef>
                <a:spcPts val="100"/>
              </a:spcBef>
            </a:pPr>
            <a:r>
              <a:rPr lang="en-US" altLang="en-IN" sz="1800" dirty="0">
                <a:solidFill>
                  <a:schemeClr val="accent4">
                    <a:lumMod val="50000"/>
                  </a:schemeClr>
                </a:solidFill>
                <a:latin typeface="Calibri" panose="020F0502020204030204" charset="0"/>
                <a:cs typeface="Calibri" panose="020F0502020204030204" charset="0"/>
              </a:rPr>
              <a:t>TOOLS USED</a:t>
            </a:r>
          </a:p>
        </p:txBody>
      </p:sp>
      <p:sp>
        <p:nvSpPr>
          <p:cNvPr id="14" name="object 14"/>
          <p:cNvSpPr/>
          <p:nvPr/>
        </p:nvSpPr>
        <p:spPr>
          <a:xfrm>
            <a:off x="6172200" y="2347595"/>
            <a:ext cx="362585" cy="2197735"/>
          </a:xfrm>
          <a:custGeom>
            <a:avLst/>
            <a:gdLst/>
            <a:ahLst/>
            <a:cxnLst/>
            <a:rect l="l" t="t" r="r" b="b"/>
            <a:pathLst>
              <a:path w="357504" h="1885950">
                <a:moveTo>
                  <a:pt x="98272" y="1680527"/>
                </a:moveTo>
                <a:lnTo>
                  <a:pt x="96964" y="1673809"/>
                </a:lnTo>
                <a:lnTo>
                  <a:pt x="93040" y="1667891"/>
                </a:lnTo>
                <a:lnTo>
                  <a:pt x="87134" y="1663966"/>
                </a:lnTo>
                <a:lnTo>
                  <a:pt x="80403" y="1662658"/>
                </a:lnTo>
                <a:lnTo>
                  <a:pt x="73672" y="1663966"/>
                </a:lnTo>
                <a:lnTo>
                  <a:pt x="67754" y="1667891"/>
                </a:lnTo>
                <a:lnTo>
                  <a:pt x="5257" y="1730400"/>
                </a:lnTo>
                <a:lnTo>
                  <a:pt x="1333" y="1736318"/>
                </a:lnTo>
                <a:lnTo>
                  <a:pt x="25" y="1743036"/>
                </a:lnTo>
                <a:lnTo>
                  <a:pt x="1333" y="1749767"/>
                </a:lnTo>
                <a:lnTo>
                  <a:pt x="5257" y="1755686"/>
                </a:lnTo>
                <a:lnTo>
                  <a:pt x="67754" y="1818195"/>
                </a:lnTo>
                <a:lnTo>
                  <a:pt x="73672" y="1822119"/>
                </a:lnTo>
                <a:lnTo>
                  <a:pt x="80403" y="1823427"/>
                </a:lnTo>
                <a:lnTo>
                  <a:pt x="87134" y="1822119"/>
                </a:lnTo>
                <a:lnTo>
                  <a:pt x="93040" y="1818195"/>
                </a:lnTo>
                <a:lnTo>
                  <a:pt x="96964" y="1812277"/>
                </a:lnTo>
                <a:lnTo>
                  <a:pt x="98272" y="1805546"/>
                </a:lnTo>
                <a:lnTo>
                  <a:pt x="96964" y="1798815"/>
                </a:lnTo>
                <a:lnTo>
                  <a:pt x="93040" y="1792909"/>
                </a:lnTo>
                <a:lnTo>
                  <a:pt x="43180" y="1743036"/>
                </a:lnTo>
                <a:lnTo>
                  <a:pt x="93040" y="1693176"/>
                </a:lnTo>
                <a:lnTo>
                  <a:pt x="96964" y="1687258"/>
                </a:lnTo>
                <a:lnTo>
                  <a:pt x="98272" y="1680527"/>
                </a:lnTo>
                <a:close/>
              </a:path>
              <a:path w="357504" h="1885950">
                <a:moveTo>
                  <a:pt x="178600" y="1181925"/>
                </a:moveTo>
                <a:lnTo>
                  <a:pt x="170624" y="1173949"/>
                </a:lnTo>
                <a:lnTo>
                  <a:pt x="79425" y="1173949"/>
                </a:lnTo>
                <a:lnTo>
                  <a:pt x="71437" y="1181925"/>
                </a:lnTo>
                <a:lnTo>
                  <a:pt x="71437" y="1201686"/>
                </a:lnTo>
                <a:lnTo>
                  <a:pt x="79425" y="1209675"/>
                </a:lnTo>
                <a:lnTo>
                  <a:pt x="170624" y="1209675"/>
                </a:lnTo>
                <a:lnTo>
                  <a:pt x="178600" y="1201686"/>
                </a:lnTo>
                <a:lnTo>
                  <a:pt x="178600" y="1181925"/>
                </a:lnTo>
                <a:close/>
              </a:path>
              <a:path w="357504" h="1885950">
                <a:moveTo>
                  <a:pt x="214312" y="1128356"/>
                </a:moveTo>
                <a:lnTo>
                  <a:pt x="206336" y="1120368"/>
                </a:lnTo>
                <a:lnTo>
                  <a:pt x="79425" y="1120368"/>
                </a:lnTo>
                <a:lnTo>
                  <a:pt x="71437" y="1128356"/>
                </a:lnTo>
                <a:lnTo>
                  <a:pt x="71437" y="1148105"/>
                </a:lnTo>
                <a:lnTo>
                  <a:pt x="79425" y="1156093"/>
                </a:lnTo>
                <a:lnTo>
                  <a:pt x="206336" y="1156093"/>
                </a:lnTo>
                <a:lnTo>
                  <a:pt x="214312" y="1148105"/>
                </a:lnTo>
                <a:lnTo>
                  <a:pt x="214312" y="1128356"/>
                </a:lnTo>
                <a:close/>
              </a:path>
              <a:path w="357504" h="1885950">
                <a:moveTo>
                  <a:pt x="214312" y="89293"/>
                </a:moveTo>
                <a:lnTo>
                  <a:pt x="153619" y="89293"/>
                </a:lnTo>
                <a:lnTo>
                  <a:pt x="153619" y="234962"/>
                </a:lnTo>
                <a:lnTo>
                  <a:pt x="152196" y="243332"/>
                </a:lnTo>
                <a:lnTo>
                  <a:pt x="140030" y="251815"/>
                </a:lnTo>
                <a:lnTo>
                  <a:pt x="131724" y="250355"/>
                </a:lnTo>
                <a:lnTo>
                  <a:pt x="107162" y="215315"/>
                </a:lnTo>
                <a:lnTo>
                  <a:pt x="82664" y="250355"/>
                </a:lnTo>
                <a:lnTo>
                  <a:pt x="74295" y="251815"/>
                </a:lnTo>
                <a:lnTo>
                  <a:pt x="62230" y="243332"/>
                </a:lnTo>
                <a:lnTo>
                  <a:pt x="60731" y="234962"/>
                </a:lnTo>
                <a:lnTo>
                  <a:pt x="90805" y="191985"/>
                </a:lnTo>
                <a:lnTo>
                  <a:pt x="60667" y="148958"/>
                </a:lnTo>
                <a:lnTo>
                  <a:pt x="62204" y="140576"/>
                </a:lnTo>
                <a:lnTo>
                  <a:pt x="74282" y="132156"/>
                </a:lnTo>
                <a:lnTo>
                  <a:pt x="82283" y="133553"/>
                </a:lnTo>
                <a:lnTo>
                  <a:pt x="82562" y="133553"/>
                </a:lnTo>
                <a:lnTo>
                  <a:pt x="86804" y="139636"/>
                </a:lnTo>
                <a:lnTo>
                  <a:pt x="87566" y="140576"/>
                </a:lnTo>
                <a:lnTo>
                  <a:pt x="107162" y="168592"/>
                </a:lnTo>
                <a:lnTo>
                  <a:pt x="131660" y="133553"/>
                </a:lnTo>
                <a:lnTo>
                  <a:pt x="140030" y="132092"/>
                </a:lnTo>
                <a:lnTo>
                  <a:pt x="152095" y="140576"/>
                </a:lnTo>
                <a:lnTo>
                  <a:pt x="153593" y="148958"/>
                </a:lnTo>
                <a:lnTo>
                  <a:pt x="149352" y="154978"/>
                </a:lnTo>
                <a:lnTo>
                  <a:pt x="123520" y="191985"/>
                </a:lnTo>
                <a:lnTo>
                  <a:pt x="153619" y="234962"/>
                </a:lnTo>
                <a:lnTo>
                  <a:pt x="153619" y="89293"/>
                </a:lnTo>
                <a:lnTo>
                  <a:pt x="133007" y="89293"/>
                </a:lnTo>
                <a:lnTo>
                  <a:pt x="125018" y="81305"/>
                </a:lnTo>
                <a:lnTo>
                  <a:pt x="125018" y="0"/>
                </a:lnTo>
                <a:lnTo>
                  <a:pt x="35725" y="0"/>
                </a:lnTo>
                <a:lnTo>
                  <a:pt x="21831" y="2806"/>
                </a:lnTo>
                <a:lnTo>
                  <a:pt x="10477" y="10464"/>
                </a:lnTo>
                <a:lnTo>
                  <a:pt x="2819" y="21818"/>
                </a:lnTo>
                <a:lnTo>
                  <a:pt x="0" y="35712"/>
                </a:lnTo>
                <a:lnTo>
                  <a:pt x="76" y="250355"/>
                </a:lnTo>
                <a:lnTo>
                  <a:pt x="2819" y="263918"/>
                </a:lnTo>
                <a:lnTo>
                  <a:pt x="10477" y="275272"/>
                </a:lnTo>
                <a:lnTo>
                  <a:pt x="21831" y="282930"/>
                </a:lnTo>
                <a:lnTo>
                  <a:pt x="35725" y="285750"/>
                </a:lnTo>
                <a:lnTo>
                  <a:pt x="178600" y="285750"/>
                </a:lnTo>
                <a:lnTo>
                  <a:pt x="211505" y="263918"/>
                </a:lnTo>
                <a:lnTo>
                  <a:pt x="214312" y="132092"/>
                </a:lnTo>
                <a:lnTo>
                  <a:pt x="214312" y="89293"/>
                </a:lnTo>
                <a:close/>
              </a:path>
              <a:path w="357504" h="1885950">
                <a:moveTo>
                  <a:pt x="214312" y="71437"/>
                </a:moveTo>
                <a:lnTo>
                  <a:pt x="142875" y="0"/>
                </a:lnTo>
                <a:lnTo>
                  <a:pt x="142875" y="71437"/>
                </a:lnTo>
                <a:lnTo>
                  <a:pt x="214312" y="71437"/>
                </a:lnTo>
                <a:close/>
              </a:path>
              <a:path w="357504" h="1885950">
                <a:moveTo>
                  <a:pt x="232079" y="1615897"/>
                </a:moveTo>
                <a:lnTo>
                  <a:pt x="229946" y="1609382"/>
                </a:lnTo>
                <a:lnTo>
                  <a:pt x="225539" y="1604137"/>
                </a:lnTo>
                <a:lnTo>
                  <a:pt x="219227" y="1600860"/>
                </a:lnTo>
                <a:lnTo>
                  <a:pt x="212153" y="1600288"/>
                </a:lnTo>
                <a:lnTo>
                  <a:pt x="205651" y="1602422"/>
                </a:lnTo>
                <a:lnTo>
                  <a:pt x="200406" y="1606842"/>
                </a:lnTo>
                <a:lnTo>
                  <a:pt x="197129" y="1613141"/>
                </a:lnTo>
                <a:lnTo>
                  <a:pt x="125691" y="1863178"/>
                </a:lnTo>
                <a:lnTo>
                  <a:pt x="125120" y="1870240"/>
                </a:lnTo>
                <a:lnTo>
                  <a:pt x="127241" y="1876755"/>
                </a:lnTo>
                <a:lnTo>
                  <a:pt x="131660" y="1882000"/>
                </a:lnTo>
                <a:lnTo>
                  <a:pt x="137972" y="1885276"/>
                </a:lnTo>
                <a:lnTo>
                  <a:pt x="145046" y="1885848"/>
                </a:lnTo>
                <a:lnTo>
                  <a:pt x="151549" y="1883714"/>
                </a:lnTo>
                <a:lnTo>
                  <a:pt x="156794" y="1879307"/>
                </a:lnTo>
                <a:lnTo>
                  <a:pt x="160070" y="1872996"/>
                </a:lnTo>
                <a:lnTo>
                  <a:pt x="231508" y="1622971"/>
                </a:lnTo>
                <a:lnTo>
                  <a:pt x="232079" y="1615897"/>
                </a:lnTo>
                <a:close/>
              </a:path>
              <a:path w="357504" h="1885950">
                <a:moveTo>
                  <a:pt x="250037" y="1235506"/>
                </a:moveTo>
                <a:lnTo>
                  <a:pt x="242062" y="1227531"/>
                </a:lnTo>
                <a:lnTo>
                  <a:pt x="79425" y="1227531"/>
                </a:lnTo>
                <a:lnTo>
                  <a:pt x="71437" y="1235506"/>
                </a:lnTo>
                <a:lnTo>
                  <a:pt x="71437" y="1255268"/>
                </a:lnTo>
                <a:lnTo>
                  <a:pt x="79425" y="1263243"/>
                </a:lnTo>
                <a:lnTo>
                  <a:pt x="242062" y="1263243"/>
                </a:lnTo>
                <a:lnTo>
                  <a:pt x="250037" y="1255268"/>
                </a:lnTo>
                <a:lnTo>
                  <a:pt x="250037" y="1235506"/>
                </a:lnTo>
                <a:close/>
              </a:path>
              <a:path w="357504" h="1885950">
                <a:moveTo>
                  <a:pt x="285750" y="1306944"/>
                </a:moveTo>
                <a:lnTo>
                  <a:pt x="277774" y="1298968"/>
                </a:lnTo>
                <a:lnTo>
                  <a:pt x="39738" y="1298968"/>
                </a:lnTo>
                <a:lnTo>
                  <a:pt x="35725" y="1294942"/>
                </a:lnTo>
                <a:lnTo>
                  <a:pt x="35725" y="1092631"/>
                </a:lnTo>
                <a:lnTo>
                  <a:pt x="27749" y="1084656"/>
                </a:lnTo>
                <a:lnTo>
                  <a:pt x="7988" y="1084656"/>
                </a:lnTo>
                <a:lnTo>
                  <a:pt x="0" y="1092631"/>
                </a:lnTo>
                <a:lnTo>
                  <a:pt x="0" y="1290040"/>
                </a:lnTo>
                <a:lnTo>
                  <a:pt x="3517" y="1307414"/>
                </a:lnTo>
                <a:lnTo>
                  <a:pt x="13081" y="1321612"/>
                </a:lnTo>
                <a:lnTo>
                  <a:pt x="27266" y="1331175"/>
                </a:lnTo>
                <a:lnTo>
                  <a:pt x="44653" y="1334681"/>
                </a:lnTo>
                <a:lnTo>
                  <a:pt x="277774" y="1334681"/>
                </a:lnTo>
                <a:lnTo>
                  <a:pt x="285750" y="1326705"/>
                </a:lnTo>
                <a:lnTo>
                  <a:pt x="285750" y="1306944"/>
                </a:lnTo>
                <a:close/>
              </a:path>
              <a:path w="357504" h="1885950">
                <a:moveTo>
                  <a:pt x="285750" y="586968"/>
                </a:moveTo>
                <a:lnTo>
                  <a:pt x="282943" y="573074"/>
                </a:lnTo>
                <a:lnTo>
                  <a:pt x="275285" y="561721"/>
                </a:lnTo>
                <a:lnTo>
                  <a:pt x="263931" y="554062"/>
                </a:lnTo>
                <a:lnTo>
                  <a:pt x="250037" y="551256"/>
                </a:lnTo>
                <a:lnTo>
                  <a:pt x="250037" y="622693"/>
                </a:lnTo>
                <a:lnTo>
                  <a:pt x="250037" y="676275"/>
                </a:lnTo>
                <a:lnTo>
                  <a:pt x="250037" y="711987"/>
                </a:lnTo>
                <a:lnTo>
                  <a:pt x="250037" y="765568"/>
                </a:lnTo>
                <a:lnTo>
                  <a:pt x="160743" y="765568"/>
                </a:lnTo>
                <a:lnTo>
                  <a:pt x="160743" y="711987"/>
                </a:lnTo>
                <a:lnTo>
                  <a:pt x="250037" y="711987"/>
                </a:lnTo>
                <a:lnTo>
                  <a:pt x="250037" y="676275"/>
                </a:lnTo>
                <a:lnTo>
                  <a:pt x="160743" y="676275"/>
                </a:lnTo>
                <a:lnTo>
                  <a:pt x="160743" y="622693"/>
                </a:lnTo>
                <a:lnTo>
                  <a:pt x="250037" y="622693"/>
                </a:lnTo>
                <a:lnTo>
                  <a:pt x="250037" y="551256"/>
                </a:lnTo>
                <a:lnTo>
                  <a:pt x="125018" y="551256"/>
                </a:lnTo>
                <a:lnTo>
                  <a:pt x="125018" y="622693"/>
                </a:lnTo>
                <a:lnTo>
                  <a:pt x="125018" y="676275"/>
                </a:lnTo>
                <a:lnTo>
                  <a:pt x="125018" y="711987"/>
                </a:lnTo>
                <a:lnTo>
                  <a:pt x="125018" y="765568"/>
                </a:lnTo>
                <a:lnTo>
                  <a:pt x="35725" y="765568"/>
                </a:lnTo>
                <a:lnTo>
                  <a:pt x="35725" y="711987"/>
                </a:lnTo>
                <a:lnTo>
                  <a:pt x="125018" y="711987"/>
                </a:lnTo>
                <a:lnTo>
                  <a:pt x="125018" y="676275"/>
                </a:lnTo>
                <a:lnTo>
                  <a:pt x="35725" y="676275"/>
                </a:lnTo>
                <a:lnTo>
                  <a:pt x="35725" y="622693"/>
                </a:lnTo>
                <a:lnTo>
                  <a:pt x="125018" y="622693"/>
                </a:lnTo>
                <a:lnTo>
                  <a:pt x="125018" y="551256"/>
                </a:lnTo>
                <a:lnTo>
                  <a:pt x="35725" y="551256"/>
                </a:lnTo>
                <a:lnTo>
                  <a:pt x="21831" y="554062"/>
                </a:lnTo>
                <a:lnTo>
                  <a:pt x="10477" y="561721"/>
                </a:lnTo>
                <a:lnTo>
                  <a:pt x="2819" y="573074"/>
                </a:lnTo>
                <a:lnTo>
                  <a:pt x="0" y="586968"/>
                </a:lnTo>
                <a:lnTo>
                  <a:pt x="0" y="765568"/>
                </a:lnTo>
                <a:lnTo>
                  <a:pt x="2819" y="779462"/>
                </a:lnTo>
                <a:lnTo>
                  <a:pt x="10477" y="790816"/>
                </a:lnTo>
                <a:lnTo>
                  <a:pt x="21831" y="798474"/>
                </a:lnTo>
                <a:lnTo>
                  <a:pt x="35725" y="801281"/>
                </a:lnTo>
                <a:lnTo>
                  <a:pt x="250037" y="801281"/>
                </a:lnTo>
                <a:lnTo>
                  <a:pt x="263931" y="798474"/>
                </a:lnTo>
                <a:lnTo>
                  <a:pt x="275285" y="790816"/>
                </a:lnTo>
                <a:lnTo>
                  <a:pt x="282943" y="779462"/>
                </a:lnTo>
                <a:lnTo>
                  <a:pt x="285750" y="765568"/>
                </a:lnTo>
                <a:lnTo>
                  <a:pt x="285750" y="711987"/>
                </a:lnTo>
                <a:lnTo>
                  <a:pt x="285750" y="676275"/>
                </a:lnTo>
                <a:lnTo>
                  <a:pt x="285750" y="622693"/>
                </a:lnTo>
                <a:lnTo>
                  <a:pt x="285750" y="586968"/>
                </a:lnTo>
                <a:close/>
              </a:path>
              <a:path w="357504" h="1885950">
                <a:moveTo>
                  <a:pt x="357174" y="1743075"/>
                </a:moveTo>
                <a:lnTo>
                  <a:pt x="289356" y="1667891"/>
                </a:lnTo>
                <a:lnTo>
                  <a:pt x="276796" y="1662722"/>
                </a:lnTo>
                <a:lnTo>
                  <a:pt x="270065" y="1664030"/>
                </a:lnTo>
                <a:lnTo>
                  <a:pt x="264236" y="1667891"/>
                </a:lnTo>
                <a:lnTo>
                  <a:pt x="260286" y="1673809"/>
                </a:lnTo>
                <a:lnTo>
                  <a:pt x="258978" y="1680527"/>
                </a:lnTo>
                <a:lnTo>
                  <a:pt x="260286" y="1687258"/>
                </a:lnTo>
                <a:lnTo>
                  <a:pt x="264210" y="1693176"/>
                </a:lnTo>
                <a:lnTo>
                  <a:pt x="314058" y="1743075"/>
                </a:lnTo>
                <a:lnTo>
                  <a:pt x="264160" y="1792960"/>
                </a:lnTo>
                <a:lnTo>
                  <a:pt x="260235" y="1798878"/>
                </a:lnTo>
                <a:lnTo>
                  <a:pt x="258927" y="1805609"/>
                </a:lnTo>
                <a:lnTo>
                  <a:pt x="260235" y="1812328"/>
                </a:lnTo>
                <a:lnTo>
                  <a:pt x="264160" y="1818246"/>
                </a:lnTo>
                <a:lnTo>
                  <a:pt x="270065" y="1822170"/>
                </a:lnTo>
                <a:lnTo>
                  <a:pt x="276796" y="1823478"/>
                </a:lnTo>
                <a:lnTo>
                  <a:pt x="283527" y="1822170"/>
                </a:lnTo>
                <a:lnTo>
                  <a:pt x="289445" y="1818246"/>
                </a:lnTo>
                <a:lnTo>
                  <a:pt x="351942" y="1755736"/>
                </a:lnTo>
                <a:lnTo>
                  <a:pt x="355866" y="1749831"/>
                </a:lnTo>
                <a:lnTo>
                  <a:pt x="357174" y="1743075"/>
                </a:lnTo>
                <a:close/>
              </a:path>
            </a:pathLst>
          </a:custGeom>
          <a:solidFill>
            <a:schemeClr val="accent4">
              <a:lumMod val="50000"/>
            </a:schemeClr>
          </a:solidFill>
        </p:spPr>
        <p:txBody>
          <a:bodyPr wrap="square" lIns="0" tIns="0" rIns="0" bIns="0" rtlCol="0"/>
          <a:lstStyle/>
          <a:p>
            <a:endParaRPr sz="1600">
              <a:solidFill>
                <a:schemeClr val="accent4">
                  <a:lumMod val="50000"/>
                </a:schemeClr>
              </a:solidFill>
              <a:latin typeface="+mj-lt"/>
            </a:endParaRPr>
          </a:p>
        </p:txBody>
      </p:sp>
      <p:sp>
        <p:nvSpPr>
          <p:cNvPr id="15" name="object 15"/>
          <p:cNvSpPr txBox="1"/>
          <p:nvPr/>
        </p:nvSpPr>
        <p:spPr>
          <a:xfrm>
            <a:off x="6534785" y="2223770"/>
            <a:ext cx="4603115" cy="535305"/>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Calibri" panose="020F0502020204030204" charset="0"/>
                <a:cs typeface="Calibri" panose="020F0502020204030204" charset="0"/>
              </a:rPr>
              <a:t>Microsoft Excel:</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Calibri" panose="020F0502020204030204" charset="0"/>
                <a:cs typeface="Calibri" panose="020F0502020204030204" charset="0"/>
              </a:rPr>
              <a:t>Primary platform for analysis &amp; dashboard creation</a:t>
            </a:r>
          </a:p>
        </p:txBody>
      </p:sp>
      <p:sp>
        <p:nvSpPr>
          <p:cNvPr id="19" name="object 19"/>
          <p:cNvSpPr txBox="1"/>
          <p:nvPr/>
        </p:nvSpPr>
        <p:spPr>
          <a:xfrm>
            <a:off x="838342" y="1554904"/>
            <a:ext cx="2841689" cy="289560"/>
          </a:xfrm>
          <a:prstGeom prst="rect">
            <a:avLst/>
          </a:prstGeom>
        </p:spPr>
        <p:txBody>
          <a:bodyPr vert="horz" wrap="square" lIns="0" tIns="12700" rIns="0" bIns="0" rtlCol="0">
            <a:spAutoFit/>
          </a:bodyPr>
          <a:lstStyle/>
          <a:p>
            <a:pPr marL="12700">
              <a:lnSpc>
                <a:spcPct val="100000"/>
              </a:lnSpc>
              <a:spcBef>
                <a:spcPts val="100"/>
              </a:spcBef>
            </a:pPr>
            <a:r>
              <a:rPr lang="en-IN" b="1" dirty="0">
                <a:solidFill>
                  <a:schemeClr val="accent4">
                    <a:lumMod val="50000"/>
                  </a:schemeClr>
                </a:solidFill>
                <a:latin typeface="Calibri" panose="020F0502020204030204" charset="0"/>
                <a:cs typeface="Calibri" panose="020F0502020204030204" charset="0"/>
              </a:rPr>
              <a:t>D</a:t>
            </a:r>
            <a:r>
              <a:rPr lang="en-US" altLang="en-IN" b="1" dirty="0">
                <a:solidFill>
                  <a:schemeClr val="accent4">
                    <a:lumMod val="50000"/>
                  </a:schemeClr>
                </a:solidFill>
                <a:latin typeface="Calibri" panose="020F0502020204030204" charset="0"/>
                <a:cs typeface="Calibri" panose="020F0502020204030204" charset="0"/>
              </a:rPr>
              <a:t>ATA SOURCES</a:t>
            </a:r>
          </a:p>
        </p:txBody>
      </p:sp>
      <p:sp>
        <p:nvSpPr>
          <p:cNvPr id="35" name="object 31"/>
          <p:cNvSpPr txBox="1"/>
          <p:nvPr/>
        </p:nvSpPr>
        <p:spPr>
          <a:xfrm>
            <a:off x="838290" y="3544591"/>
            <a:ext cx="549646" cy="633962"/>
          </a:xfrm>
          <a:prstGeom prst="rect">
            <a:avLst/>
          </a:prstGeom>
        </p:spPr>
        <p:txBody>
          <a:bodyPr vert="horz" wrap="square" lIns="0" tIns="201111" rIns="0" bIns="0" rtlCol="0">
            <a:spAutoFit/>
          </a:bodyPr>
          <a:lstStyle>
            <a:lvl1pPr marL="0">
              <a:defRPr sz="1050" b="1" i="0">
                <a:solidFill>
                  <a:schemeClr val="bg1"/>
                </a:solidFill>
                <a:latin typeface="Calibri" panose="020F0502020204030204"/>
                <a:ea typeface="+mn-ea"/>
                <a:cs typeface="Calibri" panose="020F050202020403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5"/>
              </a:spcBef>
            </a:pPr>
            <a:r>
              <a:rPr lang="en-US" sz="2800" b="0" spc="-10" dirty="0">
                <a:solidFill>
                  <a:schemeClr val="accent4">
                    <a:lumMod val="50000"/>
                  </a:schemeClr>
                </a:solidFill>
                <a:latin typeface="+mj-lt"/>
                <a:cs typeface="Tahoma" panose="020B0604030504040204"/>
              </a:rPr>
              <a:t>👤</a:t>
            </a:r>
          </a:p>
        </p:txBody>
      </p:sp>
      <p:sp>
        <p:nvSpPr>
          <p:cNvPr id="26" name="object 31"/>
          <p:cNvSpPr txBox="1"/>
          <p:nvPr/>
        </p:nvSpPr>
        <p:spPr>
          <a:xfrm>
            <a:off x="4618954" y="4787828"/>
            <a:ext cx="1618376" cy="477520"/>
          </a:xfrm>
          <a:prstGeom prst="rect">
            <a:avLst/>
          </a:prstGeom>
        </p:spPr>
        <p:txBody>
          <a:bodyPr vert="horz" wrap="square" lIns="0" tIns="201111" rIns="0" bIns="0" rtlCol="0">
            <a:spAutoFit/>
          </a:bodyPr>
          <a:lstStyle>
            <a:lvl1pPr marL="0">
              <a:defRPr sz="1050" b="1" i="0">
                <a:solidFill>
                  <a:schemeClr val="bg1"/>
                </a:solidFill>
                <a:latin typeface="Calibri" panose="020F0502020204030204"/>
                <a:ea typeface="+mn-ea"/>
                <a:cs typeface="Calibri" panose="020F050202020403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5"/>
              </a:spcBef>
            </a:pPr>
            <a:r>
              <a:rPr lang="en-US" sz="1800" spc="-10" dirty="0">
                <a:solidFill>
                  <a:schemeClr val="accent4">
                    <a:lumMod val="50000"/>
                  </a:schemeClr>
                </a:solidFill>
                <a:latin typeface="Bahnschrift Light" panose="020B0502040204020203" charset="0"/>
                <a:cs typeface="Bahnschrift Light" panose="020B0502040204020203" charset="0"/>
              </a:rPr>
              <a:t>   </a:t>
            </a:r>
            <a:r>
              <a:rPr lang="en-US" sz="1800" spc="-10" dirty="0">
                <a:solidFill>
                  <a:schemeClr val="accent4">
                    <a:lumMod val="50000"/>
                  </a:schemeClr>
                </a:solidFill>
                <a:latin typeface="Calibri" panose="020F0502020204030204" charset="0"/>
                <a:cs typeface="Calibri" panose="020F0502020204030204" charset="0"/>
              </a:rPr>
              <a:t>Created By:-</a:t>
            </a:r>
          </a:p>
        </p:txBody>
      </p:sp>
      <p:sp>
        <p:nvSpPr>
          <p:cNvPr id="36" name="object 15"/>
          <p:cNvSpPr txBox="1"/>
          <p:nvPr/>
        </p:nvSpPr>
        <p:spPr>
          <a:xfrm>
            <a:off x="6553200" y="2929890"/>
            <a:ext cx="4434840" cy="535305"/>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Calibri" panose="020F0502020204030204" charset="0"/>
                <a:cs typeface="Calibri" panose="020F0502020204030204" charset="0"/>
              </a:rPr>
              <a:t>PivotTables:</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Calibri" panose="020F0502020204030204" charset="0"/>
                <a:cs typeface="Calibri" panose="020F0502020204030204" charset="0"/>
              </a:rPr>
              <a:t>Powerful tool for aggregation &amp; cross-tabulation</a:t>
            </a:r>
          </a:p>
        </p:txBody>
      </p:sp>
      <p:sp>
        <p:nvSpPr>
          <p:cNvPr id="37" name="object 15"/>
          <p:cNvSpPr txBox="1"/>
          <p:nvPr/>
        </p:nvSpPr>
        <p:spPr>
          <a:xfrm>
            <a:off x="6553359" y="3528933"/>
            <a:ext cx="4003040" cy="535305"/>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Calibri" panose="020F0502020204030204" charset="0"/>
                <a:cs typeface="Calibri" panose="020F0502020204030204" charset="0"/>
              </a:rPr>
              <a:t>Charts &amp; Graphs:</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Calibri" panose="020F0502020204030204" charset="0"/>
                <a:cs typeface="Calibri" panose="020F0502020204030204" charset="0"/>
              </a:rPr>
              <a:t>Visualize trends and performance metrics</a:t>
            </a:r>
          </a:p>
        </p:txBody>
      </p:sp>
      <p:sp>
        <p:nvSpPr>
          <p:cNvPr id="38" name="object 15"/>
          <p:cNvSpPr txBox="1"/>
          <p:nvPr/>
        </p:nvSpPr>
        <p:spPr>
          <a:xfrm>
            <a:off x="6534663" y="4127427"/>
            <a:ext cx="4191121" cy="535305"/>
          </a:xfrm>
          <a:prstGeom prst="rect">
            <a:avLst/>
          </a:prstGeom>
        </p:spPr>
        <p:txBody>
          <a:bodyPr vert="horz" wrap="square" lIns="0" tIns="4318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Calibri" panose="020F0502020204030204" charset="0"/>
                <a:cs typeface="Calibri" panose="020F0502020204030204" charset="0"/>
              </a:rPr>
              <a:t>Formulas Used:</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Calibri" panose="020F0502020204030204" charset="0"/>
                <a:cs typeface="Calibri" panose="020F0502020204030204" charset="0"/>
              </a:rPr>
              <a:t>AVERAGE, XLOOKUP, IF, TEXT, Mid, Round</a:t>
            </a:r>
          </a:p>
        </p:txBody>
      </p:sp>
      <p:sp>
        <p:nvSpPr>
          <p:cNvPr id="42" name="object 10"/>
          <p:cNvSpPr/>
          <p:nvPr/>
        </p:nvSpPr>
        <p:spPr>
          <a:xfrm>
            <a:off x="838391" y="2760026"/>
            <a:ext cx="428625" cy="285750"/>
          </a:xfrm>
          <a:custGeom>
            <a:avLst/>
            <a:gdLst/>
            <a:ahLst/>
            <a:cxnLst/>
            <a:rect l="l" t="t" r="r" b="b"/>
            <a:pathLst>
              <a:path w="428625" h="285750">
                <a:moveTo>
                  <a:pt x="381000" y="285750"/>
                </a:moveTo>
                <a:lnTo>
                  <a:pt x="47625" y="285750"/>
                </a:lnTo>
                <a:lnTo>
                  <a:pt x="29101" y="282002"/>
                </a:lnTo>
                <a:lnTo>
                  <a:pt x="13961" y="271788"/>
                </a:lnTo>
                <a:lnTo>
                  <a:pt x="3747" y="256648"/>
                </a:lnTo>
                <a:lnTo>
                  <a:pt x="0" y="238125"/>
                </a:lnTo>
                <a:lnTo>
                  <a:pt x="0" y="183951"/>
                </a:lnTo>
                <a:lnTo>
                  <a:pt x="5506" y="178816"/>
                </a:lnTo>
                <a:lnTo>
                  <a:pt x="11683" y="176658"/>
                </a:lnTo>
                <a:lnTo>
                  <a:pt x="21340" y="171537"/>
                </a:lnTo>
                <a:lnTo>
                  <a:pt x="28947" y="163813"/>
                </a:lnTo>
                <a:lnTo>
                  <a:pt x="33930" y="154066"/>
                </a:lnTo>
                <a:lnTo>
                  <a:pt x="35718" y="142875"/>
                </a:lnTo>
                <a:lnTo>
                  <a:pt x="33930" y="131683"/>
                </a:lnTo>
                <a:lnTo>
                  <a:pt x="28947" y="121936"/>
                </a:lnTo>
                <a:lnTo>
                  <a:pt x="21340" y="114212"/>
                </a:lnTo>
                <a:lnTo>
                  <a:pt x="11683" y="109091"/>
                </a:lnTo>
                <a:lnTo>
                  <a:pt x="5506" y="106933"/>
                </a:lnTo>
                <a:lnTo>
                  <a:pt x="0" y="101798"/>
                </a:lnTo>
                <a:lnTo>
                  <a:pt x="0" y="47625"/>
                </a:lnTo>
                <a:lnTo>
                  <a:pt x="3747" y="29101"/>
                </a:lnTo>
                <a:lnTo>
                  <a:pt x="13961" y="13961"/>
                </a:lnTo>
                <a:lnTo>
                  <a:pt x="29101" y="3747"/>
                </a:lnTo>
                <a:lnTo>
                  <a:pt x="47625" y="0"/>
                </a:lnTo>
                <a:lnTo>
                  <a:pt x="381000" y="0"/>
                </a:lnTo>
                <a:lnTo>
                  <a:pt x="399523" y="3747"/>
                </a:lnTo>
                <a:lnTo>
                  <a:pt x="414663" y="13961"/>
                </a:lnTo>
                <a:lnTo>
                  <a:pt x="424877" y="29101"/>
                </a:lnTo>
                <a:lnTo>
                  <a:pt x="428625" y="47625"/>
                </a:lnTo>
                <a:lnTo>
                  <a:pt x="428625" y="101798"/>
                </a:lnTo>
                <a:lnTo>
                  <a:pt x="423118" y="106933"/>
                </a:lnTo>
                <a:lnTo>
                  <a:pt x="416941" y="109091"/>
                </a:lnTo>
                <a:lnTo>
                  <a:pt x="407284" y="114212"/>
                </a:lnTo>
                <a:lnTo>
                  <a:pt x="399677" y="121936"/>
                </a:lnTo>
                <a:lnTo>
                  <a:pt x="394694" y="131683"/>
                </a:lnTo>
                <a:lnTo>
                  <a:pt x="392906" y="142875"/>
                </a:lnTo>
                <a:lnTo>
                  <a:pt x="394694" y="154066"/>
                </a:lnTo>
                <a:lnTo>
                  <a:pt x="399677" y="163813"/>
                </a:lnTo>
                <a:lnTo>
                  <a:pt x="407284" y="171537"/>
                </a:lnTo>
                <a:lnTo>
                  <a:pt x="416941" y="176658"/>
                </a:lnTo>
                <a:lnTo>
                  <a:pt x="423118" y="178816"/>
                </a:lnTo>
                <a:lnTo>
                  <a:pt x="428625" y="183951"/>
                </a:lnTo>
                <a:lnTo>
                  <a:pt x="428625" y="238125"/>
                </a:lnTo>
                <a:lnTo>
                  <a:pt x="424877" y="256648"/>
                </a:lnTo>
                <a:lnTo>
                  <a:pt x="414663" y="271788"/>
                </a:lnTo>
                <a:lnTo>
                  <a:pt x="399523" y="282002"/>
                </a:lnTo>
                <a:lnTo>
                  <a:pt x="381000" y="285750"/>
                </a:lnTo>
                <a:close/>
              </a:path>
            </a:pathLst>
          </a:custGeom>
          <a:solidFill>
            <a:schemeClr val="accent4">
              <a:lumMod val="50000"/>
            </a:schemeClr>
          </a:solidFill>
          <a:ln>
            <a:solidFill>
              <a:schemeClr val="accent4">
                <a:lumMod val="50000"/>
              </a:schemeClr>
            </a:solidFill>
          </a:ln>
        </p:spPr>
        <p:txBody>
          <a:bodyPr wrap="square" lIns="0" tIns="0" rIns="0" bIns="0" rtlCol="0"/>
          <a:lstStyle/>
          <a:p>
            <a:endParaRPr sz="2400" dirty="0">
              <a:solidFill>
                <a:schemeClr val="accent4">
                  <a:lumMod val="20000"/>
                  <a:lumOff val="80000"/>
                </a:schemeClr>
              </a:solidFill>
              <a:latin typeface="+mj-lt"/>
            </a:endParaRPr>
          </a:p>
        </p:txBody>
      </p:sp>
      <p:pic>
        <p:nvPicPr>
          <p:cNvPr id="32" name="Graphic 4" descr="Laptop with solid fill"/>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343715" y="5392304"/>
            <a:ext cx="914400" cy="914400"/>
          </a:xfrm>
          <a:prstGeom prst="rect">
            <a:avLst/>
          </a:prstGeom>
        </p:spPr>
      </p:pic>
      <p:pic>
        <p:nvPicPr>
          <p:cNvPr id="5" name="Graphic 4" descr="Male profile with solid fil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8954" y="5643868"/>
            <a:ext cx="363922" cy="363922"/>
          </a:xfrm>
          <a:prstGeom prst="rect">
            <a:avLst/>
          </a:prstGeom>
        </p:spPr>
      </p:pic>
    </p:spTree>
  </p:cSld>
  <p:clrMapOvr>
    <a:masterClrMapping/>
  </p:clrMapOvr>
  <p:transition spd="slow">
    <p:cover dir="d"/>
  </p:transition>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864EA9"/>
      </a:hlink>
      <a:folHlink>
        <a:srgbClr val="29273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1184</TotalTime>
  <Words>1270</Words>
  <Application>Microsoft Office PowerPoint</Application>
  <PresentationFormat>Custom</PresentationFormat>
  <Paragraphs>125</Paragraphs>
  <Slides>16</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Aptos</vt:lpstr>
      <vt:lpstr>Arial</vt:lpstr>
      <vt:lpstr>Arial Narrow</vt:lpstr>
      <vt:lpstr>Bahnschrift Light</vt:lpstr>
      <vt:lpstr>Bahnschrift SemiCondensed</vt:lpstr>
      <vt:lpstr>Calibri</vt:lpstr>
      <vt:lpstr>DejaVu Sans</vt:lpstr>
      <vt:lpstr>Wingdings</vt:lpstr>
      <vt:lpstr>Office Theme</vt:lpstr>
      <vt:lpstr>PowerPoint Presentation</vt:lpstr>
      <vt:lpstr>Problem Statement </vt:lpstr>
      <vt:lpstr>Dataset Structure</vt:lpstr>
      <vt:lpstr>Ticket  Category  Distribution</vt:lpstr>
      <vt:lpstr>PowerPoint Presentation</vt:lpstr>
      <vt:lpstr>PowerPoint Presentation</vt:lpstr>
      <vt:lpstr>PowerPoint Presentation</vt:lpstr>
      <vt:lpstr>PowerPoint Presentation</vt:lpstr>
      <vt:lpstr>Ticket Volume Over Time</vt:lpstr>
      <vt:lpstr>Distribution Of Tickets Based On Resolution Time</vt:lpstr>
      <vt:lpstr>PowerPoint Presentation</vt:lpstr>
      <vt:lpstr>Age Group Vs Average Satisfaction Rate</vt:lpstr>
      <vt:lpstr>PowerPoint Presentation</vt:lpstr>
      <vt:lpstr>PowerPoint Presentation</vt:lpstr>
      <vt:lpstr>PowerPoint Presentation</vt:lpstr>
      <vt:lpstr>TOOLS USED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TICKETS ANALYSIS AND AGENT PERFORMANCE DASHBOARD</dc:title>
  <dc:creator>PC</dc:creator>
  <cp:lastModifiedBy>PC</cp:lastModifiedBy>
  <cp:revision>160</cp:revision>
  <dcterms:created xsi:type="dcterms:W3CDTF">2025-07-31T13:02:00Z</dcterms:created>
  <dcterms:modified xsi:type="dcterms:W3CDTF">2026-08-14T09:08:15Z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2025-07-31T11:00:00Z</vt:filetime>
  </property>
  <property fmtid="{D5CDD505-2E9C-101B-9397-08002B2CF9AE}" pid="3" name="Producer">
    <vt:lpwstr>pypdf</vt:lpwstr>
  </property>
  <property fmtid="{D5CDD505-2E9C-101B-9397-08002B2CF9AE}" pid="4" name="LastSaved">
    <vt:filetime>2025-07-31T11:00:00Z</vt:filetime>
  </property>
  <property fmtid="{D5CDD505-2E9C-101B-9397-08002B2CF9AE}" pid="5" name="KSOProductBuildVer">
    <vt:lpwstr>1033-12.1.0.28032</vt:lpwstr>
  </property>
  <property fmtid="{D5CDD505-2E9C-101B-9397-08002B2CF9AE}" pid="6" name="ICV">
    <vt:lpwstr>8B92F523A613403587E36A28ABC2D563_12</vt:lpwstr>
  </property>
</Properties>
</file>